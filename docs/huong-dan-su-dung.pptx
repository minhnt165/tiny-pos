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9a541e05-adff-08f6-e012-0ff335f79120}">
          <p14:sldIdLst>
            <p14:sldId id="256"/>
            <p14:sldId id="257"/>
          </p14:sldIdLst>
        </p14:section>
        <p14:section name="1. Làm quen" id="{9687b80c-22a3-8b73-3788-89a7220b7050}">
          <p14:sldIdLst>
            <p14:sldId id="258"/>
            <p14:sldId id="259"/>
            <p14:sldId id="260"/>
            <p14:sldId id="261"/>
          </p14:sldIdLst>
        </p14:section>
        <p14:section name="2. Bán hàng" id="{0f1586a5-89f3-4908-98e2-6ec0c76ceb49}">
          <p14:sldIdLst>
            <p14:sldId id="262"/>
            <p14:sldId id="263"/>
            <p14:sldId id="264"/>
            <p14:sldId id="265"/>
            <p14:sldId id="266"/>
            <p14:sldId id="267"/>
            <p14:sldId id="268"/>
            <p14:sldId id="269"/>
            <p14:sldId id="270"/>
            <p14:sldId id="271"/>
            <p14:sldId id="272"/>
          </p14:sldIdLst>
        </p14:section>
        <p14:section name="3. Hóa đơn và trả hàng" id="{c54cf217-1891-7ecb-d580-110625a20833}">
          <p14:sldIdLst>
            <p14:sldId id="273"/>
            <p14:sldId id="274"/>
            <p14:sldId id="275"/>
            <p14:sldId id="276"/>
            <p14:sldId id="277"/>
          </p14:sldIdLst>
        </p14:section>
        <p14:section name="4. Khách hàng và công nợ" id="{2ca36b0e-203d-6626-f643-7f486242af44}">
          <p14:sldIdLst>
            <p14:sldId id="278"/>
            <p14:sldId id="279"/>
            <p14:sldId id="280"/>
            <p14:sldId id="281"/>
          </p14:sldIdLst>
        </p14:section>
        <p14:section name="5. Sản phẩm" id="{295e0e58-612f-1518-9d7c-e2bca34724d3}">
          <p14:sldIdLst>
            <p14:sldId id="282"/>
            <p14:sldId id="283"/>
            <p14:sldId id="284"/>
            <p14:sldId id="285"/>
            <p14:sldId id="286"/>
            <p14:sldId id="287"/>
            <p14:sldId id="288"/>
            <p14:sldId id="289"/>
          </p14:sldIdLst>
        </p14:section>
        <p14:section name="6. Nhập hàng và kho" id="{4bdf616c-e69b-21f2-24ab-e06f6b8da045}">
          <p14:sldIdLst>
            <p14:sldId id="290"/>
            <p14:sldId id="291"/>
            <p14:sldId id="292"/>
            <p14:sldId id="293"/>
            <p14:sldId id="294"/>
            <p14:sldId id="295"/>
            <p14:sldId id="296"/>
            <p14:sldId id="297"/>
          </p14:sldIdLst>
        </p14:section>
        <p14:section name="7. Theo dõi kinh doanh" id="{33d8d215-690c-d118-d618-706c61f220b9}">
          <p14:sldIdLst>
            <p14:sldId id="298"/>
            <p14:sldId id="299"/>
            <p14:sldId id="300"/>
            <p14:sldId id="301"/>
          </p14:sldIdLst>
        </p14:section>
        <p14:section name="8. Điện thoại, cài đặt, sao lưu" id="{3d15268d-4be8-f810-4973-3a3a356c5ac6}">
          <p14:sldIdLst>
            <p14:sldId id="302"/>
            <p14:sldId id="303"/>
            <p14:sldId id="304"/>
            <p14:sldId id="305"/>
            <p14:sldId id="306"/>
            <p14:sldId id="307"/>
            <p14:sldId id="308"/>
            <p14:sldId id="309"/>
            <p14:sldId id="3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0292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Tiny POS · Hướng dẫn sử dụng</a:t>
            </a:r>
            <a:endParaRPr lang="en-US" sz="1000" dirty="0"/>
          </a:p>
        </p:txBody>
      </p:sp>
      <p:sp>
        <p:nvSpPr>
          <p:cNvPr id="3" name="Text 1"/>
          <p:cNvSpPr/>
          <p:nvPr>
            <p:ph idx="101" type="title" hasCustomPrompt="1"/>
          </p:nvPr>
        </p:nvSpPr>
        <p:spPr>
          <a:xfrm>
            <a:off x="502920" y="292608"/>
            <a:ext cx="950976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56692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2.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2.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2.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2.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2.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2.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2.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slideLayout" Target="../slideLayouts/slideLayout2.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2.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2.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2.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slideLayout" Target="../slideLayouts/slideLayout3.xml"/><Relationship Id="rId7"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5852160" cy="365760"/>
          </a:xfrm>
          <a:prstGeom prst="rect">
            <a:avLst/>
          </a:prstGeom>
          <a:noFill/>
          <a:ln/>
        </p:spPr>
        <p:txBody>
          <a:bodyPr wrap="square" lIns="0" tIns="0" rIns="0" bIns="0" rtlCol="0" anchor="ctr"/>
          <a:lstStyle/>
          <a:p>
            <a:pPr indent="0" marL="0">
              <a:buNone/>
            </a:pPr>
            <a:r>
              <a:rPr lang="en-US" sz="1300" b="1" spc="100" kern="0" dirty="0">
                <a:solidFill>
                  <a:srgbClr val="FDBA74"/>
                </a:solidFill>
              </a:rPr>
              <a:t>TIẾNG VIỆT · DÀNH CHO CHỦ TIỆM VÀ NGƯỜI ĐỨNG QUẦY</a:t>
            </a:r>
            <a:endParaRPr lang="en-US" sz="1300" dirty="0"/>
          </a:p>
        </p:txBody>
      </p:sp>
      <p:sp>
        <p:nvSpPr>
          <p:cNvPr id="3" name="Text 0"/>
          <p:cNvSpPr/>
          <p:nvPr>
            <p:ph idx="100" type="title" hasCustomPrompt="1"/>
          </p:nvPr>
        </p:nvSpPr>
        <p:spPr>
          <a:xfrm>
            <a:off x="731520" y="2331720"/>
            <a:ext cx="5669280" cy="1463040"/>
          </a:xfrm>
          <a:prstGeom prst="rect">
            <a:avLst/>
          </a:prstGeom>
          <a:noFill/>
          <a:ln/>
        </p:spPr>
        <p:txBody>
          <a:bodyPr wrap="square" lIns="0" tIns="0" rIns="0" bIns="0" rtlCol="0" anchor="t"/>
          <a:lstStyle/>
          <a:p>
            <a:pPr algn="l" indent="0" marL="0">
              <a:buNone/>
            </a:pPr>
            <a:r>
              <a:rPr lang="en-US" sz="4400" b="1" dirty="0">
                <a:solidFill>
                  <a:schemeClr val="bg1"/>
                </a:solidFill>
              </a:rPr>
              <a:t>Hướng dẫn sử dụng Tiny POS</a:t>
            </a:r>
            <a:endParaRPr lang="en-US" sz="4400" dirty="0"/>
          </a:p>
        </p:txBody>
      </p:sp>
      <p:sp>
        <p:nvSpPr>
          <p:cNvPr id="4" name="Text 2"/>
          <p:cNvSpPr txBox="1"/>
          <p:nvPr/>
        </p:nvSpPr>
        <p:spPr>
          <a:xfrm>
            <a:off x="731520" y="3977640"/>
            <a:ext cx="5394960" cy="1097280"/>
          </a:xfrm>
          <a:prstGeom prst="rect">
            <a:avLst/>
          </a:prstGeom>
          <a:noFill/>
          <a:ln/>
        </p:spPr>
        <p:txBody>
          <a:bodyPr wrap="square" lIns="0" tIns="0" rIns="0" bIns="0" rtlCol="0" anchor="t"/>
          <a:lstStyle/>
          <a:p>
            <a:pPr indent="0" marL="0">
              <a:buNone/>
            </a:pPr>
            <a:r>
              <a:rPr lang="en-US" sz="1700" dirty="0">
                <a:solidFill>
                  <a:srgbClr val="D1FAE5"/>
                </a:solidFill>
              </a:rPr>
              <a:t>Phần mềm bán hàng cho tiệm tạp hóa: bán hàng, công nợ, nhập kho, kiểm kê, báo cáo. Chạy trên máy quầy, điện thoại trong tiệm cùng dùng được.</a:t>
            </a:r>
            <a:endParaRPr lang="en-US" sz="1700" dirty="0"/>
          </a:p>
        </p:txBody>
      </p:sp>
      <p:sp>
        <p:nvSpPr>
          <p:cNvPr id="5" name="Text 3"/>
          <p:cNvSpPr txBox="1"/>
          <p:nvPr/>
        </p:nvSpPr>
        <p:spPr>
          <a:xfrm>
            <a:off x="731520" y="5760720"/>
            <a:ext cx="2743200" cy="365760"/>
          </a:xfrm>
          <a:prstGeom prst="rect">
            <a:avLst/>
          </a:prstGeom>
          <a:noFill/>
          <a:ln/>
        </p:spPr>
        <p:txBody>
          <a:bodyPr wrap="square" lIns="0" tIns="0" rIns="0" bIns="0" rtlCol="0" anchor="ctr"/>
          <a:lstStyle/>
          <a:p>
            <a:pPr indent="0" marL="0">
              <a:buNone/>
            </a:pPr>
            <a:r>
              <a:rPr lang="en-US" sz="1300" dirty="0">
                <a:solidFill>
                  <a:srgbClr val="A7F3D0"/>
                </a:solidFill>
              </a:rPr>
              <a:t>Phiên bản 0.16</a:t>
            </a:r>
            <a:endParaRPr lang="en-US" sz="1300" dirty="0"/>
          </a:p>
        </p:txBody>
      </p:sp>
      <p:sp>
        <p:nvSpPr>
          <p:cNvPr id="6" name="Màn hình bán hàng-khung"/>
          <p:cNvSpPr/>
          <p:nvPr/>
        </p:nvSpPr>
        <p:spPr>
          <a:xfrm>
            <a:off x="6473952" y="1078992"/>
            <a:ext cx="5294376" cy="299408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7" name="Màn hình bán hàng" descr="Màn hình bán hàng">    </p:cNvPr>
          <p:cNvPicPr>
            <a:picLocks noChangeAspect="1"/>
          </p:cNvPicPr>
          <p:nvPr/>
        </p:nvPicPr>
        <p:blipFill>
          <a:blip r:embed="rId1"/>
          <a:stretch>
            <a:fillRect/>
          </a:stretch>
        </p:blipFill>
        <p:spPr>
          <a:xfrm>
            <a:off x="6492240" y="1097280"/>
            <a:ext cx="5257800" cy="2957513"/>
          </a:xfrm>
          <a:prstGeom prst="rect">
            <a:avLst/>
          </a:prstGeom>
        </p:spPr>
      </p:pic>
      <p:sp>
        <p:nvSpPr>
          <p:cNvPr id="8" name="Tổng quan trên điện thoại-khung"/>
          <p:cNvSpPr/>
          <p:nvPr/>
        </p:nvSpPr>
        <p:spPr>
          <a:xfrm>
            <a:off x="9814004" y="2724912"/>
            <a:ext cx="1768952" cy="378561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9" name="Tổng quan trên điện thoại" descr="Tổng quan trên điện thoại">    </p:cNvPr>
          <p:cNvPicPr>
            <a:picLocks noChangeAspect="1"/>
          </p:cNvPicPr>
          <p:nvPr/>
        </p:nvPicPr>
        <p:blipFill>
          <a:blip r:embed="rId2"/>
          <a:stretch>
            <a:fillRect/>
          </a:stretch>
        </p:blipFill>
        <p:spPr>
          <a:xfrm>
            <a:off x="9832292" y="2743200"/>
            <a:ext cx="1732376" cy="3749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Nội dung</a:t>
            </a:r>
            <a:endParaRPr lang="en-US" sz="3000" dirty="0"/>
          </a:p>
        </p:txBody>
      </p:sp>
      <p:sp>
        <p:nvSpPr>
          <p:cNvPr id="3" name="Shape 1"/>
          <p:cNvSpPr/>
          <p:nvPr/>
        </p:nvSpPr>
        <p:spPr>
          <a:xfrm>
            <a:off x="502920" y="1325880"/>
            <a:ext cx="2594610" cy="2240280"/>
          </a:xfrm>
          <a:prstGeom prst="roundRect">
            <a:avLst>
              <a:gd name="adj" fmla="val 4082"/>
            </a:avLst>
          </a:prstGeom>
          <a:solidFill>
            <a:schemeClr val="bg2"/>
          </a:solidFill>
          <a:ln w="12700">
            <a:solidFill>
              <a:schemeClr val="bg2"/>
            </a:solidFill>
            <a:prstDash val="solid"/>
          </a:ln>
        </p:spPr>
      </p:sp>
      <p:sp>
        <p:nvSpPr>
          <p:cNvPr id="4" name="Shape 2"/>
          <p:cNvSpPr/>
          <p:nvPr/>
        </p:nvSpPr>
        <p:spPr>
          <a:xfrm>
            <a:off x="777240" y="1600200"/>
            <a:ext cx="640080" cy="640080"/>
          </a:xfrm>
          <a:prstGeom prst="ellipse">
            <a:avLst/>
          </a:prstGeom>
          <a:solidFill>
            <a:schemeClr val="accent1"/>
          </a:solidFill>
          <a:ln/>
        </p:spPr>
      </p:sp>
      <p:pic>
        <p:nvPicPr>
          <p:cNvPr id="5" name="Image 0" descr="Làm quen">    </p:cNvPr>
          <p:cNvPicPr>
            <a:picLocks noChangeAspect="1"/>
          </p:cNvPicPr>
          <p:nvPr/>
        </p:nvPicPr>
        <p:blipFill>
          <a:blip r:embed="rId1"/>
          <a:stretch>
            <a:fillRect/>
          </a:stretch>
        </p:blipFill>
        <p:spPr>
          <a:xfrm>
            <a:off x="923544" y="1746504"/>
            <a:ext cx="347472" cy="347472"/>
          </a:xfrm>
          <a:prstGeom prst="rect">
            <a:avLst/>
          </a:prstGeom>
        </p:spPr>
      </p:pic>
      <p:sp>
        <p:nvSpPr>
          <p:cNvPr id="6" name="Text 3"/>
          <p:cNvSpPr txBox="1"/>
          <p:nvPr/>
        </p:nvSpPr>
        <p:spPr>
          <a:xfrm>
            <a:off x="2274570" y="1508760"/>
            <a:ext cx="594360" cy="640080"/>
          </a:xfrm>
          <a:prstGeom prst="rect">
            <a:avLst/>
          </a:prstGeom>
          <a:noFill/>
          <a:ln/>
        </p:spPr>
        <p:txBody>
          <a:bodyPr wrap="square" lIns="0" tIns="0" rIns="0" bIns="0" rtlCol="0" anchor="ctr"/>
          <a:lstStyle/>
          <a:p>
            <a:pPr algn="r" indent="0" marL="0">
              <a:buNone/>
            </a:pPr>
            <a:r>
              <a:rPr lang="en-US" sz="3200" b="1" dirty="0">
                <a:solidFill>
                  <a:schemeClr val="accent2"/>
                </a:solidFill>
              </a:rPr>
              <a:t>1</a:t>
            </a:r>
            <a:endParaRPr lang="en-US" sz="3200" dirty="0"/>
          </a:p>
        </p:txBody>
      </p:sp>
      <p:sp>
        <p:nvSpPr>
          <p:cNvPr id="7" name="Text 4"/>
          <p:cNvSpPr txBox="1"/>
          <p:nvPr/>
        </p:nvSpPr>
        <p:spPr>
          <a:xfrm>
            <a:off x="777240" y="2377440"/>
            <a:ext cx="2137410" cy="411480"/>
          </a:xfrm>
          <a:prstGeom prst="rect">
            <a:avLst/>
          </a:prstGeom>
          <a:noFill/>
          <a:ln/>
        </p:spPr>
        <p:txBody>
          <a:bodyPr wrap="square" lIns="0" tIns="0" rIns="0" bIns="0" rtlCol="0" anchor="ctr"/>
          <a:lstStyle/>
          <a:p>
            <a:pPr indent="0" marL="0">
              <a:buNone/>
            </a:pPr>
            <a:r>
              <a:rPr lang="en-US" sz="1700" b="1" dirty="0">
                <a:solidFill>
                  <a:schemeClr val="tx2"/>
                </a:solidFill>
              </a:rPr>
              <a:t>Làm quen</a:t>
            </a:r>
            <a:endParaRPr lang="en-US" sz="1700" dirty="0"/>
          </a:p>
        </p:txBody>
      </p:sp>
      <p:sp>
        <p:nvSpPr>
          <p:cNvPr id="8" name="Text 5"/>
          <p:cNvSpPr txBox="1"/>
          <p:nvPr/>
        </p:nvSpPr>
        <p:spPr>
          <a:xfrm>
            <a:off x="777240" y="2788920"/>
            <a:ext cx="2137410" cy="685800"/>
          </a:xfrm>
          <a:prstGeom prst="rect">
            <a:avLst/>
          </a:prstGeom>
          <a:noFill/>
          <a:ln/>
        </p:spPr>
        <p:txBody>
          <a:bodyPr wrap="square" lIns="0" tIns="0" rIns="0" bIns="0" rtlCol="0" anchor="t"/>
          <a:lstStyle/>
          <a:p>
            <a:pPr indent="0" marL="0">
              <a:buNone/>
            </a:pPr>
            <a:r>
              <a:rPr lang="en-US" sz="1300" dirty="0">
                <a:solidFill>
                  <a:schemeClr val="accent6"/>
                </a:solidFill>
              </a:rPr>
              <a:t>Mở phần mềm, màn hình chính, phím tắt</a:t>
            </a:r>
            <a:endParaRPr lang="en-US" sz="1300" dirty="0"/>
          </a:p>
        </p:txBody>
      </p:sp>
      <p:sp>
        <p:nvSpPr>
          <p:cNvPr id="9" name="Shape 6"/>
          <p:cNvSpPr/>
          <p:nvPr/>
        </p:nvSpPr>
        <p:spPr>
          <a:xfrm>
            <a:off x="3371850" y="1325880"/>
            <a:ext cx="2594610" cy="2240280"/>
          </a:xfrm>
          <a:prstGeom prst="roundRect">
            <a:avLst>
              <a:gd name="adj" fmla="val 4082"/>
            </a:avLst>
          </a:prstGeom>
          <a:solidFill>
            <a:schemeClr val="bg2"/>
          </a:solidFill>
          <a:ln w="12700">
            <a:solidFill>
              <a:schemeClr val="bg2"/>
            </a:solidFill>
            <a:prstDash val="solid"/>
          </a:ln>
        </p:spPr>
      </p:sp>
      <p:sp>
        <p:nvSpPr>
          <p:cNvPr id="10" name="Shape 7"/>
          <p:cNvSpPr/>
          <p:nvPr/>
        </p:nvSpPr>
        <p:spPr>
          <a:xfrm>
            <a:off x="3646170" y="1600200"/>
            <a:ext cx="640080" cy="640080"/>
          </a:xfrm>
          <a:prstGeom prst="ellipse">
            <a:avLst/>
          </a:prstGeom>
          <a:solidFill>
            <a:schemeClr val="accent1"/>
          </a:solidFill>
          <a:ln/>
        </p:spPr>
      </p:sp>
      <p:pic>
        <p:nvPicPr>
          <p:cNvPr id="11" name="Image 1" descr="Bán hàng">    </p:cNvPr>
          <p:cNvPicPr>
            <a:picLocks noChangeAspect="1"/>
          </p:cNvPicPr>
          <p:nvPr/>
        </p:nvPicPr>
        <p:blipFill>
          <a:blip r:embed="rId2"/>
          <a:stretch>
            <a:fillRect/>
          </a:stretch>
        </p:blipFill>
        <p:spPr>
          <a:xfrm>
            <a:off x="3792474" y="1746504"/>
            <a:ext cx="347472" cy="347472"/>
          </a:xfrm>
          <a:prstGeom prst="rect">
            <a:avLst/>
          </a:prstGeom>
        </p:spPr>
      </p:pic>
      <p:sp>
        <p:nvSpPr>
          <p:cNvPr id="12" name="Text 8"/>
          <p:cNvSpPr txBox="1"/>
          <p:nvPr/>
        </p:nvSpPr>
        <p:spPr>
          <a:xfrm>
            <a:off x="5143500" y="1508760"/>
            <a:ext cx="594360" cy="640080"/>
          </a:xfrm>
          <a:prstGeom prst="rect">
            <a:avLst/>
          </a:prstGeom>
          <a:noFill/>
          <a:ln/>
        </p:spPr>
        <p:txBody>
          <a:bodyPr wrap="square" lIns="0" tIns="0" rIns="0" bIns="0" rtlCol="0" anchor="ctr"/>
          <a:lstStyle/>
          <a:p>
            <a:pPr algn="r" indent="0" marL="0">
              <a:buNone/>
            </a:pPr>
            <a:r>
              <a:rPr lang="en-US" sz="3200" b="1" dirty="0">
                <a:solidFill>
                  <a:schemeClr val="accent2"/>
                </a:solidFill>
              </a:rPr>
              <a:t>2</a:t>
            </a:r>
            <a:endParaRPr lang="en-US" sz="3200" dirty="0"/>
          </a:p>
        </p:txBody>
      </p:sp>
      <p:sp>
        <p:nvSpPr>
          <p:cNvPr id="13" name="Text 9"/>
          <p:cNvSpPr txBox="1"/>
          <p:nvPr/>
        </p:nvSpPr>
        <p:spPr>
          <a:xfrm>
            <a:off x="3646170" y="2377440"/>
            <a:ext cx="2137410" cy="411480"/>
          </a:xfrm>
          <a:prstGeom prst="rect">
            <a:avLst/>
          </a:prstGeom>
          <a:noFill/>
          <a:ln/>
        </p:spPr>
        <p:txBody>
          <a:bodyPr wrap="square" lIns="0" tIns="0" rIns="0" bIns="0" rtlCol="0" anchor="ctr"/>
          <a:lstStyle/>
          <a:p>
            <a:pPr indent="0" marL="0">
              <a:buNone/>
            </a:pPr>
            <a:r>
              <a:rPr lang="en-US" sz="1700" b="1" dirty="0">
                <a:solidFill>
                  <a:schemeClr val="tx2"/>
                </a:solidFill>
              </a:rPr>
              <a:t>Bán hàng</a:t>
            </a:r>
            <a:endParaRPr lang="en-US" sz="1700" dirty="0"/>
          </a:p>
        </p:txBody>
      </p:sp>
      <p:sp>
        <p:nvSpPr>
          <p:cNvPr id="14" name="Text 10"/>
          <p:cNvSpPr txBox="1"/>
          <p:nvPr/>
        </p:nvSpPr>
        <p:spPr>
          <a:xfrm>
            <a:off x="3646170" y="2788920"/>
            <a:ext cx="2137410" cy="685800"/>
          </a:xfrm>
          <a:prstGeom prst="rect">
            <a:avLst/>
          </a:prstGeom>
          <a:noFill/>
          <a:ln/>
        </p:spPr>
        <p:txBody>
          <a:bodyPr wrap="square" lIns="0" tIns="0" rIns="0" bIns="0" rtlCol="0" anchor="t"/>
          <a:lstStyle/>
          <a:p>
            <a:pPr indent="0" marL="0">
              <a:buNone/>
            </a:pPr>
            <a:r>
              <a:rPr lang="en-US" sz="1300" dirty="0">
                <a:solidFill>
                  <a:schemeClr val="accent6"/>
                </a:solidFill>
              </a:rPr>
              <a:t>Giỏ hàng, hàng cân, thanh toán, ghi nợ, đơn chờ</a:t>
            </a:r>
            <a:endParaRPr lang="en-US" sz="1300" dirty="0"/>
          </a:p>
        </p:txBody>
      </p:sp>
      <p:sp>
        <p:nvSpPr>
          <p:cNvPr id="15" name="Shape 11"/>
          <p:cNvSpPr/>
          <p:nvPr/>
        </p:nvSpPr>
        <p:spPr>
          <a:xfrm>
            <a:off x="6240780" y="1325880"/>
            <a:ext cx="2594610" cy="2240280"/>
          </a:xfrm>
          <a:prstGeom prst="roundRect">
            <a:avLst>
              <a:gd name="adj" fmla="val 4082"/>
            </a:avLst>
          </a:prstGeom>
          <a:solidFill>
            <a:schemeClr val="bg2"/>
          </a:solidFill>
          <a:ln w="12700">
            <a:solidFill>
              <a:schemeClr val="bg2"/>
            </a:solidFill>
            <a:prstDash val="solid"/>
          </a:ln>
        </p:spPr>
      </p:sp>
      <p:sp>
        <p:nvSpPr>
          <p:cNvPr id="16" name="Shape 12"/>
          <p:cNvSpPr/>
          <p:nvPr/>
        </p:nvSpPr>
        <p:spPr>
          <a:xfrm>
            <a:off x="6515100" y="1600200"/>
            <a:ext cx="640080" cy="640080"/>
          </a:xfrm>
          <a:prstGeom prst="ellipse">
            <a:avLst/>
          </a:prstGeom>
          <a:solidFill>
            <a:schemeClr val="accent1"/>
          </a:solidFill>
          <a:ln/>
        </p:spPr>
      </p:sp>
      <p:pic>
        <p:nvPicPr>
          <p:cNvPr id="17" name="Image 2" descr="Hóa đơn và trả hàng">    </p:cNvPr>
          <p:cNvPicPr>
            <a:picLocks noChangeAspect="1"/>
          </p:cNvPicPr>
          <p:nvPr/>
        </p:nvPicPr>
        <p:blipFill>
          <a:blip r:embed="rId3"/>
          <a:stretch>
            <a:fillRect/>
          </a:stretch>
        </p:blipFill>
        <p:spPr>
          <a:xfrm>
            <a:off x="6661404" y="1746504"/>
            <a:ext cx="347472" cy="347472"/>
          </a:xfrm>
          <a:prstGeom prst="rect">
            <a:avLst/>
          </a:prstGeom>
        </p:spPr>
      </p:pic>
      <p:sp>
        <p:nvSpPr>
          <p:cNvPr id="18" name="Text 13"/>
          <p:cNvSpPr txBox="1"/>
          <p:nvPr/>
        </p:nvSpPr>
        <p:spPr>
          <a:xfrm>
            <a:off x="8012430" y="1508760"/>
            <a:ext cx="594360" cy="640080"/>
          </a:xfrm>
          <a:prstGeom prst="rect">
            <a:avLst/>
          </a:prstGeom>
          <a:noFill/>
          <a:ln/>
        </p:spPr>
        <p:txBody>
          <a:bodyPr wrap="square" lIns="0" tIns="0" rIns="0" bIns="0" rtlCol="0" anchor="ctr"/>
          <a:lstStyle/>
          <a:p>
            <a:pPr algn="r" indent="0" marL="0">
              <a:buNone/>
            </a:pPr>
            <a:r>
              <a:rPr lang="en-US" sz="3200" b="1" dirty="0">
                <a:solidFill>
                  <a:schemeClr val="accent2"/>
                </a:solidFill>
              </a:rPr>
              <a:t>3</a:t>
            </a:r>
            <a:endParaRPr lang="en-US" sz="3200" dirty="0"/>
          </a:p>
        </p:txBody>
      </p:sp>
      <p:sp>
        <p:nvSpPr>
          <p:cNvPr id="19" name="Text 14"/>
          <p:cNvSpPr txBox="1"/>
          <p:nvPr/>
        </p:nvSpPr>
        <p:spPr>
          <a:xfrm>
            <a:off x="6515100" y="2377440"/>
            <a:ext cx="2137410" cy="411480"/>
          </a:xfrm>
          <a:prstGeom prst="rect">
            <a:avLst/>
          </a:prstGeom>
          <a:noFill/>
          <a:ln/>
        </p:spPr>
        <p:txBody>
          <a:bodyPr wrap="square" lIns="0" tIns="0" rIns="0" bIns="0" rtlCol="0" anchor="ctr"/>
          <a:lstStyle/>
          <a:p>
            <a:pPr indent="0" marL="0">
              <a:buNone/>
            </a:pPr>
            <a:r>
              <a:rPr lang="en-US" sz="1700" b="1" dirty="0">
                <a:solidFill>
                  <a:schemeClr val="tx2"/>
                </a:solidFill>
              </a:rPr>
              <a:t>Hóa đơn và trả hàng</a:t>
            </a:r>
            <a:endParaRPr lang="en-US" sz="1700" dirty="0"/>
          </a:p>
        </p:txBody>
      </p:sp>
      <p:sp>
        <p:nvSpPr>
          <p:cNvPr id="20" name="Text 15"/>
          <p:cNvSpPr txBox="1"/>
          <p:nvPr/>
        </p:nvSpPr>
        <p:spPr>
          <a:xfrm>
            <a:off x="6515100" y="2788920"/>
            <a:ext cx="2137410" cy="685800"/>
          </a:xfrm>
          <a:prstGeom prst="rect">
            <a:avLst/>
          </a:prstGeom>
          <a:noFill/>
          <a:ln/>
        </p:spPr>
        <p:txBody>
          <a:bodyPr wrap="square" lIns="0" tIns="0" rIns="0" bIns="0" rtlCol="0" anchor="t"/>
          <a:lstStyle/>
          <a:p>
            <a:pPr indent="0" marL="0">
              <a:buNone/>
            </a:pPr>
            <a:r>
              <a:rPr lang="en-US" sz="1300" dirty="0">
                <a:solidFill>
                  <a:schemeClr val="accent6"/>
                </a:solidFill>
              </a:rPr>
              <a:t>Xem lại, in lại, hủy đơn, khách trả hàng</a:t>
            </a:r>
            <a:endParaRPr lang="en-US" sz="1300" dirty="0"/>
          </a:p>
        </p:txBody>
      </p:sp>
      <p:sp>
        <p:nvSpPr>
          <p:cNvPr id="21" name="Shape 16"/>
          <p:cNvSpPr/>
          <p:nvPr/>
        </p:nvSpPr>
        <p:spPr>
          <a:xfrm>
            <a:off x="9109710" y="1325880"/>
            <a:ext cx="2594610" cy="2240280"/>
          </a:xfrm>
          <a:prstGeom prst="roundRect">
            <a:avLst>
              <a:gd name="adj" fmla="val 4082"/>
            </a:avLst>
          </a:prstGeom>
          <a:solidFill>
            <a:schemeClr val="bg2"/>
          </a:solidFill>
          <a:ln w="12700">
            <a:solidFill>
              <a:schemeClr val="bg2"/>
            </a:solidFill>
            <a:prstDash val="solid"/>
          </a:ln>
        </p:spPr>
      </p:sp>
      <p:sp>
        <p:nvSpPr>
          <p:cNvPr id="22" name="Shape 17"/>
          <p:cNvSpPr/>
          <p:nvPr/>
        </p:nvSpPr>
        <p:spPr>
          <a:xfrm>
            <a:off x="9384030" y="1600200"/>
            <a:ext cx="640080" cy="640080"/>
          </a:xfrm>
          <a:prstGeom prst="ellipse">
            <a:avLst/>
          </a:prstGeom>
          <a:solidFill>
            <a:schemeClr val="accent1"/>
          </a:solidFill>
          <a:ln/>
        </p:spPr>
      </p:sp>
      <p:pic>
        <p:nvPicPr>
          <p:cNvPr id="23" name="Image 3" descr="Khách hàng và công nợ">    </p:cNvPr>
          <p:cNvPicPr>
            <a:picLocks noChangeAspect="1"/>
          </p:cNvPicPr>
          <p:nvPr/>
        </p:nvPicPr>
        <p:blipFill>
          <a:blip r:embed="rId4"/>
          <a:stretch>
            <a:fillRect/>
          </a:stretch>
        </p:blipFill>
        <p:spPr>
          <a:xfrm>
            <a:off x="9530334" y="1746504"/>
            <a:ext cx="347472" cy="347472"/>
          </a:xfrm>
          <a:prstGeom prst="rect">
            <a:avLst/>
          </a:prstGeom>
        </p:spPr>
      </p:pic>
      <p:sp>
        <p:nvSpPr>
          <p:cNvPr id="24" name="Text 18"/>
          <p:cNvSpPr txBox="1"/>
          <p:nvPr/>
        </p:nvSpPr>
        <p:spPr>
          <a:xfrm>
            <a:off x="10881360" y="1508760"/>
            <a:ext cx="594360" cy="640080"/>
          </a:xfrm>
          <a:prstGeom prst="rect">
            <a:avLst/>
          </a:prstGeom>
          <a:noFill/>
          <a:ln/>
        </p:spPr>
        <p:txBody>
          <a:bodyPr wrap="square" lIns="0" tIns="0" rIns="0" bIns="0" rtlCol="0" anchor="ctr"/>
          <a:lstStyle/>
          <a:p>
            <a:pPr algn="r" indent="0" marL="0">
              <a:buNone/>
            </a:pPr>
            <a:r>
              <a:rPr lang="en-US" sz="3200" b="1" dirty="0">
                <a:solidFill>
                  <a:schemeClr val="accent2"/>
                </a:solidFill>
              </a:rPr>
              <a:t>4</a:t>
            </a:r>
            <a:endParaRPr lang="en-US" sz="3200" dirty="0"/>
          </a:p>
        </p:txBody>
      </p:sp>
      <p:sp>
        <p:nvSpPr>
          <p:cNvPr id="25" name="Text 19"/>
          <p:cNvSpPr txBox="1"/>
          <p:nvPr/>
        </p:nvSpPr>
        <p:spPr>
          <a:xfrm>
            <a:off x="9384030" y="2377440"/>
            <a:ext cx="2137410" cy="411480"/>
          </a:xfrm>
          <a:prstGeom prst="rect">
            <a:avLst/>
          </a:prstGeom>
          <a:noFill/>
          <a:ln/>
        </p:spPr>
        <p:txBody>
          <a:bodyPr wrap="square" lIns="0" tIns="0" rIns="0" bIns="0" rtlCol="0" anchor="ctr"/>
          <a:lstStyle/>
          <a:p>
            <a:pPr indent="0" marL="0">
              <a:buNone/>
            </a:pPr>
            <a:r>
              <a:rPr lang="en-US" sz="1700" b="1" dirty="0">
                <a:solidFill>
                  <a:schemeClr val="tx2"/>
                </a:solidFill>
              </a:rPr>
              <a:t>Khách hàng và công nợ</a:t>
            </a:r>
            <a:endParaRPr lang="en-US" sz="1700" dirty="0"/>
          </a:p>
        </p:txBody>
      </p:sp>
      <p:sp>
        <p:nvSpPr>
          <p:cNvPr id="26" name="Text 20"/>
          <p:cNvSpPr txBox="1"/>
          <p:nvPr/>
        </p:nvSpPr>
        <p:spPr>
          <a:xfrm>
            <a:off x="9384030" y="2788920"/>
            <a:ext cx="2137410" cy="685800"/>
          </a:xfrm>
          <a:prstGeom prst="rect">
            <a:avLst/>
          </a:prstGeom>
          <a:noFill/>
          <a:ln/>
        </p:spPr>
        <p:txBody>
          <a:bodyPr wrap="square" lIns="0" tIns="0" rIns="0" bIns="0" rtlCol="0" anchor="t"/>
          <a:lstStyle/>
          <a:p>
            <a:pPr indent="0" marL="0">
              <a:buNone/>
            </a:pPr>
            <a:r>
              <a:rPr lang="en-US" sz="1300" dirty="0">
                <a:solidFill>
                  <a:schemeClr val="accent6"/>
                </a:solidFill>
              </a:rPr>
              <a:t>Sổ nợ, thu nợ, ghi nợ tay</a:t>
            </a:r>
            <a:endParaRPr lang="en-US" sz="1300" dirty="0"/>
          </a:p>
        </p:txBody>
      </p:sp>
      <p:sp>
        <p:nvSpPr>
          <p:cNvPr id="27" name="Shape 21"/>
          <p:cNvSpPr/>
          <p:nvPr/>
        </p:nvSpPr>
        <p:spPr>
          <a:xfrm>
            <a:off x="502920" y="3840480"/>
            <a:ext cx="2594610" cy="2240280"/>
          </a:xfrm>
          <a:prstGeom prst="roundRect">
            <a:avLst>
              <a:gd name="adj" fmla="val 4082"/>
            </a:avLst>
          </a:prstGeom>
          <a:solidFill>
            <a:schemeClr val="bg2"/>
          </a:solidFill>
          <a:ln w="12700">
            <a:solidFill>
              <a:schemeClr val="bg2"/>
            </a:solidFill>
            <a:prstDash val="solid"/>
          </a:ln>
        </p:spPr>
      </p:sp>
      <p:sp>
        <p:nvSpPr>
          <p:cNvPr id="28" name="Shape 22"/>
          <p:cNvSpPr/>
          <p:nvPr/>
        </p:nvSpPr>
        <p:spPr>
          <a:xfrm>
            <a:off x="777240" y="4114800"/>
            <a:ext cx="640080" cy="640080"/>
          </a:xfrm>
          <a:prstGeom prst="ellipse">
            <a:avLst/>
          </a:prstGeom>
          <a:solidFill>
            <a:schemeClr val="accent1"/>
          </a:solidFill>
          <a:ln/>
        </p:spPr>
      </p:sp>
      <p:pic>
        <p:nvPicPr>
          <p:cNvPr id="29" name="Image 4" descr="Sản phẩm">    </p:cNvPr>
          <p:cNvPicPr>
            <a:picLocks noChangeAspect="1"/>
          </p:cNvPicPr>
          <p:nvPr/>
        </p:nvPicPr>
        <p:blipFill>
          <a:blip r:embed="rId5"/>
          <a:stretch>
            <a:fillRect/>
          </a:stretch>
        </p:blipFill>
        <p:spPr>
          <a:xfrm>
            <a:off x="923544" y="4261104"/>
            <a:ext cx="347472" cy="347472"/>
          </a:xfrm>
          <a:prstGeom prst="rect">
            <a:avLst/>
          </a:prstGeom>
        </p:spPr>
      </p:pic>
      <p:sp>
        <p:nvSpPr>
          <p:cNvPr id="30" name="Text 23"/>
          <p:cNvSpPr txBox="1"/>
          <p:nvPr/>
        </p:nvSpPr>
        <p:spPr>
          <a:xfrm>
            <a:off x="2274570" y="4023360"/>
            <a:ext cx="594360" cy="640080"/>
          </a:xfrm>
          <a:prstGeom prst="rect">
            <a:avLst/>
          </a:prstGeom>
          <a:noFill/>
          <a:ln/>
        </p:spPr>
        <p:txBody>
          <a:bodyPr wrap="square" lIns="0" tIns="0" rIns="0" bIns="0" rtlCol="0" anchor="ctr"/>
          <a:lstStyle/>
          <a:p>
            <a:pPr algn="r" indent="0" marL="0">
              <a:buNone/>
            </a:pPr>
            <a:r>
              <a:rPr lang="en-US" sz="3200" b="1" dirty="0">
                <a:solidFill>
                  <a:schemeClr val="accent2"/>
                </a:solidFill>
              </a:rPr>
              <a:t>5</a:t>
            </a:r>
            <a:endParaRPr lang="en-US" sz="3200" dirty="0"/>
          </a:p>
        </p:txBody>
      </p:sp>
      <p:sp>
        <p:nvSpPr>
          <p:cNvPr id="31" name="Text 24"/>
          <p:cNvSpPr txBox="1"/>
          <p:nvPr/>
        </p:nvSpPr>
        <p:spPr>
          <a:xfrm>
            <a:off x="777240" y="4892040"/>
            <a:ext cx="2137410" cy="411480"/>
          </a:xfrm>
          <a:prstGeom prst="rect">
            <a:avLst/>
          </a:prstGeom>
          <a:noFill/>
          <a:ln/>
        </p:spPr>
        <p:txBody>
          <a:bodyPr wrap="square" lIns="0" tIns="0" rIns="0" bIns="0" rtlCol="0" anchor="ctr"/>
          <a:lstStyle/>
          <a:p>
            <a:pPr indent="0" marL="0">
              <a:buNone/>
            </a:pPr>
            <a:r>
              <a:rPr lang="en-US" sz="1700" b="1" dirty="0">
                <a:solidFill>
                  <a:schemeClr val="tx2"/>
                </a:solidFill>
              </a:rPr>
              <a:t>Sản phẩm</a:t>
            </a:r>
            <a:endParaRPr lang="en-US" sz="1700" dirty="0"/>
          </a:p>
        </p:txBody>
      </p:sp>
      <p:sp>
        <p:nvSpPr>
          <p:cNvPr id="32" name="Text 25"/>
          <p:cNvSpPr txBox="1"/>
          <p:nvPr/>
        </p:nvSpPr>
        <p:spPr>
          <a:xfrm>
            <a:off x="777240" y="5303520"/>
            <a:ext cx="2137410" cy="685800"/>
          </a:xfrm>
          <a:prstGeom prst="rect">
            <a:avLst/>
          </a:prstGeom>
          <a:noFill/>
          <a:ln/>
        </p:spPr>
        <p:txBody>
          <a:bodyPr wrap="square" lIns="0" tIns="0" rIns="0" bIns="0" rtlCol="0" anchor="t"/>
          <a:lstStyle/>
          <a:p>
            <a:pPr indent="0" marL="0">
              <a:buNone/>
            </a:pPr>
            <a:r>
              <a:rPr lang="en-US" sz="1300" dirty="0">
                <a:solidFill>
                  <a:schemeClr val="accent6"/>
                </a:solidFill>
              </a:rPr>
              <a:t>Thêm hàng, thùng / lốc, Excel, danh mục</a:t>
            </a:r>
            <a:endParaRPr lang="en-US" sz="1300" dirty="0"/>
          </a:p>
        </p:txBody>
      </p:sp>
      <p:sp>
        <p:nvSpPr>
          <p:cNvPr id="33" name="Shape 26"/>
          <p:cNvSpPr/>
          <p:nvPr/>
        </p:nvSpPr>
        <p:spPr>
          <a:xfrm>
            <a:off x="3371850" y="3840480"/>
            <a:ext cx="2594610" cy="2240280"/>
          </a:xfrm>
          <a:prstGeom prst="roundRect">
            <a:avLst>
              <a:gd name="adj" fmla="val 4082"/>
            </a:avLst>
          </a:prstGeom>
          <a:solidFill>
            <a:schemeClr val="bg2"/>
          </a:solidFill>
          <a:ln w="12700">
            <a:solidFill>
              <a:schemeClr val="bg2"/>
            </a:solidFill>
            <a:prstDash val="solid"/>
          </a:ln>
        </p:spPr>
      </p:sp>
      <p:sp>
        <p:nvSpPr>
          <p:cNvPr id="34" name="Shape 27"/>
          <p:cNvSpPr/>
          <p:nvPr/>
        </p:nvSpPr>
        <p:spPr>
          <a:xfrm>
            <a:off x="3646170" y="4114800"/>
            <a:ext cx="640080" cy="640080"/>
          </a:xfrm>
          <a:prstGeom prst="ellipse">
            <a:avLst/>
          </a:prstGeom>
          <a:solidFill>
            <a:schemeClr val="accent1"/>
          </a:solidFill>
          <a:ln/>
        </p:spPr>
      </p:sp>
      <p:pic>
        <p:nvPicPr>
          <p:cNvPr id="35" name="Image 5" descr="Nhập hàng và kho">    </p:cNvPr>
          <p:cNvPicPr>
            <a:picLocks noChangeAspect="1"/>
          </p:cNvPicPr>
          <p:nvPr/>
        </p:nvPicPr>
        <p:blipFill>
          <a:blip r:embed="rId6"/>
          <a:stretch>
            <a:fillRect/>
          </a:stretch>
        </p:blipFill>
        <p:spPr>
          <a:xfrm>
            <a:off x="3792474" y="4261104"/>
            <a:ext cx="347472" cy="347472"/>
          </a:xfrm>
          <a:prstGeom prst="rect">
            <a:avLst/>
          </a:prstGeom>
        </p:spPr>
      </p:pic>
      <p:sp>
        <p:nvSpPr>
          <p:cNvPr id="36" name="Text 28"/>
          <p:cNvSpPr txBox="1"/>
          <p:nvPr/>
        </p:nvSpPr>
        <p:spPr>
          <a:xfrm>
            <a:off x="5143500" y="4023360"/>
            <a:ext cx="594360" cy="640080"/>
          </a:xfrm>
          <a:prstGeom prst="rect">
            <a:avLst/>
          </a:prstGeom>
          <a:noFill/>
          <a:ln/>
        </p:spPr>
        <p:txBody>
          <a:bodyPr wrap="square" lIns="0" tIns="0" rIns="0" bIns="0" rtlCol="0" anchor="ctr"/>
          <a:lstStyle/>
          <a:p>
            <a:pPr algn="r" indent="0" marL="0">
              <a:buNone/>
            </a:pPr>
            <a:r>
              <a:rPr lang="en-US" sz="3200" b="1" dirty="0">
                <a:solidFill>
                  <a:schemeClr val="accent2"/>
                </a:solidFill>
              </a:rPr>
              <a:t>6</a:t>
            </a:r>
            <a:endParaRPr lang="en-US" sz="3200" dirty="0"/>
          </a:p>
        </p:txBody>
      </p:sp>
      <p:sp>
        <p:nvSpPr>
          <p:cNvPr id="37" name="Text 29"/>
          <p:cNvSpPr txBox="1"/>
          <p:nvPr/>
        </p:nvSpPr>
        <p:spPr>
          <a:xfrm>
            <a:off x="3646170" y="4892040"/>
            <a:ext cx="2137410" cy="411480"/>
          </a:xfrm>
          <a:prstGeom prst="rect">
            <a:avLst/>
          </a:prstGeom>
          <a:noFill/>
          <a:ln/>
        </p:spPr>
        <p:txBody>
          <a:bodyPr wrap="square" lIns="0" tIns="0" rIns="0" bIns="0" rtlCol="0" anchor="ctr"/>
          <a:lstStyle/>
          <a:p>
            <a:pPr indent="0" marL="0">
              <a:buNone/>
            </a:pPr>
            <a:r>
              <a:rPr lang="en-US" sz="1700" b="1" dirty="0">
                <a:solidFill>
                  <a:schemeClr val="tx2"/>
                </a:solidFill>
              </a:rPr>
              <a:t>Nhập hàng và kho</a:t>
            </a:r>
            <a:endParaRPr lang="en-US" sz="1700" dirty="0"/>
          </a:p>
        </p:txBody>
      </p:sp>
      <p:sp>
        <p:nvSpPr>
          <p:cNvPr id="38" name="Text 30"/>
          <p:cNvSpPr txBox="1"/>
          <p:nvPr/>
        </p:nvSpPr>
        <p:spPr>
          <a:xfrm>
            <a:off x="3646170" y="5303520"/>
            <a:ext cx="2137410" cy="685800"/>
          </a:xfrm>
          <a:prstGeom prst="rect">
            <a:avLst/>
          </a:prstGeom>
          <a:noFill/>
          <a:ln/>
        </p:spPr>
        <p:txBody>
          <a:bodyPr wrap="square" lIns="0" tIns="0" rIns="0" bIns="0" rtlCol="0" anchor="t"/>
          <a:lstStyle/>
          <a:p>
            <a:pPr indent="0" marL="0">
              <a:buNone/>
            </a:pPr>
            <a:r>
              <a:rPr lang="en-US" sz="1300" dirty="0">
                <a:solidFill>
                  <a:schemeClr val="accent6"/>
                </a:solidFill>
              </a:rPr>
              <a:t>Phiếu nhập, nhà cung cấp, kiểm kê, in tem</a:t>
            </a:r>
            <a:endParaRPr lang="en-US" sz="1300" dirty="0"/>
          </a:p>
        </p:txBody>
      </p:sp>
      <p:sp>
        <p:nvSpPr>
          <p:cNvPr id="39" name="Shape 31"/>
          <p:cNvSpPr/>
          <p:nvPr/>
        </p:nvSpPr>
        <p:spPr>
          <a:xfrm>
            <a:off x="6240780" y="3840480"/>
            <a:ext cx="2594610" cy="2240280"/>
          </a:xfrm>
          <a:prstGeom prst="roundRect">
            <a:avLst>
              <a:gd name="adj" fmla="val 4082"/>
            </a:avLst>
          </a:prstGeom>
          <a:solidFill>
            <a:schemeClr val="bg2"/>
          </a:solidFill>
          <a:ln w="12700">
            <a:solidFill>
              <a:schemeClr val="bg2"/>
            </a:solidFill>
            <a:prstDash val="solid"/>
          </a:ln>
        </p:spPr>
      </p:sp>
      <p:sp>
        <p:nvSpPr>
          <p:cNvPr id="40" name="Shape 32"/>
          <p:cNvSpPr/>
          <p:nvPr/>
        </p:nvSpPr>
        <p:spPr>
          <a:xfrm>
            <a:off x="6515100" y="4114800"/>
            <a:ext cx="640080" cy="640080"/>
          </a:xfrm>
          <a:prstGeom prst="ellipse">
            <a:avLst/>
          </a:prstGeom>
          <a:solidFill>
            <a:schemeClr val="accent1"/>
          </a:solidFill>
          <a:ln/>
        </p:spPr>
      </p:sp>
      <p:pic>
        <p:nvPicPr>
          <p:cNvPr id="41" name="Image 6" descr="Theo dõi kinh doanh">    </p:cNvPr>
          <p:cNvPicPr>
            <a:picLocks noChangeAspect="1"/>
          </p:cNvPicPr>
          <p:nvPr/>
        </p:nvPicPr>
        <p:blipFill>
          <a:blip r:embed="rId7"/>
          <a:stretch>
            <a:fillRect/>
          </a:stretch>
        </p:blipFill>
        <p:spPr>
          <a:xfrm>
            <a:off x="6661404" y="4261104"/>
            <a:ext cx="347472" cy="347472"/>
          </a:xfrm>
          <a:prstGeom prst="rect">
            <a:avLst/>
          </a:prstGeom>
        </p:spPr>
      </p:pic>
      <p:sp>
        <p:nvSpPr>
          <p:cNvPr id="42" name="Text 33"/>
          <p:cNvSpPr txBox="1"/>
          <p:nvPr/>
        </p:nvSpPr>
        <p:spPr>
          <a:xfrm>
            <a:off x="8012430" y="4023360"/>
            <a:ext cx="594360" cy="640080"/>
          </a:xfrm>
          <a:prstGeom prst="rect">
            <a:avLst/>
          </a:prstGeom>
          <a:noFill/>
          <a:ln/>
        </p:spPr>
        <p:txBody>
          <a:bodyPr wrap="square" lIns="0" tIns="0" rIns="0" bIns="0" rtlCol="0" anchor="ctr"/>
          <a:lstStyle/>
          <a:p>
            <a:pPr algn="r" indent="0" marL="0">
              <a:buNone/>
            </a:pPr>
            <a:r>
              <a:rPr lang="en-US" sz="3200" b="1" dirty="0">
                <a:solidFill>
                  <a:schemeClr val="accent2"/>
                </a:solidFill>
              </a:rPr>
              <a:t>7</a:t>
            </a:r>
            <a:endParaRPr lang="en-US" sz="3200" dirty="0"/>
          </a:p>
        </p:txBody>
      </p:sp>
      <p:sp>
        <p:nvSpPr>
          <p:cNvPr id="43" name="Text 34"/>
          <p:cNvSpPr txBox="1"/>
          <p:nvPr/>
        </p:nvSpPr>
        <p:spPr>
          <a:xfrm>
            <a:off x="6515100" y="4892040"/>
            <a:ext cx="2137410" cy="411480"/>
          </a:xfrm>
          <a:prstGeom prst="rect">
            <a:avLst/>
          </a:prstGeom>
          <a:noFill/>
          <a:ln/>
        </p:spPr>
        <p:txBody>
          <a:bodyPr wrap="square" lIns="0" tIns="0" rIns="0" bIns="0" rtlCol="0" anchor="ctr"/>
          <a:lstStyle/>
          <a:p>
            <a:pPr indent="0" marL="0">
              <a:buNone/>
            </a:pPr>
            <a:r>
              <a:rPr lang="en-US" sz="1700" b="1" dirty="0">
                <a:solidFill>
                  <a:schemeClr val="tx2"/>
                </a:solidFill>
              </a:rPr>
              <a:t>Theo dõi kinh doanh</a:t>
            </a:r>
            <a:endParaRPr lang="en-US" sz="1700" dirty="0"/>
          </a:p>
        </p:txBody>
      </p:sp>
      <p:sp>
        <p:nvSpPr>
          <p:cNvPr id="44" name="Text 35"/>
          <p:cNvSpPr txBox="1"/>
          <p:nvPr/>
        </p:nvSpPr>
        <p:spPr>
          <a:xfrm>
            <a:off x="6515100" y="5303520"/>
            <a:ext cx="2137410" cy="685800"/>
          </a:xfrm>
          <a:prstGeom prst="rect">
            <a:avLst/>
          </a:prstGeom>
          <a:noFill/>
          <a:ln/>
        </p:spPr>
        <p:txBody>
          <a:bodyPr wrap="square" lIns="0" tIns="0" rIns="0" bIns="0" rtlCol="0" anchor="t"/>
          <a:lstStyle/>
          <a:p>
            <a:pPr indent="0" marL="0">
              <a:buNone/>
            </a:pPr>
            <a:r>
              <a:rPr lang="en-US" sz="1300" dirty="0">
                <a:solidFill>
                  <a:schemeClr val="accent6"/>
                </a:solidFill>
              </a:rPr>
              <a:t>Tổng quan, báo cáo lãi lỗ, mặt hàng, công nợ</a:t>
            </a:r>
            <a:endParaRPr lang="en-US" sz="1300" dirty="0"/>
          </a:p>
        </p:txBody>
      </p:sp>
      <p:sp>
        <p:nvSpPr>
          <p:cNvPr id="45" name="Shape 36"/>
          <p:cNvSpPr/>
          <p:nvPr/>
        </p:nvSpPr>
        <p:spPr>
          <a:xfrm>
            <a:off x="9109710" y="3840480"/>
            <a:ext cx="2594610" cy="2240280"/>
          </a:xfrm>
          <a:prstGeom prst="roundRect">
            <a:avLst>
              <a:gd name="adj" fmla="val 4082"/>
            </a:avLst>
          </a:prstGeom>
          <a:solidFill>
            <a:schemeClr val="bg2"/>
          </a:solidFill>
          <a:ln w="12700">
            <a:solidFill>
              <a:schemeClr val="bg2"/>
            </a:solidFill>
            <a:prstDash val="solid"/>
          </a:ln>
        </p:spPr>
      </p:sp>
      <p:sp>
        <p:nvSpPr>
          <p:cNvPr id="46" name="Shape 37"/>
          <p:cNvSpPr/>
          <p:nvPr/>
        </p:nvSpPr>
        <p:spPr>
          <a:xfrm>
            <a:off x="9384030" y="4114800"/>
            <a:ext cx="640080" cy="640080"/>
          </a:xfrm>
          <a:prstGeom prst="ellipse">
            <a:avLst/>
          </a:prstGeom>
          <a:solidFill>
            <a:schemeClr val="accent1"/>
          </a:solidFill>
          <a:ln/>
        </p:spPr>
      </p:sp>
      <p:pic>
        <p:nvPicPr>
          <p:cNvPr id="47" name="Image 7" descr="Điện thoại và cài đặt">    </p:cNvPr>
          <p:cNvPicPr>
            <a:picLocks noChangeAspect="1"/>
          </p:cNvPicPr>
          <p:nvPr/>
        </p:nvPicPr>
        <p:blipFill>
          <a:blip r:embed="rId8"/>
          <a:stretch>
            <a:fillRect/>
          </a:stretch>
        </p:blipFill>
        <p:spPr>
          <a:xfrm>
            <a:off x="9530334" y="4261104"/>
            <a:ext cx="347472" cy="347472"/>
          </a:xfrm>
          <a:prstGeom prst="rect">
            <a:avLst/>
          </a:prstGeom>
        </p:spPr>
      </p:pic>
      <p:sp>
        <p:nvSpPr>
          <p:cNvPr id="48" name="Text 38"/>
          <p:cNvSpPr txBox="1"/>
          <p:nvPr/>
        </p:nvSpPr>
        <p:spPr>
          <a:xfrm>
            <a:off x="10881360" y="4023360"/>
            <a:ext cx="594360" cy="640080"/>
          </a:xfrm>
          <a:prstGeom prst="rect">
            <a:avLst/>
          </a:prstGeom>
          <a:noFill/>
          <a:ln/>
        </p:spPr>
        <p:txBody>
          <a:bodyPr wrap="square" lIns="0" tIns="0" rIns="0" bIns="0" rtlCol="0" anchor="ctr"/>
          <a:lstStyle/>
          <a:p>
            <a:pPr algn="r" indent="0" marL="0">
              <a:buNone/>
            </a:pPr>
            <a:r>
              <a:rPr lang="en-US" sz="3200" b="1" dirty="0">
                <a:solidFill>
                  <a:schemeClr val="accent2"/>
                </a:solidFill>
              </a:rPr>
              <a:t>8</a:t>
            </a:r>
            <a:endParaRPr lang="en-US" sz="3200" dirty="0"/>
          </a:p>
        </p:txBody>
      </p:sp>
      <p:sp>
        <p:nvSpPr>
          <p:cNvPr id="49" name="Text 39"/>
          <p:cNvSpPr txBox="1"/>
          <p:nvPr/>
        </p:nvSpPr>
        <p:spPr>
          <a:xfrm>
            <a:off x="9384030" y="4892040"/>
            <a:ext cx="2137410" cy="411480"/>
          </a:xfrm>
          <a:prstGeom prst="rect">
            <a:avLst/>
          </a:prstGeom>
          <a:noFill/>
          <a:ln/>
        </p:spPr>
        <p:txBody>
          <a:bodyPr wrap="square" lIns="0" tIns="0" rIns="0" bIns="0" rtlCol="0" anchor="ctr"/>
          <a:lstStyle/>
          <a:p>
            <a:pPr indent="0" marL="0">
              <a:buNone/>
            </a:pPr>
            <a:r>
              <a:rPr lang="en-US" sz="1700" b="1" dirty="0">
                <a:solidFill>
                  <a:schemeClr val="tx2"/>
                </a:solidFill>
              </a:rPr>
              <a:t>Điện thoại và cài đặt</a:t>
            </a:r>
            <a:endParaRPr lang="en-US" sz="1700" dirty="0"/>
          </a:p>
        </p:txBody>
      </p:sp>
      <p:sp>
        <p:nvSpPr>
          <p:cNvPr id="50" name="Text 40"/>
          <p:cNvSpPr txBox="1"/>
          <p:nvPr/>
        </p:nvSpPr>
        <p:spPr>
          <a:xfrm>
            <a:off x="9384030" y="5303520"/>
            <a:ext cx="2137410" cy="685800"/>
          </a:xfrm>
          <a:prstGeom prst="rect">
            <a:avLst/>
          </a:prstGeom>
          <a:noFill/>
          <a:ln/>
        </p:spPr>
        <p:txBody>
          <a:bodyPr wrap="square" lIns="0" tIns="0" rIns="0" bIns="0" rtlCol="0" anchor="t"/>
          <a:lstStyle/>
          <a:p>
            <a:pPr indent="0" marL="0">
              <a:buNone/>
            </a:pPr>
            <a:r>
              <a:rPr lang="en-US" sz="1300" dirty="0">
                <a:solidFill>
                  <a:schemeClr val="accent6"/>
                </a:solidFill>
              </a:rPr>
              <a:t>Ghép điện thoại, cài đặt, sự cố thường gặp</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1097280"/>
            <a:ext cx="2743200" cy="1188720"/>
          </a:xfrm>
          <a:prstGeom prst="rect">
            <a:avLst/>
          </a:prstGeom>
          <a:noFill/>
          <a:ln/>
        </p:spPr>
        <p:txBody>
          <a:bodyPr wrap="square" lIns="0" tIns="0" rIns="0" bIns="0" rtlCol="0" anchor="ctr"/>
          <a:lstStyle/>
          <a:p>
            <a:pPr indent="0" marL="0">
              <a:buNone/>
            </a:pPr>
            <a:r>
              <a:rPr lang="en-US" sz="8000" b="1" dirty="0">
                <a:solidFill>
                  <a:srgbClr val="FDBA74"/>
                </a:solidFill>
              </a:rPr>
              <a:t>01</a:t>
            </a:r>
            <a:endParaRPr lang="en-US" sz="8000" dirty="0"/>
          </a:p>
        </p:txBody>
      </p:sp>
      <p:sp>
        <p:nvSpPr>
          <p:cNvPr id="3" name="Text 0"/>
          <p:cNvSpPr/>
          <p:nvPr>
            <p:ph idx="100" type="title" hasCustomPrompt="1"/>
          </p:nvPr>
        </p:nvSpPr>
        <p:spPr>
          <a:xfrm>
            <a:off x="731520" y="2331720"/>
            <a:ext cx="5669280" cy="1463040"/>
          </a:xfrm>
          <a:prstGeom prst="rect">
            <a:avLst/>
          </a:prstGeom>
          <a:noFill/>
          <a:ln/>
        </p:spPr>
        <p:txBody>
          <a:bodyPr wrap="square" lIns="0" tIns="0" rIns="0" bIns="0" rtlCol="0" anchor="t"/>
          <a:lstStyle/>
          <a:p>
            <a:pPr algn="l" indent="0" marL="0">
              <a:buNone/>
            </a:pPr>
            <a:r>
              <a:rPr lang="en-US" sz="4400" b="1" dirty="0">
                <a:solidFill>
                  <a:schemeClr val="bg1"/>
                </a:solidFill>
              </a:rPr>
              <a:t>Làm quen</a:t>
            </a:r>
            <a:endParaRPr lang="en-US" sz="4400" dirty="0"/>
          </a:p>
        </p:txBody>
      </p:sp>
      <p:sp>
        <p:nvSpPr>
          <p:cNvPr id="4" name="Shape 2"/>
          <p:cNvSpPr/>
          <p:nvPr/>
        </p:nvSpPr>
        <p:spPr>
          <a:xfrm>
            <a:off x="6903720" y="1051560"/>
            <a:ext cx="4754880" cy="4754880"/>
          </a:xfrm>
          <a:prstGeom prst="roundRect">
            <a:avLst>
              <a:gd name="adj" fmla="val 3846"/>
            </a:avLst>
          </a:prstGeom>
          <a:solidFill>
            <a:schemeClr val="bg1">
              <a:alpha val="8000"/>
            </a:schemeClr>
          </a:solidFill>
          <a:ln w="9525">
            <a:solidFill>
              <a:schemeClr val="bg1">
                <a:alpha val="20000"/>
              </a:schemeClr>
            </a:solidFill>
            <a:prstDash val="solid"/>
          </a:ln>
        </p:spPr>
      </p:sp>
      <p:pic>
        <p:nvPicPr>
          <p:cNvPr id="5" name="Image 0" descr="Làm quen">    </p:cNvPr>
          <p:cNvPicPr>
            <a:picLocks noChangeAspect="1"/>
          </p:cNvPicPr>
          <p:nvPr/>
        </p:nvPicPr>
        <p:blipFill>
          <a:blip r:embed="rId1"/>
          <a:stretch>
            <a:fillRect/>
          </a:stretch>
        </p:blipFill>
        <p:spPr>
          <a:xfrm>
            <a:off x="7269480" y="1371600"/>
            <a:ext cx="548640" cy="548640"/>
          </a:xfrm>
          <a:prstGeom prst="rect">
            <a:avLst/>
          </a:prstGeom>
        </p:spPr>
      </p:pic>
      <p:sp>
        <p:nvSpPr>
          <p:cNvPr id="6" name="Text 3"/>
          <p:cNvSpPr txBox="1"/>
          <p:nvPr/>
        </p:nvSpPr>
        <p:spPr>
          <a:xfrm>
            <a:off x="8001000" y="1417320"/>
            <a:ext cx="3474720" cy="457200"/>
          </a:xfrm>
          <a:prstGeom prst="rect">
            <a:avLst/>
          </a:prstGeom>
          <a:noFill/>
          <a:ln/>
        </p:spPr>
        <p:txBody>
          <a:bodyPr wrap="square" lIns="0" tIns="0" rIns="0" bIns="0" rtlCol="0" anchor="ctr"/>
          <a:lstStyle/>
          <a:p>
            <a:pPr indent="0" marL="0">
              <a:buNone/>
            </a:pPr>
            <a:r>
              <a:rPr lang="en-US" sz="1600" b="1" dirty="0">
                <a:solidFill>
                  <a:schemeClr val="bg1"/>
                </a:solidFill>
              </a:rPr>
              <a:t>Trong phần này</a:t>
            </a:r>
            <a:endParaRPr lang="en-US" sz="1600" dirty="0"/>
          </a:p>
        </p:txBody>
      </p:sp>
      <p:sp>
        <p:nvSpPr>
          <p:cNvPr id="7" name="Text 4"/>
          <p:cNvSpPr txBox="1"/>
          <p:nvPr/>
        </p:nvSpPr>
        <p:spPr>
          <a:xfrm>
            <a:off x="7269480" y="2148840"/>
            <a:ext cx="4114800" cy="347472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chemeClr val="bg1"/>
                </a:solidFill>
              </a:rPr>
              <a:t>Mở phần mềm mỗi ngày</a:t>
            </a:r>
            <a:endParaRPr lang="en-US" sz="1700" dirty="0"/>
          </a:p>
          <a:p>
            <a:pPr marL="342900" indent="-342900">
              <a:spcAft>
                <a:spcPts val="900"/>
              </a:spcAft>
              <a:buSzPct val="100000"/>
              <a:buChar char="•"/>
            </a:pPr>
            <a:r>
              <a:rPr lang="en-US" sz="1700" dirty="0">
                <a:solidFill>
                  <a:schemeClr val="bg1"/>
                </a:solidFill>
              </a:rPr>
              <a:t>Các phần của màn hình chính</a:t>
            </a:r>
            <a:endParaRPr lang="en-US" sz="1700" dirty="0"/>
          </a:p>
          <a:p>
            <a:pPr marL="342900" indent="-342900">
              <a:spcAft>
                <a:spcPts val="900"/>
              </a:spcAft>
              <a:buSzPct val="100000"/>
              <a:buChar char="•"/>
            </a:pPr>
            <a:r>
              <a:rPr lang="en-US" sz="1700" dirty="0">
                <a:solidFill>
                  <a:schemeClr val="bg1"/>
                </a:solidFill>
              </a:rPr>
              <a:t>Phím tắt và máy quét mã vạch</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Mở phần mềm mỗi ngày</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1 · Làm quen</a:t>
            </a:r>
            <a:endParaRPr lang="en-US" sz="1200" dirty="0"/>
          </a:p>
        </p:txBody>
      </p:sp>
      <p:sp>
        <p:nvSpPr>
          <p:cNvPr id="4" name="Shape 2"/>
          <p:cNvSpPr/>
          <p:nvPr/>
        </p:nvSpPr>
        <p:spPr>
          <a:xfrm>
            <a:off x="502920" y="1280160"/>
            <a:ext cx="5463540" cy="1851660"/>
          </a:xfrm>
          <a:prstGeom prst="roundRect">
            <a:avLst>
              <a:gd name="adj" fmla="val 4938"/>
            </a:avLst>
          </a:prstGeom>
          <a:solidFill>
            <a:schemeClr val="bg2"/>
          </a:solidFill>
          <a:ln w="12700">
            <a:solidFill>
              <a:schemeClr val="bg2"/>
            </a:solidFill>
            <a:prstDash val="solid"/>
          </a:ln>
        </p:spPr>
      </p:sp>
      <p:sp>
        <p:nvSpPr>
          <p:cNvPr id="5" name="Shape 3"/>
          <p:cNvSpPr/>
          <p:nvPr/>
        </p:nvSpPr>
        <p:spPr>
          <a:xfrm>
            <a:off x="731520" y="1508760"/>
            <a:ext cx="566928" cy="566928"/>
          </a:xfrm>
          <a:prstGeom prst="ellipse">
            <a:avLst/>
          </a:prstGeom>
          <a:solidFill>
            <a:schemeClr val="accent1"/>
          </a:solidFill>
          <a:ln/>
        </p:spPr>
      </p:sp>
      <p:pic>
        <p:nvPicPr>
          <p:cNvPr id="6" name="Image 0" descr="Bật máy là phần mềm tự chạy">    </p:cNvPr>
          <p:cNvPicPr>
            <a:picLocks noChangeAspect="1"/>
          </p:cNvPicPr>
          <p:nvPr/>
        </p:nvPicPr>
        <p:blipFill>
          <a:blip r:embed="rId1"/>
          <a:stretch>
            <a:fillRect/>
          </a:stretch>
        </p:blipFill>
        <p:spPr>
          <a:xfrm>
            <a:off x="859536" y="1636776"/>
            <a:ext cx="310896" cy="310896"/>
          </a:xfrm>
          <a:prstGeom prst="rect">
            <a:avLst/>
          </a:prstGeom>
        </p:spPr>
      </p:pic>
      <p:sp>
        <p:nvSpPr>
          <p:cNvPr id="7" name="Text 4"/>
          <p:cNvSpPr txBox="1"/>
          <p:nvPr/>
        </p:nvSpPr>
        <p:spPr>
          <a:xfrm>
            <a:off x="1508760" y="1481328"/>
            <a:ext cx="4274820" cy="384048"/>
          </a:xfrm>
          <a:prstGeom prst="rect">
            <a:avLst/>
          </a:prstGeom>
          <a:noFill/>
          <a:ln/>
        </p:spPr>
        <p:txBody>
          <a:bodyPr wrap="square" lIns="0" tIns="0" rIns="0" bIns="0" rtlCol="0" anchor="ctr"/>
          <a:lstStyle/>
          <a:p>
            <a:pPr indent="0" marL="0">
              <a:buNone/>
            </a:pPr>
            <a:r>
              <a:rPr lang="en-US" sz="1700" b="1" dirty="0">
                <a:solidFill>
                  <a:schemeClr val="tx2"/>
                </a:solidFill>
              </a:rPr>
              <a:t>Bật máy là phần mềm tự chạy</a:t>
            </a:r>
            <a:endParaRPr lang="en-US" sz="1700" dirty="0"/>
          </a:p>
        </p:txBody>
      </p:sp>
      <p:sp>
        <p:nvSpPr>
          <p:cNvPr id="8" name="Text 5"/>
          <p:cNvSpPr txBox="1"/>
          <p:nvPr/>
        </p:nvSpPr>
        <p:spPr>
          <a:xfrm>
            <a:off x="1508760" y="1920240"/>
            <a:ext cx="4274820" cy="1074420"/>
          </a:xfrm>
          <a:prstGeom prst="rect">
            <a:avLst/>
          </a:prstGeom>
          <a:noFill/>
          <a:ln/>
        </p:spPr>
        <p:txBody>
          <a:bodyPr wrap="square" lIns="0" tIns="0" rIns="0" bIns="0" rtlCol="0" anchor="t"/>
          <a:lstStyle/>
          <a:p>
            <a:pPr indent="0" marL="0">
              <a:buNone/>
            </a:pPr>
            <a:r>
              <a:rPr lang="en-US" sz="1400" dirty="0">
                <a:solidFill>
                  <a:schemeClr val="tx1"/>
                </a:solidFill>
              </a:rPr>
              <a:t>Tiny POS tự khởi động cùng Windows. Không cần bật gì thêm, không cần Internet.</a:t>
            </a:r>
            <a:endParaRPr lang="en-US" sz="1400" dirty="0"/>
          </a:p>
        </p:txBody>
      </p:sp>
      <p:sp>
        <p:nvSpPr>
          <p:cNvPr id="9" name="Shape 6"/>
          <p:cNvSpPr/>
          <p:nvPr/>
        </p:nvSpPr>
        <p:spPr>
          <a:xfrm>
            <a:off x="6240780" y="1280160"/>
            <a:ext cx="5463540" cy="1851660"/>
          </a:xfrm>
          <a:prstGeom prst="roundRect">
            <a:avLst>
              <a:gd name="adj" fmla="val 4938"/>
            </a:avLst>
          </a:prstGeom>
          <a:solidFill>
            <a:schemeClr val="bg2"/>
          </a:solidFill>
          <a:ln w="12700">
            <a:solidFill>
              <a:schemeClr val="bg2"/>
            </a:solidFill>
            <a:prstDash val="solid"/>
          </a:ln>
        </p:spPr>
      </p:sp>
      <p:sp>
        <p:nvSpPr>
          <p:cNvPr id="10" name="Shape 7"/>
          <p:cNvSpPr/>
          <p:nvPr/>
        </p:nvSpPr>
        <p:spPr>
          <a:xfrm>
            <a:off x="6469380" y="1508760"/>
            <a:ext cx="566928" cy="566928"/>
          </a:xfrm>
          <a:prstGeom prst="ellipse">
            <a:avLst/>
          </a:prstGeom>
          <a:solidFill>
            <a:schemeClr val="accent1"/>
          </a:solidFill>
          <a:ln/>
        </p:spPr>
      </p:sp>
      <p:pic>
        <p:nvPicPr>
          <p:cNvPr id="11" name="Image 1" descr="Bấm đúp biểu tượng &quot;Tiny POS&quot;">    </p:cNvPr>
          <p:cNvPicPr>
            <a:picLocks noChangeAspect="1"/>
          </p:cNvPicPr>
          <p:nvPr/>
        </p:nvPicPr>
        <p:blipFill>
          <a:blip r:embed="rId2"/>
          <a:stretch>
            <a:fillRect/>
          </a:stretch>
        </p:blipFill>
        <p:spPr>
          <a:xfrm>
            <a:off x="6597396" y="1636776"/>
            <a:ext cx="310896" cy="310896"/>
          </a:xfrm>
          <a:prstGeom prst="rect">
            <a:avLst/>
          </a:prstGeom>
        </p:spPr>
      </p:pic>
      <p:sp>
        <p:nvSpPr>
          <p:cNvPr id="12" name="Text 8"/>
          <p:cNvSpPr txBox="1"/>
          <p:nvPr/>
        </p:nvSpPr>
        <p:spPr>
          <a:xfrm>
            <a:off x="7246620" y="1481328"/>
            <a:ext cx="4274820" cy="384048"/>
          </a:xfrm>
          <a:prstGeom prst="rect">
            <a:avLst/>
          </a:prstGeom>
          <a:noFill/>
          <a:ln/>
        </p:spPr>
        <p:txBody>
          <a:bodyPr wrap="square" lIns="0" tIns="0" rIns="0" bIns="0" rtlCol="0" anchor="ctr"/>
          <a:lstStyle/>
          <a:p>
            <a:pPr indent="0" marL="0">
              <a:buNone/>
            </a:pPr>
            <a:r>
              <a:rPr lang="en-US" sz="1700" b="1" dirty="0">
                <a:solidFill>
                  <a:schemeClr val="tx2"/>
                </a:solidFill>
              </a:rPr>
              <a:t>Bấm đúp biểu tượng "Tiny POS"</a:t>
            </a:r>
            <a:endParaRPr lang="en-US" sz="1700" dirty="0"/>
          </a:p>
        </p:txBody>
      </p:sp>
      <p:sp>
        <p:nvSpPr>
          <p:cNvPr id="13" name="Text 9"/>
          <p:cNvSpPr txBox="1"/>
          <p:nvPr/>
        </p:nvSpPr>
        <p:spPr>
          <a:xfrm>
            <a:off x="7246620" y="1920240"/>
            <a:ext cx="4274820" cy="1074420"/>
          </a:xfrm>
          <a:prstGeom prst="rect">
            <a:avLst/>
          </a:prstGeom>
          <a:noFill/>
          <a:ln/>
        </p:spPr>
        <p:txBody>
          <a:bodyPr wrap="square" lIns="0" tIns="0" rIns="0" bIns="0" rtlCol="0" anchor="t"/>
          <a:lstStyle/>
          <a:p>
            <a:pPr indent="0" marL="0">
              <a:buNone/>
            </a:pPr>
            <a:r>
              <a:rPr lang="en-US" sz="1400" dirty="0">
                <a:solidFill>
                  <a:schemeClr val="tx1"/>
                </a:solidFill>
              </a:rPr>
              <a:t>Biểu tượng trên màn hình Desktop mở thẳng màn Bán hàng, dạng cửa sổ ứng dụng, không có thanh địa chỉ.</a:t>
            </a:r>
            <a:endParaRPr lang="en-US" sz="1400" dirty="0"/>
          </a:p>
        </p:txBody>
      </p:sp>
      <p:sp>
        <p:nvSpPr>
          <p:cNvPr id="14" name="Shape 10"/>
          <p:cNvSpPr/>
          <p:nvPr/>
        </p:nvSpPr>
        <p:spPr>
          <a:xfrm>
            <a:off x="502920" y="3406140"/>
            <a:ext cx="5463540" cy="1851660"/>
          </a:xfrm>
          <a:prstGeom prst="roundRect">
            <a:avLst>
              <a:gd name="adj" fmla="val 4938"/>
            </a:avLst>
          </a:prstGeom>
          <a:solidFill>
            <a:schemeClr val="bg2"/>
          </a:solidFill>
          <a:ln w="12700">
            <a:solidFill>
              <a:schemeClr val="bg2"/>
            </a:solidFill>
            <a:prstDash val="solid"/>
          </a:ln>
        </p:spPr>
      </p:sp>
      <p:sp>
        <p:nvSpPr>
          <p:cNvPr id="15" name="Shape 11"/>
          <p:cNvSpPr/>
          <p:nvPr/>
        </p:nvSpPr>
        <p:spPr>
          <a:xfrm>
            <a:off x="731520" y="3634740"/>
            <a:ext cx="566928" cy="566928"/>
          </a:xfrm>
          <a:prstGeom prst="ellipse">
            <a:avLst/>
          </a:prstGeom>
          <a:solidFill>
            <a:schemeClr val="accent1"/>
          </a:solidFill>
          <a:ln/>
        </p:spPr>
      </p:sp>
      <p:pic>
        <p:nvPicPr>
          <p:cNvPr id="16" name="Image 2" descr="Hóa đơn in thẳng, không hỏi">    </p:cNvPr>
          <p:cNvPicPr>
            <a:picLocks noChangeAspect="1"/>
          </p:cNvPicPr>
          <p:nvPr/>
        </p:nvPicPr>
        <p:blipFill>
          <a:blip r:embed="rId3"/>
          <a:stretch>
            <a:fillRect/>
          </a:stretch>
        </p:blipFill>
        <p:spPr>
          <a:xfrm>
            <a:off x="859536" y="3762756"/>
            <a:ext cx="310896" cy="310896"/>
          </a:xfrm>
          <a:prstGeom prst="rect">
            <a:avLst/>
          </a:prstGeom>
        </p:spPr>
      </p:pic>
      <p:sp>
        <p:nvSpPr>
          <p:cNvPr id="17" name="Text 12"/>
          <p:cNvSpPr txBox="1"/>
          <p:nvPr/>
        </p:nvSpPr>
        <p:spPr>
          <a:xfrm>
            <a:off x="1508760" y="3607308"/>
            <a:ext cx="4274820" cy="384048"/>
          </a:xfrm>
          <a:prstGeom prst="rect">
            <a:avLst/>
          </a:prstGeom>
          <a:noFill/>
          <a:ln/>
        </p:spPr>
        <p:txBody>
          <a:bodyPr wrap="square" lIns="0" tIns="0" rIns="0" bIns="0" rtlCol="0" anchor="ctr"/>
          <a:lstStyle/>
          <a:p>
            <a:pPr indent="0" marL="0">
              <a:buNone/>
            </a:pPr>
            <a:r>
              <a:rPr lang="en-US" sz="1700" b="1" dirty="0">
                <a:solidFill>
                  <a:schemeClr val="tx2"/>
                </a:solidFill>
              </a:rPr>
              <a:t>Hóa đơn in thẳng, không hỏi</a:t>
            </a:r>
            <a:endParaRPr lang="en-US" sz="1700" dirty="0"/>
          </a:p>
        </p:txBody>
      </p:sp>
      <p:sp>
        <p:nvSpPr>
          <p:cNvPr id="18" name="Text 13"/>
          <p:cNvSpPr txBox="1"/>
          <p:nvPr/>
        </p:nvSpPr>
        <p:spPr>
          <a:xfrm>
            <a:off x="1508760" y="4046220"/>
            <a:ext cx="4274820" cy="1074420"/>
          </a:xfrm>
          <a:prstGeom prst="rect">
            <a:avLst/>
          </a:prstGeom>
          <a:noFill/>
          <a:ln/>
        </p:spPr>
        <p:txBody>
          <a:bodyPr wrap="square" lIns="0" tIns="0" rIns="0" bIns="0" rtlCol="0" anchor="t"/>
          <a:lstStyle/>
          <a:p>
            <a:pPr indent="0" marL="0">
              <a:buNone/>
            </a:pPr>
            <a:r>
              <a:rPr lang="en-US" sz="1400" dirty="0">
                <a:solidFill>
                  <a:schemeClr val="tx1"/>
                </a:solidFill>
              </a:rPr>
              <a:t>Mở phần mềm bằng biểu tượng thì hóa đơn in ngay ra máy in nhiệt 80mm, không hiện hộp thoại chọn máy in.</a:t>
            </a:r>
            <a:endParaRPr lang="en-US" sz="1400" dirty="0"/>
          </a:p>
        </p:txBody>
      </p:sp>
      <p:sp>
        <p:nvSpPr>
          <p:cNvPr id="19" name="Shape 14"/>
          <p:cNvSpPr/>
          <p:nvPr/>
        </p:nvSpPr>
        <p:spPr>
          <a:xfrm>
            <a:off x="6240780" y="3406140"/>
            <a:ext cx="5463540" cy="1851660"/>
          </a:xfrm>
          <a:prstGeom prst="roundRect">
            <a:avLst>
              <a:gd name="adj" fmla="val 4938"/>
            </a:avLst>
          </a:prstGeom>
          <a:solidFill>
            <a:schemeClr val="bg2"/>
          </a:solidFill>
          <a:ln w="12700">
            <a:solidFill>
              <a:schemeClr val="bg2"/>
            </a:solidFill>
            <a:prstDash val="solid"/>
          </a:ln>
        </p:spPr>
      </p:sp>
      <p:sp>
        <p:nvSpPr>
          <p:cNvPr id="20" name="Shape 15"/>
          <p:cNvSpPr/>
          <p:nvPr/>
        </p:nvSpPr>
        <p:spPr>
          <a:xfrm>
            <a:off x="6469380" y="3634740"/>
            <a:ext cx="566928" cy="566928"/>
          </a:xfrm>
          <a:prstGeom prst="ellipse">
            <a:avLst/>
          </a:prstGeom>
          <a:solidFill>
            <a:schemeClr val="accent1"/>
          </a:solidFill>
          <a:ln/>
        </p:spPr>
      </p:sp>
      <p:pic>
        <p:nvPicPr>
          <p:cNvPr id="21" name="Image 3" descr="Mất mạng vẫn bán bình thường">    </p:cNvPr>
          <p:cNvPicPr>
            <a:picLocks noChangeAspect="1"/>
          </p:cNvPicPr>
          <p:nvPr/>
        </p:nvPicPr>
        <p:blipFill>
          <a:blip r:embed="rId4"/>
          <a:stretch>
            <a:fillRect/>
          </a:stretch>
        </p:blipFill>
        <p:spPr>
          <a:xfrm>
            <a:off x="6597396" y="3762756"/>
            <a:ext cx="310896" cy="310896"/>
          </a:xfrm>
          <a:prstGeom prst="rect">
            <a:avLst/>
          </a:prstGeom>
        </p:spPr>
      </p:pic>
      <p:sp>
        <p:nvSpPr>
          <p:cNvPr id="22" name="Text 16"/>
          <p:cNvSpPr txBox="1"/>
          <p:nvPr/>
        </p:nvSpPr>
        <p:spPr>
          <a:xfrm>
            <a:off x="7246620" y="3607308"/>
            <a:ext cx="4274820" cy="384048"/>
          </a:xfrm>
          <a:prstGeom prst="rect">
            <a:avLst/>
          </a:prstGeom>
          <a:noFill/>
          <a:ln/>
        </p:spPr>
        <p:txBody>
          <a:bodyPr wrap="square" lIns="0" tIns="0" rIns="0" bIns="0" rtlCol="0" anchor="ctr"/>
          <a:lstStyle/>
          <a:p>
            <a:pPr indent="0" marL="0">
              <a:buNone/>
            </a:pPr>
            <a:r>
              <a:rPr lang="en-US" sz="1700" b="1" dirty="0">
                <a:solidFill>
                  <a:schemeClr val="tx2"/>
                </a:solidFill>
              </a:rPr>
              <a:t>Mất mạng vẫn bán bình thường</a:t>
            </a:r>
            <a:endParaRPr lang="en-US" sz="1700" dirty="0"/>
          </a:p>
        </p:txBody>
      </p:sp>
      <p:sp>
        <p:nvSpPr>
          <p:cNvPr id="23" name="Text 17"/>
          <p:cNvSpPr txBox="1"/>
          <p:nvPr/>
        </p:nvSpPr>
        <p:spPr>
          <a:xfrm>
            <a:off x="7246620" y="4046220"/>
            <a:ext cx="4274820" cy="1074420"/>
          </a:xfrm>
          <a:prstGeom prst="rect">
            <a:avLst/>
          </a:prstGeom>
          <a:noFill/>
          <a:ln/>
        </p:spPr>
        <p:txBody>
          <a:bodyPr wrap="square" lIns="0" tIns="0" rIns="0" bIns="0" rtlCol="0" anchor="t"/>
          <a:lstStyle/>
          <a:p>
            <a:pPr indent="0" marL="0">
              <a:buNone/>
            </a:pPr>
            <a:r>
              <a:rPr lang="en-US" sz="1400" dirty="0">
                <a:solidFill>
                  <a:schemeClr val="tx1"/>
                </a:solidFill>
              </a:rPr>
              <a:t>Mọi dữ liệu nằm trên máy quầy. Điện thoại trong tiệm chỉ cần bắt cùng Wi‑Fi với máy quầy.</a:t>
            </a:r>
            <a:endParaRPr lang="en-US" sz="1400" dirty="0"/>
          </a:p>
        </p:txBody>
      </p:sp>
      <p:sp>
        <p:nvSpPr>
          <p:cNvPr id="24" name="luu-y"/>
          <p:cNvSpPr/>
          <p:nvPr/>
        </p:nvSpPr>
        <p:spPr>
          <a:xfrm>
            <a:off x="502920" y="5532120"/>
            <a:ext cx="11201400" cy="566928"/>
          </a:xfrm>
          <a:prstGeom prst="roundRect">
            <a:avLst>
              <a:gd name="adj" fmla="val 12903"/>
            </a:avLst>
          </a:prstGeom>
          <a:solidFill>
            <a:schemeClr val="accent2">
              <a:alpha val="10000"/>
            </a:schemeClr>
          </a:solidFill>
          <a:ln w="9525">
            <a:solidFill>
              <a:schemeClr val="accent2">
                <a:alpha val="45000"/>
              </a:schemeClr>
            </a:solidFill>
            <a:prstDash val="solid"/>
          </a:ln>
        </p:spPr>
      </p:sp>
      <p:pic>
        <p:nvPicPr>
          <p:cNvPr id="25" name="Image 4" descr="Lưu ý">    </p:cNvPr>
          <p:cNvPicPr>
            <a:picLocks noChangeAspect="1"/>
          </p:cNvPicPr>
          <p:nvPr/>
        </p:nvPicPr>
        <p:blipFill>
          <a:blip r:embed="rId5"/>
          <a:stretch>
            <a:fillRect/>
          </a:stretch>
        </p:blipFill>
        <p:spPr>
          <a:xfrm>
            <a:off x="667512" y="5678424"/>
            <a:ext cx="274320" cy="274320"/>
          </a:xfrm>
          <a:prstGeom prst="rect">
            <a:avLst/>
          </a:prstGeom>
        </p:spPr>
      </p:pic>
      <p:sp>
        <p:nvSpPr>
          <p:cNvPr id="26" name="Text 19"/>
          <p:cNvSpPr txBox="1"/>
          <p:nvPr/>
        </p:nvSpPr>
        <p:spPr>
          <a:xfrm>
            <a:off x="1051560" y="5605272"/>
            <a:ext cx="10515600" cy="420624"/>
          </a:xfrm>
          <a:prstGeom prst="rect">
            <a:avLst/>
          </a:prstGeom>
          <a:noFill/>
          <a:ln/>
        </p:spPr>
        <p:txBody>
          <a:bodyPr wrap="square" lIns="0" tIns="0" rIns="0" bIns="0" rtlCol="0" anchor="ctr"/>
          <a:lstStyle/>
          <a:p>
            <a:pPr indent="0" marL="0">
              <a:buNone/>
            </a:pPr>
            <a:r>
              <a:rPr lang="en-US" sz="1300" dirty="0">
                <a:solidFill>
                  <a:schemeClr val="tx1"/>
                </a:solidFill>
              </a:rPr>
              <a:t>Biểu tượng báo "Không bật được Tiny POS": khởi động lại máy tính. Vẫn lỗi thì gọi người cài đặt và đọc cho họ số phiên bản ở cuối menu.</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Màn hình chính</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1 · Làm quen</a:t>
            </a:r>
            <a:endParaRPr lang="en-US" sz="1200" dirty="0"/>
          </a:p>
        </p:txBody>
      </p:sp>
      <p:sp>
        <p:nvSpPr>
          <p:cNvPr id="4" name="overview-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overview" descr="overview">    </p:cNvPr>
          <p:cNvPicPr>
            <a:picLocks noChangeAspect="1"/>
          </p:cNvPicPr>
          <p:nvPr/>
        </p:nvPicPr>
        <p:blipFill>
          <a:blip r:embed="rId1"/>
          <a:stretch>
            <a:fillRect/>
          </a:stretch>
        </p:blipFill>
        <p:spPr>
          <a:xfrm>
            <a:off x="502920" y="1234440"/>
            <a:ext cx="7269480" cy="4089083"/>
          </a:xfrm>
          <a:prstGeom prst="rect">
            <a:avLst/>
          </a:prstGeom>
        </p:spPr>
      </p:pic>
      <p:sp>
        <p:nvSpPr>
          <p:cNvPr id="6" name="so-1"/>
          <p:cNvSpPr txBox="1"/>
          <p:nvPr/>
        </p:nvSpPr>
        <p:spPr>
          <a:xfrm>
            <a:off x="1542336" y="1251585"/>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o-2"/>
          <p:cNvSpPr txBox="1"/>
          <p:nvPr/>
        </p:nvSpPr>
        <p:spPr>
          <a:xfrm>
            <a:off x="868394" y="1577197"/>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8" name="so-3"/>
          <p:cNvSpPr txBox="1"/>
          <p:nvPr/>
        </p:nvSpPr>
        <p:spPr>
          <a:xfrm>
            <a:off x="868394" y="3076527"/>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9" name="so-4"/>
          <p:cNvSpPr txBox="1"/>
          <p:nvPr/>
        </p:nvSpPr>
        <p:spPr>
          <a:xfrm>
            <a:off x="754809" y="4575858"/>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0" name="so-5"/>
          <p:cNvSpPr txBox="1"/>
          <p:nvPr/>
        </p:nvSpPr>
        <p:spPr>
          <a:xfrm>
            <a:off x="2761488" y="120615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1" name="so-6"/>
          <p:cNvSpPr txBox="1"/>
          <p:nvPr/>
        </p:nvSpPr>
        <p:spPr>
          <a:xfrm>
            <a:off x="7403354" y="1410605"/>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2"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3" name="buoc-1"/>
          <p:cNvSpPr txBox="1"/>
          <p:nvPr/>
        </p:nvSpPr>
        <p:spPr>
          <a:xfrm>
            <a:off x="8567928" y="1280160"/>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Tên và địa chỉ tiệm</a:t>
            </a:r>
            <a:pPr indent="0" marL="0">
              <a:buNone/>
            </a:pPr>
            <a:r>
              <a:rPr lang="en-US" sz="1400" dirty="0">
                <a:solidFill>
                  <a:schemeClr val="tx1"/>
                </a:solidFill>
              </a:rPr>
              <a:t> (sửa trong Cài đặt).</a:t>
            </a:r>
            <a:endParaRPr lang="en-US" sz="1400" dirty="0"/>
          </a:p>
        </p:txBody>
      </p:sp>
      <p:sp>
        <p:nvSpPr>
          <p:cNvPr id="14" name="so-2"/>
          <p:cNvSpPr txBox="1"/>
          <p:nvPr/>
        </p:nvSpPr>
        <p:spPr>
          <a:xfrm>
            <a:off x="8101584" y="19883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buoc-2"/>
          <p:cNvSpPr txBox="1"/>
          <p:nvPr/>
        </p:nvSpPr>
        <p:spPr>
          <a:xfrm>
            <a:off x="8567928" y="1970024"/>
            <a:ext cx="3136392" cy="723900"/>
          </a:xfrm>
          <a:prstGeom prst="rect">
            <a:avLst/>
          </a:prstGeom>
          <a:noFill/>
          <a:ln/>
        </p:spPr>
        <p:txBody>
          <a:bodyPr wrap="square" lIns="25400" tIns="0" rIns="0" bIns="0" rtlCol="0" anchor="t"/>
          <a:lstStyle/>
          <a:p>
            <a:pPr indent="0" marL="0">
              <a:buNone/>
            </a:pPr>
            <a:r>
              <a:rPr lang="en-US" sz="1400" b="1" dirty="0">
                <a:solidFill>
                  <a:schemeClr val="tx1"/>
                </a:solidFill>
              </a:rPr>
              <a:t>Nhóm Bán hàng:</a:t>
            </a:r>
            <a:pPr indent="0" marL="0">
              <a:buNone/>
            </a:pPr>
            <a:r>
              <a:rPr lang="en-US" sz="1400" dirty="0">
                <a:solidFill>
                  <a:schemeClr val="tx1"/>
                </a:solidFill>
              </a:rPr>
              <a:t> Tổng quan, Bán hàng, Hóa đơn, Trả hàng, Báo cáo, Khách hàng.</a:t>
            </a:r>
            <a:endParaRPr lang="en-US" sz="1400" dirty="0"/>
          </a:p>
        </p:txBody>
      </p:sp>
      <p:sp>
        <p:nvSpPr>
          <p:cNvPr id="16" name="so-3"/>
          <p:cNvSpPr txBox="1"/>
          <p:nvPr/>
        </p:nvSpPr>
        <p:spPr>
          <a:xfrm>
            <a:off x="8101584" y="289509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buoc-3"/>
          <p:cNvSpPr txBox="1"/>
          <p:nvPr/>
        </p:nvSpPr>
        <p:spPr>
          <a:xfrm>
            <a:off x="8567928" y="2876804"/>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Nhóm Kho hàng:</a:t>
            </a:r>
            <a:pPr indent="0" marL="0">
              <a:buNone/>
            </a:pPr>
            <a:r>
              <a:rPr lang="en-US" sz="1400" dirty="0">
                <a:solidFill>
                  <a:schemeClr val="tx1"/>
                </a:solidFill>
              </a:rPr>
              <a:t> Sản phẩm, Nhập hàng, Trả NCC, In tem, Kiểm kê, Danh mục.</a:t>
            </a:r>
            <a:endParaRPr lang="en-US" sz="1400" dirty="0"/>
          </a:p>
        </p:txBody>
      </p:sp>
      <p:sp>
        <p:nvSpPr>
          <p:cNvPr id="18" name="so-4"/>
          <p:cNvSpPr txBox="1"/>
          <p:nvPr/>
        </p:nvSpPr>
        <p:spPr>
          <a:xfrm>
            <a:off x="8101584" y="358495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9" name="buoc-4"/>
          <p:cNvSpPr txBox="1"/>
          <p:nvPr/>
        </p:nvSpPr>
        <p:spPr>
          <a:xfrm>
            <a:off x="8567928" y="3566668"/>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Nhóm Khác:</a:t>
            </a:r>
            <a:pPr indent="0" marL="0">
              <a:buNone/>
            </a:pPr>
            <a:r>
              <a:rPr lang="en-US" sz="1400" dirty="0">
                <a:solidFill>
                  <a:schemeClr val="tx1"/>
                </a:solidFill>
              </a:rPr>
              <a:t> Nhà cung cấp, Cài đặt (cuộn menu xuống).</a:t>
            </a:r>
            <a:endParaRPr lang="en-US" sz="1400" dirty="0"/>
          </a:p>
        </p:txBody>
      </p:sp>
      <p:sp>
        <p:nvSpPr>
          <p:cNvPr id="20" name="so-5"/>
          <p:cNvSpPr txBox="1"/>
          <p:nvPr/>
        </p:nvSpPr>
        <p:spPr>
          <a:xfrm>
            <a:off x="8101584" y="427482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buoc-5"/>
          <p:cNvSpPr txBox="1"/>
          <p:nvPr/>
        </p:nvSpPr>
        <p:spPr>
          <a:xfrm>
            <a:off x="8567928" y="4256532"/>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Tên trang đang mở.</a:t>
            </a:r>
            <a:pPr indent="0" marL="0">
              <a:buNone/>
            </a:pPr>
            <a:r>
              <a:rPr lang="en-US" sz="1400" dirty="0">
                <a:solidFill>
                  <a:schemeClr val="tx1"/>
                </a:solidFill>
              </a:rPr>
              <a:t> Các nút của trang nằm ở góc trên bên phải.</a:t>
            </a:r>
            <a:endParaRPr lang="en-US" sz="1400" dirty="0"/>
          </a:p>
        </p:txBody>
      </p:sp>
      <p:sp>
        <p:nvSpPr>
          <p:cNvPr id="22" name="so-6"/>
          <p:cNvSpPr txBox="1"/>
          <p:nvPr/>
        </p:nvSpPr>
        <p:spPr>
          <a:xfrm>
            <a:off x="8101584" y="496468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3" name="buoc-6"/>
          <p:cNvSpPr txBox="1"/>
          <p:nvPr/>
        </p:nvSpPr>
        <p:spPr>
          <a:xfrm>
            <a:off x="8567928" y="4946396"/>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Ngày hôm nay và nút sáng / tối</a:t>
            </a:r>
            <a:pPr indent="0" marL="0">
              <a:buNone/>
            </a:pPr>
            <a:r>
              <a:rPr lang="en-US" sz="1400" dirty="0">
                <a:solidFill>
                  <a:schemeClr val="tx1"/>
                </a:solidFill>
              </a:rPr>
              <a:t> cho màn hình.</a:t>
            </a:r>
            <a:endParaRPr lang="en-US" sz="1400" dirty="0"/>
          </a:p>
        </p:txBody>
      </p:sp>
      <p:sp>
        <p:nvSpPr>
          <p:cNvPr id="24" name="meo"/>
          <p:cNvSpPr/>
          <p:nvPr/>
        </p:nvSpPr>
        <p:spPr>
          <a:xfrm>
            <a:off x="8092440" y="5727700"/>
            <a:ext cx="3611880" cy="658876"/>
          </a:xfrm>
          <a:prstGeom prst="roundRect">
            <a:avLst>
              <a:gd name="adj" fmla="val 11103"/>
            </a:avLst>
          </a:prstGeom>
          <a:solidFill>
            <a:schemeClr val="accent1">
              <a:alpha val="10000"/>
            </a:schemeClr>
          </a:solidFill>
          <a:ln w="9525">
            <a:solidFill>
              <a:schemeClr val="accent1">
                <a:alpha val="45000"/>
              </a:schemeClr>
            </a:solidFill>
            <a:prstDash val="solid"/>
          </a:ln>
        </p:spPr>
      </p:sp>
      <p:pic>
        <p:nvPicPr>
          <p:cNvPr id="25" name="Image 1" descr="Mẹo">    </p:cNvPr>
          <p:cNvPicPr>
            <a:picLocks noChangeAspect="1"/>
          </p:cNvPicPr>
          <p:nvPr/>
        </p:nvPicPr>
        <p:blipFill>
          <a:blip r:embed="rId2"/>
          <a:stretch>
            <a:fillRect/>
          </a:stretch>
        </p:blipFill>
        <p:spPr>
          <a:xfrm>
            <a:off x="8257032" y="5874004"/>
            <a:ext cx="274320" cy="274320"/>
          </a:xfrm>
          <a:prstGeom prst="rect">
            <a:avLst/>
          </a:prstGeom>
        </p:spPr>
      </p:pic>
      <p:sp>
        <p:nvSpPr>
          <p:cNvPr id="26" name="Text 22"/>
          <p:cNvSpPr txBox="1"/>
          <p:nvPr/>
        </p:nvSpPr>
        <p:spPr>
          <a:xfrm>
            <a:off x="8641080" y="5800852"/>
            <a:ext cx="2926080" cy="512572"/>
          </a:xfrm>
          <a:prstGeom prst="rect">
            <a:avLst/>
          </a:prstGeom>
          <a:noFill/>
          <a:ln/>
        </p:spPr>
        <p:txBody>
          <a:bodyPr wrap="square" lIns="0" tIns="0" rIns="0" bIns="0" rtlCol="0" anchor="ctr"/>
          <a:lstStyle/>
          <a:p>
            <a:pPr indent="0" marL="0">
              <a:buNone/>
            </a:pPr>
            <a:r>
              <a:rPr lang="en-US" sz="1300" dirty="0">
                <a:solidFill>
                  <a:schemeClr val="tx1"/>
                </a:solidFill>
              </a:rPr>
              <a:t>Bấm một mục bên trái để chuyển trang. Mục đang mở có nền xanh nhạt.</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Phím tắt và máy quét mã vạch</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1 · Làm quen</a:t>
            </a:r>
            <a:endParaRPr lang="en-US" sz="1200" dirty="0"/>
          </a:p>
        </p:txBody>
      </p:sp>
      <p:sp>
        <p:nvSpPr>
          <p:cNvPr id="4" name="Text 2"/>
          <p:cNvSpPr txBox="1"/>
          <p:nvPr/>
        </p:nvSpPr>
        <p:spPr>
          <a:xfrm>
            <a:off x="502920" y="1325880"/>
            <a:ext cx="1143000" cy="713232"/>
          </a:xfrm>
          <a:prstGeom prst="roundRect">
            <a:avLst>
              <a:gd name="adj" fmla="val 12821"/>
            </a:avLst>
          </a:prstGeom>
          <a:solidFill>
            <a:schemeClr val="bg1"/>
          </a:solidFill>
          <a:ln w="15875">
            <a:solidFill>
              <a:schemeClr val="accent5"/>
            </a:solidFill>
          </a:ln>
          <a:effectLst>
            <a:outerShdw sx="100000" sy="100000" kx="0" ky="0" algn="bl" rotWithShape="0" blurRad="101600" dist="38100" dir="5400000">
              <a:srgbClr val="000000">
                <a:alpha val="20000"/>
              </a:srgbClr>
            </a:outerShdw>
          </a:effectLst>
        </p:spPr>
        <p:txBody>
          <a:bodyPr wrap="square" lIns="0" tIns="0" rIns="0" bIns="0" rtlCol="0" anchor="ctr"/>
          <a:lstStyle/>
          <a:p>
            <a:pPr algn="ctr" indent="0" marL="0">
              <a:buNone/>
            </a:pPr>
            <a:r>
              <a:rPr lang="en-US" sz="2200" b="1" dirty="0">
                <a:solidFill>
                  <a:schemeClr val="tx2"/>
                </a:solidFill>
              </a:rPr>
              <a:t>F2</a:t>
            </a:r>
            <a:endParaRPr lang="en-US" sz="2200" dirty="0"/>
          </a:p>
        </p:txBody>
      </p:sp>
      <p:sp>
        <p:nvSpPr>
          <p:cNvPr id="5" name="Text 3"/>
          <p:cNvSpPr txBox="1"/>
          <p:nvPr/>
        </p:nvSpPr>
        <p:spPr>
          <a:xfrm>
            <a:off x="1828800" y="1325880"/>
            <a:ext cx="2103120" cy="713232"/>
          </a:xfrm>
          <a:prstGeom prst="rect">
            <a:avLst/>
          </a:prstGeom>
          <a:noFill/>
          <a:ln/>
        </p:spPr>
        <p:txBody>
          <a:bodyPr wrap="square" lIns="0" tIns="0" rIns="0" bIns="0" rtlCol="0" anchor="ctr"/>
          <a:lstStyle/>
          <a:p>
            <a:pPr indent="0" marL="0">
              <a:buNone/>
            </a:pPr>
            <a:r>
              <a:rPr lang="en-US" sz="1400" dirty="0">
                <a:solidFill>
                  <a:schemeClr val="tx1"/>
                </a:solidFill>
              </a:rPr>
              <a:t>Đưa con trỏ về ô quét</a:t>
            </a:r>
            <a:endParaRPr lang="en-US" sz="1400" dirty="0"/>
          </a:p>
        </p:txBody>
      </p:sp>
      <p:sp>
        <p:nvSpPr>
          <p:cNvPr id="6" name="Text 4"/>
          <p:cNvSpPr txBox="1"/>
          <p:nvPr/>
        </p:nvSpPr>
        <p:spPr>
          <a:xfrm>
            <a:off x="4023360" y="1325880"/>
            <a:ext cx="1143000" cy="713232"/>
          </a:xfrm>
          <a:prstGeom prst="roundRect">
            <a:avLst>
              <a:gd name="adj" fmla="val 12821"/>
            </a:avLst>
          </a:prstGeom>
          <a:solidFill>
            <a:schemeClr val="bg1"/>
          </a:solidFill>
          <a:ln w="15875">
            <a:solidFill>
              <a:schemeClr val="accent5"/>
            </a:solidFill>
          </a:ln>
          <a:effectLst>
            <a:outerShdw sx="100000" sy="100000" kx="0" ky="0" algn="bl" rotWithShape="0" blurRad="101600" dist="38100" dir="5400000">
              <a:srgbClr val="000000">
                <a:alpha val="20000"/>
              </a:srgbClr>
            </a:outerShdw>
          </a:effectLst>
        </p:spPr>
        <p:txBody>
          <a:bodyPr wrap="square" lIns="0" tIns="0" rIns="0" bIns="0" rtlCol="0" anchor="ctr"/>
          <a:lstStyle/>
          <a:p>
            <a:pPr algn="ctr" indent="0" marL="0">
              <a:buNone/>
            </a:pPr>
            <a:r>
              <a:rPr lang="en-US" sz="2200" b="1" dirty="0">
                <a:solidFill>
                  <a:schemeClr val="tx2"/>
                </a:solidFill>
              </a:rPr>
              <a:t>F4</a:t>
            </a:r>
            <a:endParaRPr lang="en-US" sz="2200" dirty="0"/>
          </a:p>
        </p:txBody>
      </p:sp>
      <p:sp>
        <p:nvSpPr>
          <p:cNvPr id="7" name="Text 5"/>
          <p:cNvSpPr txBox="1"/>
          <p:nvPr/>
        </p:nvSpPr>
        <p:spPr>
          <a:xfrm>
            <a:off x="5349240" y="1325880"/>
            <a:ext cx="2103120" cy="713232"/>
          </a:xfrm>
          <a:prstGeom prst="rect">
            <a:avLst/>
          </a:prstGeom>
          <a:noFill/>
          <a:ln/>
        </p:spPr>
        <p:txBody>
          <a:bodyPr wrap="square" lIns="0" tIns="0" rIns="0" bIns="0" rtlCol="0" anchor="ctr"/>
          <a:lstStyle/>
          <a:p>
            <a:pPr indent="0" marL="0">
              <a:buNone/>
            </a:pPr>
            <a:r>
              <a:rPr lang="en-US" sz="1400" dirty="0">
                <a:solidFill>
                  <a:schemeClr val="tx1"/>
                </a:solidFill>
              </a:rPr>
              <a:t>Thêm món ngoài</a:t>
            </a:r>
            <a:endParaRPr lang="en-US" sz="1400" dirty="0"/>
          </a:p>
        </p:txBody>
      </p:sp>
      <p:sp>
        <p:nvSpPr>
          <p:cNvPr id="8" name="Text 6"/>
          <p:cNvSpPr txBox="1"/>
          <p:nvPr/>
        </p:nvSpPr>
        <p:spPr>
          <a:xfrm>
            <a:off x="502920" y="2468880"/>
            <a:ext cx="1143000" cy="713232"/>
          </a:xfrm>
          <a:prstGeom prst="roundRect">
            <a:avLst>
              <a:gd name="adj" fmla="val 12821"/>
            </a:avLst>
          </a:prstGeom>
          <a:solidFill>
            <a:schemeClr val="bg1"/>
          </a:solidFill>
          <a:ln w="15875">
            <a:solidFill>
              <a:schemeClr val="accent5"/>
            </a:solidFill>
          </a:ln>
          <a:effectLst>
            <a:outerShdw sx="100000" sy="100000" kx="0" ky="0" algn="bl" rotWithShape="0" blurRad="101600" dist="38100" dir="5400000">
              <a:srgbClr val="000000">
                <a:alpha val="20000"/>
              </a:srgbClr>
            </a:outerShdw>
          </a:effectLst>
        </p:spPr>
        <p:txBody>
          <a:bodyPr wrap="square" lIns="0" tIns="0" rIns="0" bIns="0" rtlCol="0" anchor="ctr"/>
          <a:lstStyle/>
          <a:p>
            <a:pPr algn="ctr" indent="0" marL="0">
              <a:buNone/>
            </a:pPr>
            <a:r>
              <a:rPr lang="en-US" sz="2200" b="1" dirty="0">
                <a:solidFill>
                  <a:schemeClr val="tx2"/>
                </a:solidFill>
              </a:rPr>
              <a:t>F9</a:t>
            </a:r>
            <a:endParaRPr lang="en-US" sz="2200" dirty="0"/>
          </a:p>
        </p:txBody>
      </p:sp>
      <p:sp>
        <p:nvSpPr>
          <p:cNvPr id="9" name="Text 7"/>
          <p:cNvSpPr txBox="1"/>
          <p:nvPr/>
        </p:nvSpPr>
        <p:spPr>
          <a:xfrm>
            <a:off x="1828800" y="2468880"/>
            <a:ext cx="2103120" cy="713232"/>
          </a:xfrm>
          <a:prstGeom prst="rect">
            <a:avLst/>
          </a:prstGeom>
          <a:noFill/>
          <a:ln/>
        </p:spPr>
        <p:txBody>
          <a:bodyPr wrap="square" lIns="0" tIns="0" rIns="0" bIns="0" rtlCol="0" anchor="ctr"/>
          <a:lstStyle/>
          <a:p>
            <a:pPr indent="0" marL="0">
              <a:buNone/>
            </a:pPr>
            <a:r>
              <a:rPr lang="en-US" sz="1400" dirty="0">
                <a:solidFill>
                  <a:schemeClr val="tx1"/>
                </a:solidFill>
              </a:rPr>
              <a:t>Thanh toán / Lưu phiếu nhập</a:t>
            </a:r>
            <a:endParaRPr lang="en-US" sz="1400" dirty="0"/>
          </a:p>
        </p:txBody>
      </p:sp>
      <p:sp>
        <p:nvSpPr>
          <p:cNvPr id="10" name="Text 8"/>
          <p:cNvSpPr txBox="1"/>
          <p:nvPr/>
        </p:nvSpPr>
        <p:spPr>
          <a:xfrm>
            <a:off x="4023360" y="2468880"/>
            <a:ext cx="1143000" cy="713232"/>
          </a:xfrm>
          <a:prstGeom prst="roundRect">
            <a:avLst>
              <a:gd name="adj" fmla="val 12821"/>
            </a:avLst>
          </a:prstGeom>
          <a:solidFill>
            <a:schemeClr val="bg1"/>
          </a:solidFill>
          <a:ln w="15875">
            <a:solidFill>
              <a:schemeClr val="accent5"/>
            </a:solidFill>
          </a:ln>
          <a:effectLst>
            <a:outerShdw sx="100000" sy="100000" kx="0" ky="0" algn="bl" rotWithShape="0" blurRad="101600" dist="38100" dir="5400000">
              <a:srgbClr val="000000">
                <a:alpha val="20000"/>
              </a:srgbClr>
            </a:outerShdw>
          </a:effectLst>
        </p:spPr>
        <p:txBody>
          <a:bodyPr wrap="square" lIns="0" tIns="0" rIns="0" bIns="0" rtlCol="0" anchor="ctr"/>
          <a:lstStyle/>
          <a:p>
            <a:pPr algn="ctr" indent="0" marL="0">
              <a:buNone/>
            </a:pPr>
            <a:r>
              <a:rPr lang="en-US" sz="2200" b="1" dirty="0">
                <a:solidFill>
                  <a:schemeClr val="tx2"/>
                </a:solidFill>
              </a:rPr>
              <a:t>Esc</a:t>
            </a:r>
            <a:endParaRPr lang="en-US" sz="2200" dirty="0"/>
          </a:p>
        </p:txBody>
      </p:sp>
      <p:sp>
        <p:nvSpPr>
          <p:cNvPr id="11" name="Text 9"/>
          <p:cNvSpPr txBox="1"/>
          <p:nvPr/>
        </p:nvSpPr>
        <p:spPr>
          <a:xfrm>
            <a:off x="5349240" y="2468880"/>
            <a:ext cx="2103120" cy="713232"/>
          </a:xfrm>
          <a:prstGeom prst="rect">
            <a:avLst/>
          </a:prstGeom>
          <a:noFill/>
          <a:ln/>
        </p:spPr>
        <p:txBody>
          <a:bodyPr wrap="square" lIns="0" tIns="0" rIns="0" bIns="0" rtlCol="0" anchor="ctr"/>
          <a:lstStyle/>
          <a:p>
            <a:pPr indent="0" marL="0">
              <a:buNone/>
            </a:pPr>
            <a:r>
              <a:rPr lang="en-US" sz="1400" dirty="0">
                <a:solidFill>
                  <a:schemeClr val="tx1"/>
                </a:solidFill>
              </a:rPr>
              <a:t>Đóng hộp thoại</a:t>
            </a:r>
            <a:endParaRPr lang="en-US" sz="1400" dirty="0"/>
          </a:p>
        </p:txBody>
      </p:sp>
      <p:sp>
        <p:nvSpPr>
          <p:cNvPr id="12" name="Text 10"/>
          <p:cNvSpPr txBox="1"/>
          <p:nvPr/>
        </p:nvSpPr>
        <p:spPr>
          <a:xfrm>
            <a:off x="502920" y="3611880"/>
            <a:ext cx="1143000" cy="713232"/>
          </a:xfrm>
          <a:prstGeom prst="roundRect">
            <a:avLst>
              <a:gd name="adj" fmla="val 12821"/>
            </a:avLst>
          </a:prstGeom>
          <a:solidFill>
            <a:schemeClr val="bg1"/>
          </a:solidFill>
          <a:ln w="15875">
            <a:solidFill>
              <a:schemeClr val="accent5"/>
            </a:solidFill>
          </a:ln>
          <a:effectLst>
            <a:outerShdw sx="100000" sy="100000" kx="0" ky="0" algn="bl" rotWithShape="0" blurRad="101600" dist="38100" dir="5400000">
              <a:srgbClr val="000000">
                <a:alpha val="20000"/>
              </a:srgbClr>
            </a:outerShdw>
          </a:effectLst>
        </p:spPr>
        <p:txBody>
          <a:bodyPr wrap="square" lIns="0" tIns="0" rIns="0" bIns="0" rtlCol="0" anchor="ctr"/>
          <a:lstStyle/>
          <a:p>
            <a:pPr algn="ctr" indent="0" marL="0">
              <a:buNone/>
            </a:pPr>
            <a:r>
              <a:rPr lang="en-US" sz="2200" b="1" dirty="0">
                <a:solidFill>
                  <a:schemeClr val="tx2"/>
                </a:solidFill>
              </a:rPr>
              <a:t>Enter</a:t>
            </a:r>
            <a:endParaRPr lang="en-US" sz="2200" dirty="0"/>
          </a:p>
        </p:txBody>
      </p:sp>
      <p:sp>
        <p:nvSpPr>
          <p:cNvPr id="13" name="Text 11"/>
          <p:cNvSpPr txBox="1"/>
          <p:nvPr/>
        </p:nvSpPr>
        <p:spPr>
          <a:xfrm>
            <a:off x="1828800" y="3611880"/>
            <a:ext cx="2103120" cy="713232"/>
          </a:xfrm>
          <a:prstGeom prst="rect">
            <a:avLst/>
          </a:prstGeom>
          <a:noFill/>
          <a:ln/>
        </p:spPr>
        <p:txBody>
          <a:bodyPr wrap="square" lIns="0" tIns="0" rIns="0" bIns="0" rtlCol="0" anchor="ctr"/>
          <a:lstStyle/>
          <a:p>
            <a:pPr indent="0" marL="0">
              <a:buNone/>
            </a:pPr>
            <a:r>
              <a:rPr lang="en-US" sz="1400" dirty="0">
                <a:solidFill>
                  <a:schemeClr val="tx1"/>
                </a:solidFill>
              </a:rPr>
              <a:t>Xác nhận trong hộp thoại</a:t>
            </a:r>
            <a:endParaRPr lang="en-US" sz="1400" dirty="0"/>
          </a:p>
        </p:txBody>
      </p:sp>
      <p:sp>
        <p:nvSpPr>
          <p:cNvPr id="14" name="Text 12"/>
          <p:cNvSpPr txBox="1"/>
          <p:nvPr/>
        </p:nvSpPr>
        <p:spPr>
          <a:xfrm>
            <a:off x="4023360" y="3611880"/>
            <a:ext cx="1143000" cy="713232"/>
          </a:xfrm>
          <a:prstGeom prst="roundRect">
            <a:avLst>
              <a:gd name="adj" fmla="val 12821"/>
            </a:avLst>
          </a:prstGeom>
          <a:solidFill>
            <a:schemeClr val="bg1"/>
          </a:solidFill>
          <a:ln w="15875">
            <a:solidFill>
              <a:schemeClr val="accent5"/>
            </a:solidFill>
          </a:ln>
          <a:effectLst>
            <a:outerShdw sx="100000" sy="100000" kx="0" ky="0" algn="bl" rotWithShape="0" blurRad="101600" dist="38100" dir="5400000">
              <a:srgbClr val="000000">
                <a:alpha val="20000"/>
              </a:srgbClr>
            </a:outerShdw>
          </a:effectLst>
        </p:spPr>
        <p:txBody>
          <a:bodyPr wrap="square" lIns="0" tIns="0" rIns="0" bIns="0" rtlCol="0" anchor="ctr"/>
          <a:lstStyle/>
          <a:p>
            <a:pPr algn="ctr" indent="0" marL="0">
              <a:buNone/>
            </a:pPr>
            <a:r>
              <a:rPr lang="en-US" sz="2200" b="1" dirty="0">
                <a:solidFill>
                  <a:schemeClr val="tx2"/>
                </a:solidFill>
              </a:rPr>
              <a:t>↑  ↓</a:t>
            </a:r>
            <a:endParaRPr lang="en-US" sz="2200" dirty="0"/>
          </a:p>
        </p:txBody>
      </p:sp>
      <p:sp>
        <p:nvSpPr>
          <p:cNvPr id="15" name="Text 13"/>
          <p:cNvSpPr txBox="1"/>
          <p:nvPr/>
        </p:nvSpPr>
        <p:spPr>
          <a:xfrm>
            <a:off x="5349240" y="3611880"/>
            <a:ext cx="2103120" cy="713232"/>
          </a:xfrm>
          <a:prstGeom prst="rect">
            <a:avLst/>
          </a:prstGeom>
          <a:noFill/>
          <a:ln/>
        </p:spPr>
        <p:txBody>
          <a:bodyPr wrap="square" lIns="0" tIns="0" rIns="0" bIns="0" rtlCol="0" anchor="ctr"/>
          <a:lstStyle/>
          <a:p>
            <a:pPr indent="0" marL="0">
              <a:buNone/>
            </a:pPr>
            <a:r>
              <a:rPr lang="en-US" sz="1400" dirty="0">
                <a:solidFill>
                  <a:schemeClr val="tx1"/>
                </a:solidFill>
              </a:rPr>
              <a:t>Chọn trong danh sách gợi ý</a:t>
            </a:r>
            <a:endParaRPr lang="en-US" sz="1400" dirty="0"/>
          </a:p>
        </p:txBody>
      </p:sp>
      <p:sp>
        <p:nvSpPr>
          <p:cNvPr id="16" name="Text 14"/>
          <p:cNvSpPr txBox="1"/>
          <p:nvPr/>
        </p:nvSpPr>
        <p:spPr>
          <a:xfrm>
            <a:off x="502920" y="4754880"/>
            <a:ext cx="1143000" cy="713232"/>
          </a:xfrm>
          <a:prstGeom prst="roundRect">
            <a:avLst>
              <a:gd name="adj" fmla="val 12821"/>
            </a:avLst>
          </a:prstGeom>
          <a:solidFill>
            <a:schemeClr val="bg1"/>
          </a:solidFill>
          <a:ln w="15875">
            <a:solidFill>
              <a:schemeClr val="accent5"/>
            </a:solidFill>
          </a:ln>
          <a:effectLst>
            <a:outerShdw sx="100000" sy="100000" kx="0" ky="0" algn="bl" rotWithShape="0" blurRad="101600" dist="38100" dir="5400000">
              <a:srgbClr val="000000">
                <a:alpha val="20000"/>
              </a:srgbClr>
            </a:outerShdw>
          </a:effectLst>
        </p:spPr>
        <p:txBody>
          <a:bodyPr wrap="square" lIns="0" tIns="0" rIns="0" bIns="0" rtlCol="0" anchor="ctr"/>
          <a:lstStyle/>
          <a:p>
            <a:pPr algn="ctr" indent="0" marL="0">
              <a:buNone/>
            </a:pPr>
            <a:r>
              <a:rPr lang="en-US" sz="2200" b="1" dirty="0">
                <a:solidFill>
                  <a:schemeClr val="tx2"/>
                </a:solidFill>
              </a:rPr>
              <a:t>/</a:t>
            </a:r>
            <a:endParaRPr lang="en-US" sz="2200" dirty="0"/>
          </a:p>
        </p:txBody>
      </p:sp>
      <p:sp>
        <p:nvSpPr>
          <p:cNvPr id="17" name="Text 15"/>
          <p:cNvSpPr txBox="1"/>
          <p:nvPr/>
        </p:nvSpPr>
        <p:spPr>
          <a:xfrm>
            <a:off x="1828800" y="4754880"/>
            <a:ext cx="2103120" cy="713232"/>
          </a:xfrm>
          <a:prstGeom prst="rect">
            <a:avLst/>
          </a:prstGeom>
          <a:noFill/>
          <a:ln/>
        </p:spPr>
        <p:txBody>
          <a:bodyPr wrap="square" lIns="0" tIns="0" rIns="0" bIns="0" rtlCol="0" anchor="ctr"/>
          <a:lstStyle/>
          <a:p>
            <a:pPr indent="0" marL="0">
              <a:buNone/>
            </a:pPr>
            <a:r>
              <a:rPr lang="en-US" sz="1400" dirty="0">
                <a:solidFill>
                  <a:schemeClr val="tx1"/>
                </a:solidFill>
              </a:rPr>
              <a:t>Tìm nhanh ở trang Sản phẩm</a:t>
            </a:r>
            <a:endParaRPr lang="en-US" sz="1400" dirty="0"/>
          </a:p>
        </p:txBody>
      </p:sp>
      <p:sp>
        <p:nvSpPr>
          <p:cNvPr id="18" name="Shape 16"/>
          <p:cNvSpPr/>
          <p:nvPr/>
        </p:nvSpPr>
        <p:spPr>
          <a:xfrm>
            <a:off x="7726680" y="1325880"/>
            <a:ext cx="3977640" cy="4892040"/>
          </a:xfrm>
          <a:prstGeom prst="roundRect">
            <a:avLst>
              <a:gd name="adj" fmla="val 2299"/>
            </a:avLst>
          </a:prstGeom>
          <a:solidFill>
            <a:schemeClr val="bg2"/>
          </a:solidFill>
          <a:ln w="12700">
            <a:solidFill>
              <a:schemeClr val="bg2"/>
            </a:solidFill>
            <a:prstDash val="solid"/>
          </a:ln>
        </p:spPr>
      </p:sp>
      <p:sp>
        <p:nvSpPr>
          <p:cNvPr id="19" name="Shape 17"/>
          <p:cNvSpPr/>
          <p:nvPr/>
        </p:nvSpPr>
        <p:spPr>
          <a:xfrm>
            <a:off x="8001000" y="1600200"/>
            <a:ext cx="640080" cy="640080"/>
          </a:xfrm>
          <a:prstGeom prst="ellipse">
            <a:avLst/>
          </a:prstGeom>
          <a:solidFill>
            <a:schemeClr val="accent1"/>
          </a:solidFill>
          <a:ln/>
        </p:spPr>
      </p:sp>
      <p:pic>
        <p:nvPicPr>
          <p:cNvPr id="20" name="Image 0" descr="Máy quét">    </p:cNvPr>
          <p:cNvPicPr>
            <a:picLocks noChangeAspect="1"/>
          </p:cNvPicPr>
          <p:nvPr/>
        </p:nvPicPr>
        <p:blipFill>
          <a:blip r:embed="rId1"/>
          <a:stretch>
            <a:fillRect/>
          </a:stretch>
        </p:blipFill>
        <p:spPr>
          <a:xfrm>
            <a:off x="8147304" y="1746504"/>
            <a:ext cx="347472" cy="347472"/>
          </a:xfrm>
          <a:prstGeom prst="rect">
            <a:avLst/>
          </a:prstGeom>
        </p:spPr>
      </p:pic>
      <p:sp>
        <p:nvSpPr>
          <p:cNvPr id="21" name="Text 18"/>
          <p:cNvSpPr txBox="1"/>
          <p:nvPr/>
        </p:nvSpPr>
        <p:spPr>
          <a:xfrm>
            <a:off x="8823960" y="1645920"/>
            <a:ext cx="2926080" cy="548640"/>
          </a:xfrm>
          <a:prstGeom prst="rect">
            <a:avLst/>
          </a:prstGeom>
          <a:noFill/>
          <a:ln/>
        </p:spPr>
        <p:txBody>
          <a:bodyPr wrap="square" lIns="0" tIns="0" rIns="0" bIns="0" rtlCol="0" anchor="ctr"/>
          <a:lstStyle/>
          <a:p>
            <a:pPr indent="0" marL="0">
              <a:buNone/>
            </a:pPr>
            <a:r>
              <a:rPr lang="en-US" sz="1800" b="1" dirty="0">
                <a:solidFill>
                  <a:schemeClr val="tx2"/>
                </a:solidFill>
              </a:rPr>
              <a:t>Máy quét mã vạch</a:t>
            </a:r>
            <a:endParaRPr lang="en-US" sz="1800" dirty="0"/>
          </a:p>
        </p:txBody>
      </p:sp>
      <p:sp>
        <p:nvSpPr>
          <p:cNvPr id="22" name="Text 19"/>
          <p:cNvSpPr txBox="1"/>
          <p:nvPr/>
        </p:nvSpPr>
        <p:spPr>
          <a:xfrm>
            <a:off x="8046720" y="2468880"/>
            <a:ext cx="3429000" cy="3566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Chỉ cần bắn mã khi ô quét đang có viền xanh. Máy quét tự gõ mã và bấm Enter.</a:t>
            </a:r>
            <a:endParaRPr lang="en-US" sz="1400" dirty="0"/>
          </a:p>
          <a:p>
            <a:pPr marL="342900" indent="-342900">
              <a:spcAft>
                <a:spcPts val="800"/>
              </a:spcAft>
              <a:buSzPct val="100000"/>
              <a:buChar char="•"/>
            </a:pPr>
            <a:r>
              <a:rPr lang="en-US" sz="1400" dirty="0">
                <a:solidFill>
                  <a:schemeClr val="tx1"/>
                </a:solidFill>
              </a:rPr>
              <a:t>Bắn mã trên lon → bán 1 lon. Bắn mã trên thùng / lốc → bán nguyên thùng / lốc đúng giá.</a:t>
            </a:r>
            <a:endParaRPr lang="en-US" sz="1400" dirty="0"/>
          </a:p>
          <a:p>
            <a:pPr marL="342900" indent="-342900">
              <a:spcAft>
                <a:spcPts val="800"/>
              </a:spcAft>
              <a:buSzPct val="100000"/>
              <a:buChar char="•"/>
            </a:pPr>
            <a:r>
              <a:rPr lang="en-US" sz="1400" dirty="0">
                <a:solidFill>
                  <a:schemeClr val="tx1"/>
                </a:solidFill>
              </a:rPr>
              <a:t>Lỡ bấm chuột ra chỗ khác: bấm F2 rồi bắn lại.</a:t>
            </a:r>
            <a:endParaRPr lang="en-US" sz="1400" dirty="0"/>
          </a:p>
          <a:p>
            <a:pPr marL="342900" indent="-342900">
              <a:spcAft>
                <a:spcPts val="800"/>
              </a:spcAft>
              <a:buSzPct val="100000"/>
              <a:buChar char="•"/>
            </a:pPr>
            <a:r>
              <a:rPr lang="en-US" sz="1400" dirty="0">
                <a:solidFill>
                  <a:schemeClr val="tx1"/>
                </a:solidFill>
              </a:rPr>
              <a:t>Dùng được ở Bán hàng, Nhập hàng, Trả NCC, Kiểm kê, In tem, Nhập nhanh, và ô Mã vạch khi thêm sản phẩm.</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1097280"/>
            <a:ext cx="2743200" cy="1188720"/>
          </a:xfrm>
          <a:prstGeom prst="rect">
            <a:avLst/>
          </a:prstGeom>
          <a:noFill/>
          <a:ln/>
        </p:spPr>
        <p:txBody>
          <a:bodyPr wrap="square" lIns="0" tIns="0" rIns="0" bIns="0" rtlCol="0" anchor="ctr"/>
          <a:lstStyle/>
          <a:p>
            <a:pPr indent="0" marL="0">
              <a:buNone/>
            </a:pPr>
            <a:r>
              <a:rPr lang="en-US" sz="8000" b="1" dirty="0">
                <a:solidFill>
                  <a:srgbClr val="FDBA74"/>
                </a:solidFill>
              </a:rPr>
              <a:t>02</a:t>
            </a:r>
            <a:endParaRPr lang="en-US" sz="8000" dirty="0"/>
          </a:p>
        </p:txBody>
      </p:sp>
      <p:sp>
        <p:nvSpPr>
          <p:cNvPr id="3" name="Text 0"/>
          <p:cNvSpPr/>
          <p:nvPr>
            <p:ph idx="100" type="title" hasCustomPrompt="1"/>
          </p:nvPr>
        </p:nvSpPr>
        <p:spPr>
          <a:xfrm>
            <a:off x="731520" y="2331720"/>
            <a:ext cx="5669280" cy="1463040"/>
          </a:xfrm>
          <a:prstGeom prst="rect">
            <a:avLst/>
          </a:prstGeom>
          <a:noFill/>
          <a:ln/>
        </p:spPr>
        <p:txBody>
          <a:bodyPr wrap="square" lIns="0" tIns="0" rIns="0" bIns="0" rtlCol="0" anchor="t"/>
          <a:lstStyle/>
          <a:p>
            <a:pPr algn="l" indent="0" marL="0">
              <a:buNone/>
            </a:pPr>
            <a:r>
              <a:rPr lang="en-US" sz="4400" b="1" dirty="0">
                <a:solidFill>
                  <a:schemeClr val="bg1"/>
                </a:solidFill>
              </a:rPr>
              <a:t>Bán hàng</a:t>
            </a:r>
            <a:endParaRPr lang="en-US" sz="4400" dirty="0"/>
          </a:p>
        </p:txBody>
      </p:sp>
      <p:sp>
        <p:nvSpPr>
          <p:cNvPr id="4" name="Shape 2"/>
          <p:cNvSpPr/>
          <p:nvPr/>
        </p:nvSpPr>
        <p:spPr>
          <a:xfrm>
            <a:off x="6903720" y="1051560"/>
            <a:ext cx="4754880" cy="4754880"/>
          </a:xfrm>
          <a:prstGeom prst="roundRect">
            <a:avLst>
              <a:gd name="adj" fmla="val 3846"/>
            </a:avLst>
          </a:prstGeom>
          <a:solidFill>
            <a:schemeClr val="bg1">
              <a:alpha val="8000"/>
            </a:schemeClr>
          </a:solidFill>
          <a:ln w="9525">
            <a:solidFill>
              <a:schemeClr val="bg1">
                <a:alpha val="20000"/>
              </a:schemeClr>
            </a:solidFill>
            <a:prstDash val="solid"/>
          </a:ln>
        </p:spPr>
      </p:sp>
      <p:pic>
        <p:nvPicPr>
          <p:cNvPr id="5" name="Image 0" descr="Bán hàng">    </p:cNvPr>
          <p:cNvPicPr>
            <a:picLocks noChangeAspect="1"/>
          </p:cNvPicPr>
          <p:nvPr/>
        </p:nvPicPr>
        <p:blipFill>
          <a:blip r:embed="rId1"/>
          <a:stretch>
            <a:fillRect/>
          </a:stretch>
        </p:blipFill>
        <p:spPr>
          <a:xfrm>
            <a:off x="7269480" y="1371600"/>
            <a:ext cx="548640" cy="548640"/>
          </a:xfrm>
          <a:prstGeom prst="rect">
            <a:avLst/>
          </a:prstGeom>
        </p:spPr>
      </p:pic>
      <p:sp>
        <p:nvSpPr>
          <p:cNvPr id="6" name="Text 3"/>
          <p:cNvSpPr txBox="1"/>
          <p:nvPr/>
        </p:nvSpPr>
        <p:spPr>
          <a:xfrm>
            <a:off x="8001000" y="1417320"/>
            <a:ext cx="3474720" cy="457200"/>
          </a:xfrm>
          <a:prstGeom prst="rect">
            <a:avLst/>
          </a:prstGeom>
          <a:noFill/>
          <a:ln/>
        </p:spPr>
        <p:txBody>
          <a:bodyPr wrap="square" lIns="0" tIns="0" rIns="0" bIns="0" rtlCol="0" anchor="ctr"/>
          <a:lstStyle/>
          <a:p>
            <a:pPr indent="0" marL="0">
              <a:buNone/>
            </a:pPr>
            <a:r>
              <a:rPr lang="en-US" sz="1600" b="1" dirty="0">
                <a:solidFill>
                  <a:schemeClr val="bg1"/>
                </a:solidFill>
              </a:rPr>
              <a:t>Trong phần này</a:t>
            </a:r>
            <a:endParaRPr lang="en-US" sz="1600" dirty="0"/>
          </a:p>
        </p:txBody>
      </p:sp>
      <p:sp>
        <p:nvSpPr>
          <p:cNvPr id="7" name="Text 4"/>
          <p:cNvSpPr txBox="1"/>
          <p:nvPr/>
        </p:nvSpPr>
        <p:spPr>
          <a:xfrm>
            <a:off x="7269480" y="2148840"/>
            <a:ext cx="4114800" cy="347472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chemeClr val="bg1"/>
                </a:solidFill>
              </a:rPr>
              <a:t>Màn hình Bán hàng</a:t>
            </a:r>
            <a:endParaRPr lang="en-US" sz="1700" dirty="0"/>
          </a:p>
          <a:p>
            <a:pPr marL="342900" indent="-342900">
              <a:spcAft>
                <a:spcPts val="900"/>
              </a:spcAft>
              <a:buSzPct val="100000"/>
              <a:buChar char="•"/>
            </a:pPr>
            <a:r>
              <a:rPr lang="en-US" sz="1700" dirty="0">
                <a:solidFill>
                  <a:schemeClr val="bg1"/>
                </a:solidFill>
              </a:rPr>
              <a:t>Thêm hàng, sửa giỏ</a:t>
            </a:r>
            <a:endParaRPr lang="en-US" sz="1700" dirty="0"/>
          </a:p>
          <a:p>
            <a:pPr marL="342900" indent="-342900">
              <a:spcAft>
                <a:spcPts val="900"/>
              </a:spcAft>
              <a:buSzPct val="100000"/>
              <a:buChar char="•"/>
            </a:pPr>
            <a:r>
              <a:rPr lang="en-US" sz="1700" dirty="0">
                <a:solidFill>
                  <a:schemeClr val="bg1"/>
                </a:solidFill>
              </a:rPr>
              <a:t>Hàng cân và món ngoài</a:t>
            </a:r>
            <a:endParaRPr lang="en-US" sz="1700" dirty="0"/>
          </a:p>
          <a:p>
            <a:pPr marL="342900" indent="-342900">
              <a:spcAft>
                <a:spcPts val="900"/>
              </a:spcAft>
              <a:buSzPct val="100000"/>
              <a:buChar char="•"/>
            </a:pPr>
            <a:r>
              <a:rPr lang="en-US" sz="1700" dirty="0">
                <a:solidFill>
                  <a:schemeClr val="bg1"/>
                </a:solidFill>
              </a:rPr>
              <a:t>Tiền mặt, chuyển khoản, ghi nợ</a:t>
            </a:r>
            <a:endParaRPr lang="en-US" sz="1700" dirty="0"/>
          </a:p>
          <a:p>
            <a:pPr marL="342900" indent="-342900">
              <a:spcAft>
                <a:spcPts val="900"/>
              </a:spcAft>
              <a:buSzPct val="100000"/>
              <a:buChar char="•"/>
            </a:pPr>
            <a:r>
              <a:rPr lang="en-US" sz="1700" dirty="0">
                <a:solidFill>
                  <a:schemeClr val="bg1"/>
                </a:solidFill>
              </a:rPr>
              <a:t>Đơn chờ và cửa sổ quầy</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Màn hình Bán hàng</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2 · Bán hàng</a:t>
            </a:r>
            <a:endParaRPr lang="en-US" sz="1200" dirty="0"/>
          </a:p>
        </p:txBody>
      </p:sp>
      <p:sp>
        <p:nvSpPr>
          <p:cNvPr id="4" name="sell-cart-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sell-cart" descr="sell-cart">    </p:cNvPr>
          <p:cNvPicPr>
            <a:picLocks noChangeAspect="1"/>
          </p:cNvPicPr>
          <p:nvPr/>
        </p:nvPicPr>
        <p:blipFill>
          <a:blip r:embed="rId1"/>
          <a:stretch>
            <a:fillRect/>
          </a:stretch>
        </p:blipFill>
        <p:spPr>
          <a:xfrm>
            <a:off x="502920" y="1234440"/>
            <a:ext cx="7269480" cy="4089083"/>
          </a:xfrm>
          <a:prstGeom prst="rect">
            <a:avLst/>
          </a:prstGeom>
        </p:spPr>
      </p:pic>
      <p:sp>
        <p:nvSpPr>
          <p:cNvPr id="6" name="so-1"/>
          <p:cNvSpPr txBox="1"/>
          <p:nvPr/>
        </p:nvSpPr>
        <p:spPr>
          <a:xfrm>
            <a:off x="1777079" y="1448467"/>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o-2"/>
          <p:cNvSpPr txBox="1"/>
          <p:nvPr/>
        </p:nvSpPr>
        <p:spPr>
          <a:xfrm>
            <a:off x="1758148" y="1827086"/>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8" name="so-3"/>
          <p:cNvSpPr txBox="1"/>
          <p:nvPr/>
        </p:nvSpPr>
        <p:spPr>
          <a:xfrm>
            <a:off x="1852803" y="2319290"/>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9" name="so-4"/>
          <p:cNvSpPr txBox="1"/>
          <p:nvPr/>
        </p:nvSpPr>
        <p:spPr>
          <a:xfrm>
            <a:off x="6547676" y="173243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0" name="so-5"/>
          <p:cNvSpPr txBox="1"/>
          <p:nvPr/>
        </p:nvSpPr>
        <p:spPr>
          <a:xfrm>
            <a:off x="5620060" y="2205704"/>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1" name="so-6"/>
          <p:cNvSpPr txBox="1"/>
          <p:nvPr/>
        </p:nvSpPr>
        <p:spPr>
          <a:xfrm>
            <a:off x="5620060" y="2663833"/>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2" name="so-7"/>
          <p:cNvSpPr txBox="1"/>
          <p:nvPr/>
        </p:nvSpPr>
        <p:spPr>
          <a:xfrm>
            <a:off x="5620060" y="299323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13" name="so-8"/>
          <p:cNvSpPr txBox="1"/>
          <p:nvPr/>
        </p:nvSpPr>
        <p:spPr>
          <a:xfrm>
            <a:off x="5620060" y="4697016"/>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14"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5" name="buoc-1"/>
          <p:cNvSpPr txBox="1"/>
          <p:nvPr/>
        </p:nvSpPr>
        <p:spPr>
          <a:xfrm>
            <a:off x="8567928" y="1280160"/>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Ô quét:</a:t>
            </a:r>
            <a:pPr indent="0" marL="0">
              <a:buNone/>
            </a:pPr>
            <a:r>
              <a:rPr lang="en-US" sz="1350" dirty="0">
                <a:solidFill>
                  <a:schemeClr val="tx1"/>
                </a:solidFill>
              </a:rPr>
              <a:t> bắn mã vạch hoặc gõ tên hàng.</a:t>
            </a:r>
            <a:endParaRPr lang="en-US" sz="1350" dirty="0"/>
          </a:p>
        </p:txBody>
      </p:sp>
      <p:sp>
        <p:nvSpPr>
          <p:cNvPr id="16" name="so-2"/>
          <p:cNvSpPr txBox="1"/>
          <p:nvPr/>
        </p:nvSpPr>
        <p:spPr>
          <a:xfrm>
            <a:off x="8101584" y="17556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7" name="buoc-2"/>
          <p:cNvSpPr txBox="1"/>
          <p:nvPr/>
        </p:nvSpPr>
        <p:spPr>
          <a:xfrm>
            <a:off x="8567928" y="1737360"/>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Đơn hiện tại</a:t>
            </a:r>
            <a:pPr indent="0" marL="0">
              <a:buNone/>
            </a:pPr>
            <a:r>
              <a:rPr lang="en-US" sz="1350" dirty="0">
                <a:solidFill>
                  <a:schemeClr val="tx1"/>
                </a:solidFill>
              </a:rPr>
              <a:t> và các đơn chờ.</a:t>
            </a:r>
            <a:endParaRPr lang="en-US" sz="1350" dirty="0"/>
          </a:p>
        </p:txBody>
      </p:sp>
      <p:sp>
        <p:nvSpPr>
          <p:cNvPr id="18" name="so-3"/>
          <p:cNvSpPr txBox="1"/>
          <p:nvPr/>
        </p:nvSpPr>
        <p:spPr>
          <a:xfrm>
            <a:off x="8101584" y="22128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buoc-3"/>
          <p:cNvSpPr txBox="1"/>
          <p:nvPr/>
        </p:nvSpPr>
        <p:spPr>
          <a:xfrm>
            <a:off x="8567928" y="2194560"/>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Giỏ hàng:</a:t>
            </a:r>
            <a:pPr indent="0" marL="0">
              <a:buNone/>
            </a:pPr>
            <a:r>
              <a:rPr lang="en-US" sz="1350" dirty="0">
                <a:solidFill>
                  <a:schemeClr val="tx1"/>
                </a:solidFill>
              </a:rPr>
              <a:t> sửa giá, số lượng, xóa dòng ngay trên bảng.</a:t>
            </a:r>
            <a:endParaRPr lang="en-US" sz="1350" dirty="0"/>
          </a:p>
        </p:txBody>
      </p:sp>
      <p:sp>
        <p:nvSpPr>
          <p:cNvPr id="20" name="so-4"/>
          <p:cNvSpPr txBox="1"/>
          <p:nvPr/>
        </p:nvSpPr>
        <p:spPr>
          <a:xfrm>
            <a:off x="8101584" y="283235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buoc-4"/>
          <p:cNvSpPr txBox="1"/>
          <p:nvPr/>
        </p:nvSpPr>
        <p:spPr>
          <a:xfrm>
            <a:off x="8567928" y="2814066"/>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Giảm giá</a:t>
            </a:r>
            <a:pPr indent="0" marL="0">
              <a:buNone/>
            </a:pPr>
            <a:r>
              <a:rPr lang="en-US" sz="1350" dirty="0">
                <a:solidFill>
                  <a:schemeClr val="tx1"/>
                </a:solidFill>
              </a:rPr>
              <a:t> cho cả đơn (gõ số tiền).</a:t>
            </a:r>
            <a:endParaRPr lang="en-US" sz="1350" dirty="0"/>
          </a:p>
        </p:txBody>
      </p:sp>
      <p:sp>
        <p:nvSpPr>
          <p:cNvPr id="22" name="so-5"/>
          <p:cNvSpPr txBox="1"/>
          <p:nvPr/>
        </p:nvSpPr>
        <p:spPr>
          <a:xfrm>
            <a:off x="8101584" y="328955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3" name="buoc-5"/>
          <p:cNvSpPr txBox="1"/>
          <p:nvPr/>
        </p:nvSpPr>
        <p:spPr>
          <a:xfrm>
            <a:off x="8567928" y="3271266"/>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Khách phải trả</a:t>
            </a:r>
            <a:pPr indent="0" marL="0">
              <a:buNone/>
            </a:pPr>
            <a:r>
              <a:rPr lang="en-US" sz="1350" dirty="0">
                <a:solidFill>
                  <a:schemeClr val="tx1"/>
                </a:solidFill>
              </a:rPr>
              <a:t> sau giảm giá.</a:t>
            </a:r>
            <a:endParaRPr lang="en-US" sz="1350" dirty="0"/>
          </a:p>
        </p:txBody>
      </p:sp>
      <p:sp>
        <p:nvSpPr>
          <p:cNvPr id="24" name="so-6"/>
          <p:cNvSpPr txBox="1"/>
          <p:nvPr/>
        </p:nvSpPr>
        <p:spPr>
          <a:xfrm>
            <a:off x="8101584" y="374675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5" name="buoc-6"/>
          <p:cNvSpPr txBox="1"/>
          <p:nvPr/>
        </p:nvSpPr>
        <p:spPr>
          <a:xfrm>
            <a:off x="8567928" y="3728466"/>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Thanh toán</a:t>
            </a:r>
            <a:pPr indent="0" marL="0">
              <a:buNone/>
            </a:pPr>
            <a:r>
              <a:rPr lang="en-US" sz="1350" dirty="0">
                <a:solidFill>
                  <a:schemeClr val="tx1"/>
                </a:solidFill>
              </a:rPr>
              <a:t> (hoặc phím F9).</a:t>
            </a:r>
            <a:endParaRPr lang="en-US" sz="1350" dirty="0"/>
          </a:p>
        </p:txBody>
      </p:sp>
      <p:sp>
        <p:nvSpPr>
          <p:cNvPr id="26" name="so-7"/>
          <p:cNvSpPr txBox="1"/>
          <p:nvPr/>
        </p:nvSpPr>
        <p:spPr>
          <a:xfrm>
            <a:off x="8101584" y="420395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27" name="buoc-7"/>
          <p:cNvSpPr txBox="1"/>
          <p:nvPr/>
        </p:nvSpPr>
        <p:spPr>
          <a:xfrm>
            <a:off x="8567928" y="4185666"/>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Cất chờ, Món ngoài, Xóa giỏ.</a:t>
            </a:r>
            <a:endParaRPr lang="en-US" sz="1350" dirty="0"/>
          </a:p>
        </p:txBody>
      </p:sp>
      <p:sp>
        <p:nvSpPr>
          <p:cNvPr id="28" name="so-8"/>
          <p:cNvSpPr txBox="1"/>
          <p:nvPr/>
        </p:nvSpPr>
        <p:spPr>
          <a:xfrm>
            <a:off x="8101584" y="466115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29" name="buoc-8"/>
          <p:cNvSpPr txBox="1"/>
          <p:nvPr/>
        </p:nvSpPr>
        <p:spPr>
          <a:xfrm>
            <a:off x="8567928" y="4642866"/>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Hôm nay:</a:t>
            </a:r>
            <a:pPr indent="0" marL="0">
              <a:buNone/>
            </a:pPr>
            <a:r>
              <a:rPr lang="en-US" sz="1350" dirty="0">
                <a:solidFill>
                  <a:schemeClr val="tx1"/>
                </a:solidFill>
              </a:rPr>
              <a:t> số đơn, tiền mặt, chuyển khoản, ghi nợ trong ngày.</a:t>
            </a:r>
            <a:endParaRPr lang="en-US" sz="135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Thêm hàng vào giỏ</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2 · Bán hàng</a:t>
            </a:r>
            <a:endParaRPr lang="en-US" sz="1200" dirty="0"/>
          </a:p>
        </p:txBody>
      </p:sp>
      <p:sp>
        <p:nvSpPr>
          <p:cNvPr id="4" name="sell-suggest-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sell-suggest" descr="sell-suggest">    </p:cNvPr>
          <p:cNvPicPr>
            <a:picLocks noChangeAspect="1"/>
          </p:cNvPicPr>
          <p:nvPr/>
        </p:nvPicPr>
        <p:blipFill>
          <a:blip r:embed="rId1"/>
          <a:stretch>
            <a:fillRect/>
          </a:stretch>
        </p:blipFill>
        <p:spPr>
          <a:xfrm>
            <a:off x="502920" y="1234440"/>
            <a:ext cx="7269480" cy="4089083"/>
          </a:xfrm>
          <a:prstGeom prst="rect">
            <a:avLst/>
          </a:prstGeom>
        </p:spPr>
      </p:pic>
      <p:sp>
        <p:nvSpPr>
          <p:cNvPr id="6" name="so-1"/>
          <p:cNvSpPr txBox="1"/>
          <p:nvPr/>
        </p:nvSpPr>
        <p:spPr>
          <a:xfrm>
            <a:off x="1777079" y="1448467"/>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o-2"/>
          <p:cNvSpPr txBox="1"/>
          <p:nvPr/>
        </p:nvSpPr>
        <p:spPr>
          <a:xfrm>
            <a:off x="1777079" y="194067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8"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buoc-1"/>
          <p:cNvSpPr txBox="1"/>
          <p:nvPr/>
        </p:nvSpPr>
        <p:spPr>
          <a:xfrm>
            <a:off x="8567928" y="1280160"/>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Bắn mã vạch:</a:t>
            </a:r>
            <a:pPr indent="0" marL="0">
              <a:buNone/>
            </a:pPr>
            <a:r>
              <a:rPr lang="en-US" sz="1400" dirty="0">
                <a:solidFill>
                  <a:schemeClr val="tx1"/>
                </a:solidFill>
              </a:rPr>
              <a:t> hàng vào giỏ ngay. Bắn lại cùng món thì số lượng tăng thêm 1.</a:t>
            </a:r>
            <a:endParaRPr lang="en-US" sz="1400" dirty="0"/>
          </a:p>
        </p:txBody>
      </p:sp>
      <p:sp>
        <p:nvSpPr>
          <p:cNvPr id="10" name="so-2"/>
          <p:cNvSpPr txBox="1"/>
          <p:nvPr/>
        </p:nvSpPr>
        <p:spPr>
          <a:xfrm>
            <a:off x="8101584" y="19883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buoc-2"/>
          <p:cNvSpPr txBox="1"/>
          <p:nvPr/>
        </p:nvSpPr>
        <p:spPr>
          <a:xfrm>
            <a:off x="8567928" y="1970024"/>
            <a:ext cx="3136392" cy="723900"/>
          </a:xfrm>
          <a:prstGeom prst="rect">
            <a:avLst/>
          </a:prstGeom>
          <a:noFill/>
          <a:ln/>
        </p:spPr>
        <p:txBody>
          <a:bodyPr wrap="square" lIns="25400" tIns="0" rIns="0" bIns="0" rtlCol="0" anchor="t"/>
          <a:lstStyle/>
          <a:p>
            <a:pPr indent="0" marL="0">
              <a:buNone/>
            </a:pPr>
            <a:r>
              <a:rPr lang="en-US" sz="1400" b="1" dirty="0">
                <a:solidFill>
                  <a:schemeClr val="tx1"/>
                </a:solidFill>
              </a:rPr>
              <a:t>Hoặc gõ tên (từ 2 chữ):</a:t>
            </a:r>
            <a:pPr indent="0" marL="0">
              <a:buNone/>
            </a:pPr>
            <a:r>
              <a:rPr lang="en-US" sz="1400" dirty="0">
                <a:solidFill>
                  <a:schemeClr val="tx1"/>
                </a:solidFill>
              </a:rPr>
              <a:t> danh sách gợi ý hiện ảnh, tồn kho và giá. Dùng ↑ ↓ rồi Enter, hoặc bấm chuột vào món.</a:t>
            </a:r>
            <a:endParaRPr lang="en-US" sz="1400" dirty="0"/>
          </a:p>
        </p:txBody>
      </p:sp>
      <p:sp>
        <p:nvSpPr>
          <p:cNvPr id="12" name="so-3"/>
          <p:cNvSpPr txBox="1"/>
          <p:nvPr/>
        </p:nvSpPr>
        <p:spPr>
          <a:xfrm>
            <a:off x="8101584" y="289509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buoc-3"/>
          <p:cNvSpPr txBox="1"/>
          <p:nvPr/>
        </p:nvSpPr>
        <p:spPr>
          <a:xfrm>
            <a:off x="8567928" y="2876804"/>
            <a:ext cx="3136392" cy="723900"/>
          </a:xfrm>
          <a:prstGeom prst="rect">
            <a:avLst/>
          </a:prstGeom>
          <a:noFill/>
          <a:ln/>
        </p:spPr>
        <p:txBody>
          <a:bodyPr wrap="square" lIns="25400" tIns="0" rIns="0" bIns="0" rtlCol="0" anchor="t"/>
          <a:lstStyle/>
          <a:p>
            <a:pPr indent="0" marL="0">
              <a:buNone/>
            </a:pPr>
            <a:r>
              <a:rPr lang="en-US" sz="1400" b="1" dirty="0">
                <a:solidFill>
                  <a:schemeClr val="tx1"/>
                </a:solidFill>
              </a:rPr>
              <a:t>Bắn mã thùng / lốc:</a:t>
            </a:r>
            <a:pPr indent="0" marL="0">
              <a:buNone/>
            </a:pPr>
            <a:r>
              <a:rPr lang="en-US" sz="1400" dirty="0">
                <a:solidFill>
                  <a:schemeClr val="tx1"/>
                </a:solidFill>
              </a:rPr>
              <a:t> dòng tính theo thùng, đúng giá thùng, ghi rõ "Lốc (= 6)".</a:t>
            </a:r>
            <a:endParaRPr lang="en-US" sz="1400" dirty="0"/>
          </a:p>
        </p:txBody>
      </p:sp>
      <p:sp>
        <p:nvSpPr>
          <p:cNvPr id="14" name="so-4"/>
          <p:cNvSpPr txBox="1"/>
          <p:nvPr/>
        </p:nvSpPr>
        <p:spPr>
          <a:xfrm>
            <a:off x="8101584" y="380187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buoc-4"/>
          <p:cNvSpPr txBox="1"/>
          <p:nvPr/>
        </p:nvSpPr>
        <p:spPr>
          <a:xfrm>
            <a:off x="8567928" y="3783584"/>
            <a:ext cx="3136392" cy="723900"/>
          </a:xfrm>
          <a:prstGeom prst="rect">
            <a:avLst/>
          </a:prstGeom>
          <a:noFill/>
          <a:ln/>
        </p:spPr>
        <p:txBody>
          <a:bodyPr wrap="square" lIns="25400" tIns="0" rIns="0" bIns="0" rtlCol="0" anchor="t"/>
          <a:lstStyle/>
          <a:p>
            <a:pPr indent="0" marL="0">
              <a:buNone/>
            </a:pPr>
            <a:r>
              <a:rPr lang="en-US" sz="1400" b="1" dirty="0">
                <a:solidFill>
                  <a:schemeClr val="tx1"/>
                </a:solidFill>
              </a:rPr>
              <a:t>Báo "Không có mã …":</a:t>
            </a:r>
            <a:pPr indent="0" marL="0">
              <a:buNone/>
            </a:pPr>
            <a:r>
              <a:rPr lang="en-US" sz="1400" dirty="0">
                <a:solidFill>
                  <a:schemeClr val="tx1"/>
                </a:solidFill>
              </a:rPr>
              <a:t> hàng chưa có trong máy. Bán tạm bằng Món ngoài (F4), sau đó thêm sản phẩm.</a:t>
            </a:r>
            <a:endParaRPr lang="en-US" sz="1400" dirty="0"/>
          </a:p>
        </p:txBody>
      </p:sp>
      <p:sp>
        <p:nvSpPr>
          <p:cNvPr id="16" name="luu-y"/>
          <p:cNvSpPr/>
          <p:nvPr/>
        </p:nvSpPr>
        <p:spPr>
          <a:xfrm>
            <a:off x="8092440" y="4781804"/>
            <a:ext cx="3611880" cy="860298"/>
          </a:xfrm>
          <a:prstGeom prst="roundRect">
            <a:avLst>
              <a:gd name="adj" fmla="val 8503"/>
            </a:avLst>
          </a:prstGeom>
          <a:solidFill>
            <a:schemeClr val="accent2">
              <a:alpha val="10000"/>
            </a:schemeClr>
          </a:solidFill>
          <a:ln w="9525">
            <a:solidFill>
              <a:schemeClr val="accent2">
                <a:alpha val="45000"/>
              </a:schemeClr>
            </a:solidFill>
            <a:prstDash val="solid"/>
          </a:ln>
        </p:spPr>
      </p:sp>
      <p:pic>
        <p:nvPicPr>
          <p:cNvPr id="17" name="Image 1" descr="Lưu ý">    </p:cNvPr>
          <p:cNvPicPr>
            <a:picLocks noChangeAspect="1"/>
          </p:cNvPicPr>
          <p:nvPr/>
        </p:nvPicPr>
        <p:blipFill>
          <a:blip r:embed="rId2"/>
          <a:stretch>
            <a:fillRect/>
          </a:stretch>
        </p:blipFill>
        <p:spPr>
          <a:xfrm>
            <a:off x="8257032" y="4928108"/>
            <a:ext cx="274320" cy="274320"/>
          </a:xfrm>
          <a:prstGeom prst="rect">
            <a:avLst/>
          </a:prstGeom>
        </p:spPr>
      </p:pic>
      <p:sp>
        <p:nvSpPr>
          <p:cNvPr id="18" name="Text 14"/>
          <p:cNvSpPr txBox="1"/>
          <p:nvPr/>
        </p:nvSpPr>
        <p:spPr>
          <a:xfrm>
            <a:off x="8641080" y="4854956"/>
            <a:ext cx="2926080" cy="713994"/>
          </a:xfrm>
          <a:prstGeom prst="rect">
            <a:avLst/>
          </a:prstGeom>
          <a:noFill/>
          <a:ln/>
        </p:spPr>
        <p:txBody>
          <a:bodyPr wrap="square" lIns="0" tIns="0" rIns="0" bIns="0" rtlCol="0" anchor="ctr"/>
          <a:lstStyle/>
          <a:p>
            <a:pPr indent="0" marL="0">
              <a:buNone/>
            </a:pPr>
            <a:r>
              <a:rPr lang="en-US" sz="1300" dirty="0">
                <a:solidFill>
                  <a:schemeClr val="tx1"/>
                </a:solidFill>
              </a:rPr>
              <a:t>Hàng đã "ngừng bán" sẽ không vào giỏ. Muốn bán lại: Sản phẩm → ⋯ → Bán lại.</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Sửa giỏ hàng</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2 · Bán hàng</a:t>
            </a:r>
            <a:endParaRPr lang="en-US" sz="1200" dirty="0"/>
          </a:p>
        </p:txBody>
      </p:sp>
      <p:sp>
        <p:nvSpPr>
          <p:cNvPr id="4" name="sell-cart-table-khung"/>
          <p:cNvSpPr/>
          <p:nvPr/>
        </p:nvSpPr>
        <p:spPr>
          <a:xfrm>
            <a:off x="484632" y="1216152"/>
            <a:ext cx="7306056" cy="3741215"/>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sell-cart-table" descr="sell-cart-table">    </p:cNvPr>
          <p:cNvPicPr>
            <a:picLocks noChangeAspect="1"/>
          </p:cNvPicPr>
          <p:nvPr/>
        </p:nvPicPr>
        <p:blipFill>
          <a:blip r:embed="rId1"/>
          <a:stretch>
            <a:fillRect/>
          </a:stretch>
        </p:blipFill>
        <p:spPr>
          <a:xfrm>
            <a:off x="502920" y="1234440"/>
            <a:ext cx="7269480" cy="3704639"/>
          </a:xfrm>
          <a:prstGeom prst="rect">
            <a:avLst/>
          </a:prstGeom>
        </p:spPr>
      </p:pic>
      <p:sp>
        <p:nvSpPr>
          <p:cNvPr id="6" name="so-1"/>
          <p:cNvSpPr txBox="1"/>
          <p:nvPr/>
        </p:nvSpPr>
        <p:spPr>
          <a:xfrm>
            <a:off x="2644990" y="1782816"/>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o-2"/>
          <p:cNvSpPr txBox="1"/>
          <p:nvPr/>
        </p:nvSpPr>
        <p:spPr>
          <a:xfrm>
            <a:off x="4147815" y="148924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8" name="so-3"/>
          <p:cNvSpPr txBox="1"/>
          <p:nvPr/>
        </p:nvSpPr>
        <p:spPr>
          <a:xfrm>
            <a:off x="4252663" y="3698045"/>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9" name="so-4"/>
          <p:cNvSpPr txBox="1"/>
          <p:nvPr/>
        </p:nvSpPr>
        <p:spPr>
          <a:xfrm>
            <a:off x="617923" y="2314047"/>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0" name="so-5"/>
          <p:cNvSpPr txBox="1"/>
          <p:nvPr/>
        </p:nvSpPr>
        <p:spPr>
          <a:xfrm>
            <a:off x="7258314" y="148924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1"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2" name="buoc-1"/>
          <p:cNvSpPr txBox="1"/>
          <p:nvPr/>
        </p:nvSpPr>
        <p:spPr>
          <a:xfrm>
            <a:off x="8567928" y="1280160"/>
            <a:ext cx="3136392" cy="723900"/>
          </a:xfrm>
          <a:prstGeom prst="rect">
            <a:avLst/>
          </a:prstGeom>
          <a:noFill/>
          <a:ln/>
        </p:spPr>
        <p:txBody>
          <a:bodyPr wrap="square" lIns="25400" tIns="0" rIns="0" bIns="0" rtlCol="0" anchor="t"/>
          <a:lstStyle/>
          <a:p>
            <a:pPr indent="0" marL="0">
              <a:buNone/>
            </a:pPr>
            <a:r>
              <a:rPr lang="en-US" sz="1400" b="1" dirty="0">
                <a:solidFill>
                  <a:schemeClr val="tx1"/>
                </a:solidFill>
              </a:rPr>
              <a:t>Đơn giá:</a:t>
            </a:r>
            <a:pPr indent="0" marL="0">
              <a:buNone/>
            </a:pPr>
            <a:r>
              <a:rPr lang="en-US" sz="1400" dirty="0">
                <a:solidFill>
                  <a:schemeClr val="tx1"/>
                </a:solidFill>
              </a:rPr>
              <a:t> bấm vào ô để đổi giá riêng cho lần bán này, Enter để lưu. Để trống thì trở về giá cũ.</a:t>
            </a:r>
            <a:endParaRPr lang="en-US" sz="1400" dirty="0"/>
          </a:p>
        </p:txBody>
      </p:sp>
      <p:sp>
        <p:nvSpPr>
          <p:cNvPr id="13" name="so-2"/>
          <p:cNvSpPr txBox="1"/>
          <p:nvPr/>
        </p:nvSpPr>
        <p:spPr>
          <a:xfrm>
            <a:off x="8101584" y="220522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buoc-2"/>
          <p:cNvSpPr txBox="1"/>
          <p:nvPr/>
        </p:nvSpPr>
        <p:spPr>
          <a:xfrm>
            <a:off x="8567928" y="2186940"/>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Số lượng:</a:t>
            </a:r>
            <a:pPr indent="0" marL="0">
              <a:buNone/>
            </a:pPr>
            <a:r>
              <a:rPr lang="en-US" sz="1400" dirty="0">
                <a:solidFill>
                  <a:schemeClr val="tx1"/>
                </a:solidFill>
              </a:rPr>
              <a:t> bấm − / + hoặc gõ số. Về 0 là bỏ dòng.</a:t>
            </a:r>
            <a:endParaRPr lang="en-US" sz="1400" dirty="0"/>
          </a:p>
        </p:txBody>
      </p:sp>
      <p:sp>
        <p:nvSpPr>
          <p:cNvPr id="15" name="so-3"/>
          <p:cNvSpPr txBox="1"/>
          <p:nvPr/>
        </p:nvSpPr>
        <p:spPr>
          <a:xfrm>
            <a:off x="8101584" y="289509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buoc-3"/>
          <p:cNvSpPr txBox="1"/>
          <p:nvPr/>
        </p:nvSpPr>
        <p:spPr>
          <a:xfrm>
            <a:off x="8567928" y="2876804"/>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Hàng cân</a:t>
            </a:r>
            <a:pPr indent="0" marL="0">
              <a:buNone/>
            </a:pPr>
            <a:r>
              <a:rPr lang="en-US" sz="1400" dirty="0">
                <a:solidFill>
                  <a:schemeClr val="tx1"/>
                </a:solidFill>
              </a:rPr>
              <a:t> hiện số kg. Bấm vào để cân lại.</a:t>
            </a:r>
            <a:endParaRPr lang="en-US" sz="1400" dirty="0"/>
          </a:p>
        </p:txBody>
      </p:sp>
      <p:sp>
        <p:nvSpPr>
          <p:cNvPr id="17" name="so-4"/>
          <p:cNvSpPr txBox="1"/>
          <p:nvPr/>
        </p:nvSpPr>
        <p:spPr>
          <a:xfrm>
            <a:off x="8101584" y="358495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buoc-4"/>
          <p:cNvSpPr txBox="1"/>
          <p:nvPr/>
        </p:nvSpPr>
        <p:spPr>
          <a:xfrm>
            <a:off x="8567928" y="3566668"/>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Dòng thùng / lốc</a:t>
            </a:r>
            <a:pPr indent="0" marL="0">
              <a:buNone/>
            </a:pPr>
            <a:r>
              <a:rPr lang="en-US" sz="1400" dirty="0">
                <a:solidFill>
                  <a:schemeClr val="tx1"/>
                </a:solidFill>
              </a:rPr>
              <a:t> ghi rõ quy đổi, ví dụ "Lốc (= 6)".</a:t>
            </a:r>
            <a:endParaRPr lang="en-US" sz="1400" dirty="0"/>
          </a:p>
        </p:txBody>
      </p:sp>
      <p:sp>
        <p:nvSpPr>
          <p:cNvPr id="19" name="so-5"/>
          <p:cNvSpPr txBox="1"/>
          <p:nvPr/>
        </p:nvSpPr>
        <p:spPr>
          <a:xfrm>
            <a:off x="8101584" y="427482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0" name="buoc-5"/>
          <p:cNvSpPr txBox="1"/>
          <p:nvPr/>
        </p:nvSpPr>
        <p:spPr>
          <a:xfrm>
            <a:off x="8567928" y="4256532"/>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Nút ×</a:t>
            </a:r>
            <a:pPr indent="0" marL="0">
              <a:buNone/>
            </a:pPr>
            <a:r>
              <a:rPr lang="en-US" sz="1400" dirty="0">
                <a:solidFill>
                  <a:schemeClr val="tx1"/>
                </a:solidFill>
              </a:rPr>
              <a:t> xóa một dòng. Nút "Xóa giỏ" bên phải bỏ cả đơn (có hỏi lại).</a:t>
            </a:r>
            <a:endParaRPr lang="en-US" sz="1400" dirty="0"/>
          </a:p>
        </p:txBody>
      </p:sp>
      <p:sp>
        <p:nvSpPr>
          <p:cNvPr id="21" name="meo"/>
          <p:cNvSpPr/>
          <p:nvPr/>
        </p:nvSpPr>
        <p:spPr>
          <a:xfrm>
            <a:off x="8092440" y="5037836"/>
            <a:ext cx="3611880" cy="860298"/>
          </a:xfrm>
          <a:prstGeom prst="roundRect">
            <a:avLst>
              <a:gd name="adj" fmla="val 8503"/>
            </a:avLst>
          </a:prstGeom>
          <a:solidFill>
            <a:schemeClr val="accent1">
              <a:alpha val="10000"/>
            </a:schemeClr>
          </a:solidFill>
          <a:ln w="9525">
            <a:solidFill>
              <a:schemeClr val="accent1">
                <a:alpha val="45000"/>
              </a:schemeClr>
            </a:solidFill>
            <a:prstDash val="solid"/>
          </a:ln>
        </p:spPr>
      </p:sp>
      <p:pic>
        <p:nvPicPr>
          <p:cNvPr id="22" name="Image 1" descr="Mẹo">    </p:cNvPr>
          <p:cNvPicPr>
            <a:picLocks noChangeAspect="1"/>
          </p:cNvPicPr>
          <p:nvPr/>
        </p:nvPicPr>
        <p:blipFill>
          <a:blip r:embed="rId2"/>
          <a:stretch>
            <a:fillRect/>
          </a:stretch>
        </p:blipFill>
        <p:spPr>
          <a:xfrm>
            <a:off x="8257032" y="5184140"/>
            <a:ext cx="274320" cy="274320"/>
          </a:xfrm>
          <a:prstGeom prst="rect">
            <a:avLst/>
          </a:prstGeom>
        </p:spPr>
      </p:pic>
      <p:sp>
        <p:nvSpPr>
          <p:cNvPr id="23" name="Text 19"/>
          <p:cNvSpPr txBox="1"/>
          <p:nvPr/>
        </p:nvSpPr>
        <p:spPr>
          <a:xfrm>
            <a:off x="8641080" y="5110988"/>
            <a:ext cx="2926080" cy="713994"/>
          </a:xfrm>
          <a:prstGeom prst="rect">
            <a:avLst/>
          </a:prstGeom>
          <a:noFill/>
          <a:ln/>
        </p:spPr>
        <p:txBody>
          <a:bodyPr wrap="square" lIns="0" tIns="0" rIns="0" bIns="0" rtlCol="0" anchor="ctr"/>
          <a:lstStyle/>
          <a:p>
            <a:pPr indent="0" marL="0">
              <a:buNone/>
            </a:pPr>
            <a:r>
              <a:rPr lang="en-US" sz="1300" dirty="0">
                <a:solidFill>
                  <a:schemeClr val="tx1"/>
                </a:solidFill>
              </a:rPr>
              <a:t>Thấy nhãn vàng "Tồn còn n": máy ghi tồn ít hơn số đang bán. Vẫn bán được, nhưng nên kiểm kê lại món đó.</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Hàng cân và món ngoài</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2 · Bán hàng</a:t>
            </a:r>
            <a:endParaRPr lang="en-US" sz="1200" dirty="0"/>
          </a:p>
        </p:txBody>
      </p:sp>
      <p:sp>
        <p:nvSpPr>
          <p:cNvPr id="4" name="sell-weigh-khung"/>
          <p:cNvSpPr/>
          <p:nvPr/>
        </p:nvSpPr>
        <p:spPr>
          <a:xfrm>
            <a:off x="739912" y="1216152"/>
            <a:ext cx="4920977" cy="277977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sell-weigh" descr="sell-weigh">    </p:cNvPr>
          <p:cNvPicPr>
            <a:picLocks noChangeAspect="1"/>
          </p:cNvPicPr>
          <p:nvPr/>
        </p:nvPicPr>
        <p:blipFill>
          <a:blip r:embed="rId1"/>
          <a:stretch>
            <a:fillRect/>
          </a:stretch>
        </p:blipFill>
        <p:spPr>
          <a:xfrm>
            <a:off x="758200" y="1234440"/>
            <a:ext cx="4884401" cy="2743200"/>
          </a:xfrm>
          <a:prstGeom prst="rect">
            <a:avLst/>
          </a:prstGeom>
        </p:spPr>
      </p:pic>
      <p:sp>
        <p:nvSpPr>
          <p:cNvPr id="6" name="Text 3"/>
          <p:cNvSpPr txBox="1"/>
          <p:nvPr/>
        </p:nvSpPr>
        <p:spPr>
          <a:xfrm>
            <a:off x="502920" y="4206240"/>
            <a:ext cx="5394960" cy="769620"/>
          </a:xfrm>
          <a:prstGeom prst="rect">
            <a:avLst/>
          </a:prstGeom>
          <a:noFill/>
          <a:ln/>
        </p:spPr>
        <p:txBody>
          <a:bodyPr wrap="square" lIns="25400" tIns="0" rIns="0" bIns="0" rtlCol="0" anchor="t"/>
          <a:lstStyle/>
          <a:p>
            <a:pPr indent="0" marL="0">
              <a:buNone/>
            </a:pPr>
            <a:r>
              <a:rPr lang="en-US" sz="1400" b="1" dirty="0">
                <a:solidFill>
                  <a:schemeClr val="tx1"/>
                </a:solidFill>
              </a:rPr>
              <a:t>Hàng cân (rau, thịt, cá…):</a:t>
            </a:r>
            <a:pPr indent="0" marL="0">
              <a:buNone/>
            </a:pPr>
            <a:r>
              <a:rPr lang="en-US" sz="1400" dirty="0">
                <a:solidFill>
                  <a:schemeClr val="tx1"/>
                </a:solidFill>
              </a:rPr>
              <a:t> quét hoặc chọn món, hộp cân hiện ra. Gõ Khối lượng (kg) hoặc Thành tiền, ô kia tự tính. Bấm Thêm vào giỏ. Mỗi túi cân là một dòng riêng.</a:t>
            </a:r>
            <a:endParaRPr lang="en-US" sz="1400" dirty="0"/>
          </a:p>
        </p:txBody>
      </p:sp>
      <p:sp>
        <p:nvSpPr>
          <p:cNvPr id="7" name="sell-custom-khung"/>
          <p:cNvSpPr/>
          <p:nvPr/>
        </p:nvSpPr>
        <p:spPr>
          <a:xfrm>
            <a:off x="7144254" y="1216152"/>
            <a:ext cx="3725173" cy="277977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8" name="sell-custom" descr="sell-custom">    </p:cNvPr>
          <p:cNvPicPr>
            <a:picLocks noChangeAspect="1"/>
          </p:cNvPicPr>
          <p:nvPr/>
        </p:nvPicPr>
        <p:blipFill>
          <a:blip r:embed="rId2"/>
          <a:stretch>
            <a:fillRect/>
          </a:stretch>
        </p:blipFill>
        <p:spPr>
          <a:xfrm>
            <a:off x="7162542" y="1234440"/>
            <a:ext cx="3688597" cy="2743200"/>
          </a:xfrm>
          <a:prstGeom prst="rect">
            <a:avLst/>
          </a:prstGeom>
        </p:spPr>
      </p:pic>
      <p:sp>
        <p:nvSpPr>
          <p:cNvPr id="9" name="Text 5"/>
          <p:cNvSpPr txBox="1"/>
          <p:nvPr/>
        </p:nvSpPr>
        <p:spPr>
          <a:xfrm>
            <a:off x="6309360" y="4206240"/>
            <a:ext cx="5394960" cy="552704"/>
          </a:xfrm>
          <a:prstGeom prst="rect">
            <a:avLst/>
          </a:prstGeom>
          <a:noFill/>
          <a:ln/>
        </p:spPr>
        <p:txBody>
          <a:bodyPr wrap="square" lIns="25400" tIns="0" rIns="0" bIns="0" rtlCol="0" anchor="t"/>
          <a:lstStyle/>
          <a:p>
            <a:pPr indent="0" marL="0">
              <a:buNone/>
            </a:pPr>
            <a:r>
              <a:rPr lang="en-US" sz="1400" b="1" dirty="0">
                <a:solidFill>
                  <a:schemeClr val="tx1"/>
                </a:solidFill>
              </a:rPr>
              <a:t>Món ngoài (phím F4):</a:t>
            </a:r>
            <a:pPr indent="0" marL="0">
              <a:buNone/>
            </a:pPr>
            <a:r>
              <a:rPr lang="en-US" sz="1400" dirty="0">
                <a:solidFill>
                  <a:schemeClr val="tx1"/>
                </a:solidFill>
              </a:rPr>
              <a:t> món chưa có trong máy. Gõ Tên món, Giá, Số lượng rồi Thêm vào giỏ. Món ngoài không trừ tồn kho.</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Thanh toán tiền mặt</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2 · Bán hàng</a:t>
            </a:r>
            <a:endParaRPr lang="en-US" sz="1200" dirty="0"/>
          </a:p>
        </p:txBody>
      </p:sp>
      <p:sp>
        <p:nvSpPr>
          <p:cNvPr id="4" name="pay-cash-khung"/>
          <p:cNvSpPr/>
          <p:nvPr/>
        </p:nvSpPr>
        <p:spPr>
          <a:xfrm>
            <a:off x="484632" y="1216152"/>
            <a:ext cx="4882896" cy="4164923"/>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pay-cash" descr="pay-cash">    </p:cNvPr>
          <p:cNvPicPr>
            <a:picLocks noChangeAspect="1"/>
          </p:cNvPicPr>
          <p:nvPr/>
        </p:nvPicPr>
        <p:blipFill>
          <a:blip r:embed="rId1"/>
          <a:stretch>
            <a:fillRect/>
          </a:stretch>
        </p:blipFill>
        <p:spPr>
          <a:xfrm>
            <a:off x="502920" y="1234440"/>
            <a:ext cx="4846320" cy="4128347"/>
          </a:xfrm>
          <a:prstGeom prst="rect">
            <a:avLst/>
          </a:prstGeom>
        </p:spPr>
      </p:pic>
      <p:sp>
        <p:nvSpPr>
          <p:cNvPr id="6" name="so-1"/>
          <p:cNvSpPr txBox="1"/>
          <p:nvPr/>
        </p:nvSpPr>
        <p:spPr>
          <a:xfrm>
            <a:off x="576986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6236208" y="1280160"/>
            <a:ext cx="5468112" cy="506984"/>
          </a:xfrm>
          <a:prstGeom prst="rect">
            <a:avLst/>
          </a:prstGeom>
          <a:noFill/>
          <a:ln/>
        </p:spPr>
        <p:txBody>
          <a:bodyPr wrap="square" lIns="25400" tIns="0" rIns="0" bIns="0" rtlCol="0" anchor="t"/>
          <a:lstStyle/>
          <a:p>
            <a:pPr indent="0" marL="0">
              <a:buNone/>
            </a:pPr>
            <a:r>
              <a:rPr lang="en-US" sz="1400" b="1" dirty="0">
                <a:solidFill>
                  <a:schemeClr val="tx1"/>
                </a:solidFill>
              </a:rPr>
              <a:t>Bấm Thanh toán</a:t>
            </a:r>
            <a:pPr indent="0" marL="0">
              <a:buNone/>
            </a:pPr>
            <a:r>
              <a:rPr lang="en-US" sz="1400" dirty="0">
                <a:solidFill>
                  <a:schemeClr val="tx1"/>
                </a:solidFill>
              </a:rPr>
              <a:t> hoặc phím F9. Muốn giảm giá thì nhập ô Giảm giá trước.</a:t>
            </a:r>
            <a:endParaRPr lang="en-US" sz="1400" dirty="0"/>
          </a:p>
        </p:txBody>
      </p:sp>
      <p:sp>
        <p:nvSpPr>
          <p:cNvPr id="8" name="so-2"/>
          <p:cNvSpPr txBox="1"/>
          <p:nvPr/>
        </p:nvSpPr>
        <p:spPr>
          <a:xfrm>
            <a:off x="5769864" y="19883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6236208" y="1970024"/>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Tab Tiền mặt:</a:t>
            </a:r>
            <a:pPr indent="0" marL="0">
              <a:buNone/>
            </a:pPr>
            <a:r>
              <a:rPr lang="en-US" sz="1400" dirty="0">
                <a:solidFill>
                  <a:schemeClr val="tx1"/>
                </a:solidFill>
              </a:rPr>
              <a:t> ô Khách đưa điền sẵn đúng số phải trả.</a:t>
            </a:r>
            <a:endParaRPr lang="en-US" sz="1400" dirty="0"/>
          </a:p>
        </p:txBody>
      </p:sp>
      <p:sp>
        <p:nvSpPr>
          <p:cNvPr id="10" name="so-3"/>
          <p:cNvSpPr txBox="1"/>
          <p:nvPr/>
        </p:nvSpPr>
        <p:spPr>
          <a:xfrm>
            <a:off x="5769864" y="250037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6236208" y="2482088"/>
            <a:ext cx="5468112" cy="506984"/>
          </a:xfrm>
          <a:prstGeom prst="rect">
            <a:avLst/>
          </a:prstGeom>
          <a:noFill/>
          <a:ln/>
        </p:spPr>
        <p:txBody>
          <a:bodyPr wrap="square" lIns="25400" tIns="0" rIns="0" bIns="0" rtlCol="0" anchor="t"/>
          <a:lstStyle/>
          <a:p>
            <a:pPr indent="0" marL="0">
              <a:buNone/>
            </a:pPr>
            <a:r>
              <a:rPr lang="en-US" sz="1400" b="1" dirty="0">
                <a:solidFill>
                  <a:schemeClr val="tx1"/>
                </a:solidFill>
              </a:rPr>
              <a:t>Khách đưa tiền chẵn:</a:t>
            </a:r>
            <a:pPr indent="0" marL="0">
              <a:buNone/>
            </a:pPr>
            <a:r>
              <a:rPr lang="en-US" sz="1400" dirty="0">
                <a:solidFill>
                  <a:schemeClr val="tx1"/>
                </a:solidFill>
              </a:rPr>
              <a:t> bấm nút gợi ý (110.000đ, 150.000đ…) hoặc gõ số.</a:t>
            </a:r>
            <a:endParaRPr lang="en-US" sz="1400" dirty="0"/>
          </a:p>
        </p:txBody>
      </p:sp>
      <p:sp>
        <p:nvSpPr>
          <p:cNvPr id="12" name="so-4"/>
          <p:cNvSpPr txBox="1"/>
          <p:nvPr/>
        </p:nvSpPr>
        <p:spPr>
          <a:xfrm>
            <a:off x="5769864" y="319024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6236208" y="3171952"/>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Xem Tiền thối</a:t>
            </a:r>
            <a:pPr indent="0" marL="0">
              <a:buNone/>
            </a:pPr>
            <a:r>
              <a:rPr lang="en-US" sz="1400" dirty="0">
                <a:solidFill>
                  <a:schemeClr val="tx1"/>
                </a:solidFill>
              </a:rPr>
              <a:t> (chữ xanh). Đưa thiếu thì hiện Còn thiếu (chữ đỏ).</a:t>
            </a:r>
            <a:endParaRPr lang="en-US" sz="1400" dirty="0"/>
          </a:p>
        </p:txBody>
      </p:sp>
      <p:sp>
        <p:nvSpPr>
          <p:cNvPr id="14" name="so-5"/>
          <p:cNvSpPr txBox="1"/>
          <p:nvPr/>
        </p:nvSpPr>
        <p:spPr>
          <a:xfrm>
            <a:off x="5769864" y="370230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5" name="buoc-5"/>
          <p:cNvSpPr txBox="1"/>
          <p:nvPr/>
        </p:nvSpPr>
        <p:spPr>
          <a:xfrm>
            <a:off x="6236208" y="3684016"/>
            <a:ext cx="5468112" cy="506984"/>
          </a:xfrm>
          <a:prstGeom prst="rect">
            <a:avLst/>
          </a:prstGeom>
          <a:noFill/>
          <a:ln/>
        </p:spPr>
        <p:txBody>
          <a:bodyPr wrap="square" lIns="25400" tIns="0" rIns="0" bIns="0" rtlCol="0" anchor="t"/>
          <a:lstStyle/>
          <a:p>
            <a:pPr indent="0" marL="0">
              <a:buNone/>
            </a:pPr>
            <a:r>
              <a:rPr lang="en-US" sz="1400" b="1" dirty="0">
                <a:solidFill>
                  <a:schemeClr val="tx1"/>
                </a:solidFill>
              </a:rPr>
              <a:t>Bấm Xác nhận hoặc Enter.</a:t>
            </a:r>
            <a:pPr indent="0" marL="0">
              <a:buNone/>
            </a:pPr>
            <a:r>
              <a:rPr lang="en-US" sz="1400" dirty="0">
                <a:solidFill>
                  <a:schemeClr val="tx1"/>
                </a:solidFill>
              </a:rPr>
              <a:t> Hóa đơn tự in, giỏ trống để bán khách sau.</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Chuyển khoản bằng mã VietQR</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2 · Bán hàng</a:t>
            </a:r>
            <a:endParaRPr lang="en-US" sz="1200" dirty="0"/>
          </a:p>
        </p:txBody>
      </p:sp>
      <p:sp>
        <p:nvSpPr>
          <p:cNvPr id="4" name="pay-transfer-khung"/>
          <p:cNvSpPr/>
          <p:nvPr/>
        </p:nvSpPr>
        <p:spPr>
          <a:xfrm>
            <a:off x="818445" y="1216152"/>
            <a:ext cx="4215270" cy="502005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pay-transfer" descr="pay-transfer">    </p:cNvPr>
          <p:cNvPicPr>
            <a:picLocks noChangeAspect="1"/>
          </p:cNvPicPr>
          <p:nvPr/>
        </p:nvPicPr>
        <p:blipFill>
          <a:blip r:embed="rId1"/>
          <a:stretch>
            <a:fillRect/>
          </a:stretch>
        </p:blipFill>
        <p:spPr>
          <a:xfrm>
            <a:off x="836733" y="1234440"/>
            <a:ext cx="4178694" cy="4983480"/>
          </a:xfrm>
          <a:prstGeom prst="rect">
            <a:avLst/>
          </a:prstGeom>
        </p:spPr>
      </p:pic>
      <p:sp>
        <p:nvSpPr>
          <p:cNvPr id="6" name="so-1"/>
          <p:cNvSpPr txBox="1"/>
          <p:nvPr/>
        </p:nvSpPr>
        <p:spPr>
          <a:xfrm>
            <a:off x="576986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6236208" y="1280160"/>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Trong hộp Thanh toán</a:t>
            </a:r>
            <a:pPr indent="0" marL="0">
              <a:buNone/>
            </a:pPr>
            <a:r>
              <a:rPr lang="en-US" sz="1400" dirty="0">
                <a:solidFill>
                  <a:schemeClr val="tx1"/>
                </a:solidFill>
              </a:rPr>
              <a:t> chọn tab Chuyển khoản.</a:t>
            </a:r>
            <a:endParaRPr lang="en-US" sz="1400" dirty="0"/>
          </a:p>
        </p:txBody>
      </p:sp>
      <p:sp>
        <p:nvSpPr>
          <p:cNvPr id="8" name="so-2"/>
          <p:cNvSpPr txBox="1"/>
          <p:nvPr/>
        </p:nvSpPr>
        <p:spPr>
          <a:xfrm>
            <a:off x="5769864" y="18105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6236208" y="1792224"/>
            <a:ext cx="5468112" cy="506984"/>
          </a:xfrm>
          <a:prstGeom prst="rect">
            <a:avLst/>
          </a:prstGeom>
          <a:noFill/>
          <a:ln/>
        </p:spPr>
        <p:txBody>
          <a:bodyPr wrap="square" lIns="25400" tIns="0" rIns="0" bIns="0" rtlCol="0" anchor="t"/>
          <a:lstStyle/>
          <a:p>
            <a:pPr indent="0" marL="0">
              <a:buNone/>
            </a:pPr>
            <a:r>
              <a:rPr lang="en-US" sz="1400" b="1" dirty="0">
                <a:solidFill>
                  <a:schemeClr val="tx1"/>
                </a:solidFill>
              </a:rPr>
              <a:t>Khách quét mã QR</a:t>
            </a:r>
            <a:pPr indent="0" marL="0">
              <a:buNone/>
            </a:pPr>
            <a:r>
              <a:rPr lang="en-US" sz="1400" dirty="0">
                <a:solidFill>
                  <a:schemeClr val="tx1"/>
                </a:solidFill>
              </a:rPr>
              <a:t> bằng app ngân hàng: số tiền và tài khoản đã điền sẵn.</a:t>
            </a:r>
            <a:endParaRPr lang="en-US" sz="1400" dirty="0"/>
          </a:p>
        </p:txBody>
      </p:sp>
      <p:sp>
        <p:nvSpPr>
          <p:cNvPr id="10" name="so-3"/>
          <p:cNvSpPr txBox="1"/>
          <p:nvPr/>
        </p:nvSpPr>
        <p:spPr>
          <a:xfrm>
            <a:off x="5769864" y="250037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6236208" y="2482088"/>
            <a:ext cx="5468112" cy="506984"/>
          </a:xfrm>
          <a:prstGeom prst="rect">
            <a:avLst/>
          </a:prstGeom>
          <a:noFill/>
          <a:ln/>
        </p:spPr>
        <p:txBody>
          <a:bodyPr wrap="square" lIns="25400" tIns="0" rIns="0" bIns="0" rtlCol="0" anchor="t"/>
          <a:lstStyle/>
          <a:p>
            <a:pPr indent="0" marL="0">
              <a:buNone/>
            </a:pPr>
            <a:r>
              <a:rPr lang="en-US" sz="1400" b="1" dirty="0">
                <a:solidFill>
                  <a:schemeClr val="tx1"/>
                </a:solidFill>
              </a:rPr>
              <a:t>Khách đứng xa màn hình:</a:t>
            </a:r>
            <a:pPr indent="0" marL="0">
              <a:buNone/>
            </a:pPr>
            <a:r>
              <a:rPr lang="en-US" sz="1400" dirty="0">
                <a:solidFill>
                  <a:schemeClr val="tx1"/>
                </a:solidFill>
              </a:rPr>
              <a:t> bấm "In tạm tính kèm QR" để in phiếu có mã cho khách quét.</a:t>
            </a:r>
            <a:endParaRPr lang="en-US" sz="1400" dirty="0"/>
          </a:p>
        </p:txBody>
      </p:sp>
      <p:sp>
        <p:nvSpPr>
          <p:cNvPr id="12" name="so-4"/>
          <p:cNvSpPr txBox="1"/>
          <p:nvPr/>
        </p:nvSpPr>
        <p:spPr>
          <a:xfrm>
            <a:off x="5769864" y="319024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6236208" y="3171952"/>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Thấy tiền về tài khoản của tiệm</a:t>
            </a:r>
            <a:pPr indent="0" marL="0">
              <a:buNone/>
            </a:pPr>
            <a:r>
              <a:rPr lang="en-US" sz="1400" dirty="0">
                <a:solidFill>
                  <a:schemeClr val="tx1"/>
                </a:solidFill>
              </a:rPr>
              <a:t> rồi mới bấm "Đã nhận tiền".</a:t>
            </a:r>
            <a:endParaRPr lang="en-US" sz="1400" dirty="0"/>
          </a:p>
        </p:txBody>
      </p:sp>
      <p:sp>
        <p:nvSpPr>
          <p:cNvPr id="14" name="luu-y"/>
          <p:cNvSpPr/>
          <p:nvPr/>
        </p:nvSpPr>
        <p:spPr>
          <a:xfrm>
            <a:off x="5760720" y="3775456"/>
            <a:ext cx="5943600" cy="860298"/>
          </a:xfrm>
          <a:prstGeom prst="roundRect">
            <a:avLst>
              <a:gd name="adj" fmla="val 8503"/>
            </a:avLst>
          </a:prstGeom>
          <a:solidFill>
            <a:schemeClr val="accent2">
              <a:alpha val="10000"/>
            </a:schemeClr>
          </a:solidFill>
          <a:ln w="9525">
            <a:solidFill>
              <a:schemeClr val="accent2">
                <a:alpha val="45000"/>
              </a:schemeClr>
            </a:solidFill>
            <a:prstDash val="solid"/>
          </a:ln>
        </p:spPr>
      </p:sp>
      <p:pic>
        <p:nvPicPr>
          <p:cNvPr id="15" name="Image 1" descr="Lưu ý">    </p:cNvPr>
          <p:cNvPicPr>
            <a:picLocks noChangeAspect="1"/>
          </p:cNvPicPr>
          <p:nvPr/>
        </p:nvPicPr>
        <p:blipFill>
          <a:blip r:embed="rId2"/>
          <a:stretch>
            <a:fillRect/>
          </a:stretch>
        </p:blipFill>
        <p:spPr>
          <a:xfrm>
            <a:off x="5925312" y="3921760"/>
            <a:ext cx="274320" cy="274320"/>
          </a:xfrm>
          <a:prstGeom prst="rect">
            <a:avLst/>
          </a:prstGeom>
        </p:spPr>
      </p:pic>
      <p:sp>
        <p:nvSpPr>
          <p:cNvPr id="16" name="Text 12"/>
          <p:cNvSpPr txBox="1"/>
          <p:nvPr/>
        </p:nvSpPr>
        <p:spPr>
          <a:xfrm>
            <a:off x="6309360" y="3848608"/>
            <a:ext cx="5257800" cy="713994"/>
          </a:xfrm>
          <a:prstGeom prst="rect">
            <a:avLst/>
          </a:prstGeom>
          <a:noFill/>
          <a:ln/>
        </p:spPr>
        <p:txBody>
          <a:bodyPr wrap="square" lIns="0" tIns="0" rIns="0" bIns="0" rtlCol="0" anchor="ctr"/>
          <a:lstStyle/>
          <a:p>
            <a:pPr indent="0" marL="0">
              <a:buNone/>
            </a:pPr>
            <a:r>
              <a:rPr lang="en-US" sz="1300" dirty="0">
                <a:solidFill>
                  <a:schemeClr val="tx1"/>
                </a:solidFill>
              </a:rPr>
              <a:t>Phần mềm không tự biết tiền đã về. Luôn xem tin nhắn / app ngân hàng trước khi bấm "Đã nhận tiền". Chưa hiện mã QR: vào Cài đặt → Chuyển khoản (VietQR).</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Bán ghi nợ (bán chịu)</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2 · Bán hàng</a:t>
            </a:r>
            <a:endParaRPr lang="en-US" sz="1200" dirty="0"/>
          </a:p>
        </p:txBody>
      </p:sp>
      <p:sp>
        <p:nvSpPr>
          <p:cNvPr id="4" name="pay-debt-picker-khung"/>
          <p:cNvSpPr/>
          <p:nvPr/>
        </p:nvSpPr>
        <p:spPr>
          <a:xfrm>
            <a:off x="1427807" y="1216152"/>
            <a:ext cx="3545185" cy="328269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pay-debt-picker" descr="pay-debt-picker">    </p:cNvPr>
          <p:cNvPicPr>
            <a:picLocks noChangeAspect="1"/>
          </p:cNvPicPr>
          <p:nvPr/>
        </p:nvPicPr>
        <p:blipFill>
          <a:blip r:embed="rId1"/>
          <a:stretch>
            <a:fillRect/>
          </a:stretch>
        </p:blipFill>
        <p:spPr>
          <a:xfrm>
            <a:off x="1446095" y="1234440"/>
            <a:ext cx="3508609" cy="3246120"/>
          </a:xfrm>
          <a:prstGeom prst="rect">
            <a:avLst/>
          </a:prstGeom>
        </p:spPr>
      </p:pic>
      <p:sp>
        <p:nvSpPr>
          <p:cNvPr id="6" name="so-1"/>
          <p:cNvSpPr txBox="1"/>
          <p:nvPr/>
        </p:nvSpPr>
        <p:spPr>
          <a:xfrm>
            <a:off x="512064" y="4727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4"/>
          <p:cNvSpPr txBox="1"/>
          <p:nvPr/>
        </p:nvSpPr>
        <p:spPr>
          <a:xfrm>
            <a:off x="978408" y="4709160"/>
            <a:ext cx="4919472" cy="552704"/>
          </a:xfrm>
          <a:prstGeom prst="rect">
            <a:avLst/>
          </a:prstGeom>
          <a:noFill/>
          <a:ln/>
        </p:spPr>
        <p:txBody>
          <a:bodyPr wrap="square" lIns="25400" tIns="0" rIns="0" bIns="0" rtlCol="0" anchor="t"/>
          <a:lstStyle/>
          <a:p>
            <a:pPr indent="0" marL="0">
              <a:buNone/>
            </a:pPr>
            <a:r>
              <a:rPr lang="en-US" sz="1400" b="1" dirty="0">
                <a:solidFill>
                  <a:schemeClr val="tx1"/>
                </a:solidFill>
              </a:rPr>
              <a:t>Chọn khách:</a:t>
            </a:r>
            <a:pPr indent="0" marL="0">
              <a:buNone/>
            </a:pPr>
            <a:r>
              <a:rPr lang="en-US" sz="1400" dirty="0">
                <a:solidFill>
                  <a:schemeClr val="tx1"/>
                </a:solidFill>
              </a:rPr>
              <a:t> tab Ghi nợ → bấm "Chọn khách…", gõ tên hoặc số điện thoại. Khách mới: gõ tên rồi chọn Thêm khách "…".</a:t>
            </a:r>
            <a:endParaRPr lang="en-US" sz="1400" dirty="0"/>
          </a:p>
        </p:txBody>
      </p:sp>
      <p:sp>
        <p:nvSpPr>
          <p:cNvPr id="8" name="pay-debt-khung"/>
          <p:cNvSpPr/>
          <p:nvPr/>
        </p:nvSpPr>
        <p:spPr>
          <a:xfrm>
            <a:off x="7332786" y="1216152"/>
            <a:ext cx="3348109" cy="328269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9" name="pay-debt" descr="pay-debt">    </p:cNvPr>
          <p:cNvPicPr>
            <a:picLocks noChangeAspect="1"/>
          </p:cNvPicPr>
          <p:nvPr/>
        </p:nvPicPr>
        <p:blipFill>
          <a:blip r:embed="rId2"/>
          <a:stretch>
            <a:fillRect/>
          </a:stretch>
        </p:blipFill>
        <p:spPr>
          <a:xfrm>
            <a:off x="7351074" y="1234440"/>
            <a:ext cx="3311533" cy="3246120"/>
          </a:xfrm>
          <a:prstGeom prst="rect">
            <a:avLst/>
          </a:prstGeom>
        </p:spPr>
      </p:pic>
      <p:sp>
        <p:nvSpPr>
          <p:cNvPr id="10" name="so-2"/>
          <p:cNvSpPr txBox="1"/>
          <p:nvPr/>
        </p:nvSpPr>
        <p:spPr>
          <a:xfrm>
            <a:off x="6318504" y="4727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7"/>
          <p:cNvSpPr txBox="1"/>
          <p:nvPr/>
        </p:nvSpPr>
        <p:spPr>
          <a:xfrm>
            <a:off x="6784848" y="4709160"/>
            <a:ext cx="4919472" cy="769620"/>
          </a:xfrm>
          <a:prstGeom prst="rect">
            <a:avLst/>
          </a:prstGeom>
          <a:noFill/>
          <a:ln/>
        </p:spPr>
        <p:txBody>
          <a:bodyPr wrap="square" lIns="25400" tIns="0" rIns="0" bIns="0" rtlCol="0" anchor="t"/>
          <a:lstStyle/>
          <a:p>
            <a:pPr indent="0" marL="0">
              <a:buNone/>
            </a:pPr>
            <a:r>
              <a:rPr lang="en-US" sz="1400" b="1" dirty="0">
                <a:solidFill>
                  <a:schemeClr val="tx1"/>
                </a:solidFill>
              </a:rPr>
              <a:t>Kiểm tra rồi ghi nợ:</a:t>
            </a:r>
            <a:pPr indent="0" marL="0">
              <a:buNone/>
            </a:pPr>
            <a:r>
              <a:rPr lang="en-US" sz="1400" dirty="0">
                <a:solidFill>
                  <a:schemeClr val="tx1"/>
                </a:solidFill>
              </a:rPr>
              <a:t> khách trả trước một phần thì nhập ô "Khách trả trước". Xem Nợ cũ, Tổng nợ sau đơn → bấm Ghi nợ (Enter).</a:t>
            </a:r>
            <a:endParaRPr lang="en-US" sz="1400" dirty="0"/>
          </a:p>
        </p:txBody>
      </p:sp>
      <p:sp>
        <p:nvSpPr>
          <p:cNvPr id="12" name="meo"/>
          <p:cNvSpPr/>
          <p:nvPr/>
        </p:nvSpPr>
        <p:spPr>
          <a:xfrm>
            <a:off x="502920" y="5715000"/>
            <a:ext cx="11201400" cy="566928"/>
          </a:xfrm>
          <a:prstGeom prst="roundRect">
            <a:avLst>
              <a:gd name="adj" fmla="val 12903"/>
            </a:avLst>
          </a:prstGeom>
          <a:solidFill>
            <a:schemeClr val="accent1">
              <a:alpha val="10000"/>
            </a:schemeClr>
          </a:solidFill>
          <a:ln w="9525">
            <a:solidFill>
              <a:schemeClr val="accent1">
                <a:alpha val="45000"/>
              </a:schemeClr>
            </a:solidFill>
            <a:prstDash val="solid"/>
          </a:ln>
        </p:spPr>
      </p:sp>
      <p:pic>
        <p:nvPicPr>
          <p:cNvPr id="13" name="Image 2" descr="Mẹo">    </p:cNvPr>
          <p:cNvPicPr>
            <a:picLocks noChangeAspect="1"/>
          </p:cNvPicPr>
          <p:nvPr/>
        </p:nvPicPr>
        <p:blipFill>
          <a:blip r:embed="rId3"/>
          <a:stretch>
            <a:fillRect/>
          </a:stretch>
        </p:blipFill>
        <p:spPr>
          <a:xfrm>
            <a:off x="667512" y="5861304"/>
            <a:ext cx="274320" cy="274320"/>
          </a:xfrm>
          <a:prstGeom prst="rect">
            <a:avLst/>
          </a:prstGeom>
        </p:spPr>
      </p:pic>
      <p:sp>
        <p:nvSpPr>
          <p:cNvPr id="14" name="Text 9"/>
          <p:cNvSpPr txBox="1"/>
          <p:nvPr/>
        </p:nvSpPr>
        <p:spPr>
          <a:xfrm>
            <a:off x="1051560" y="5788152"/>
            <a:ext cx="10515600" cy="420624"/>
          </a:xfrm>
          <a:prstGeom prst="rect">
            <a:avLst/>
          </a:prstGeom>
          <a:noFill/>
          <a:ln/>
        </p:spPr>
        <p:txBody>
          <a:bodyPr wrap="square" lIns="0" tIns="0" rIns="0" bIns="0" rtlCol="0" anchor="ctr"/>
          <a:lstStyle/>
          <a:p>
            <a:pPr indent="0" marL="0">
              <a:buNone/>
            </a:pPr>
            <a:r>
              <a:rPr lang="en-US" sz="1300" dirty="0">
                <a:solidFill>
                  <a:schemeClr val="tx1"/>
                </a:solidFill>
              </a:rPr>
              <a:t>Hóa đơn ghi nợ in kèm Nợ cũ và Tổng nợ để khách biết. Thu tiền sau ở trang Khách hàng (phần 4).</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Sau khi thanh toán</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2 · Bán hàng</a:t>
            </a:r>
            <a:endParaRPr lang="en-US" sz="1200" dirty="0"/>
          </a:p>
        </p:txBody>
      </p:sp>
      <p:sp>
        <p:nvSpPr>
          <p:cNvPr id="4" name="sell-done-top-khung"/>
          <p:cNvSpPr/>
          <p:nvPr/>
        </p:nvSpPr>
        <p:spPr>
          <a:xfrm>
            <a:off x="484632" y="1216152"/>
            <a:ext cx="7454646" cy="203374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sell-done-top" descr="sell-done-top">    </p:cNvPr>
          <p:cNvPicPr>
            <a:picLocks noChangeAspect="1"/>
          </p:cNvPicPr>
          <p:nvPr/>
        </p:nvPicPr>
        <p:blipFill>
          <a:blip r:embed="rId1"/>
          <a:stretch>
            <a:fillRect/>
          </a:stretch>
        </p:blipFill>
        <p:spPr>
          <a:xfrm>
            <a:off x="502920" y="1234440"/>
            <a:ext cx="7418070" cy="1997173"/>
          </a:xfrm>
          <a:prstGeom prst="rect">
            <a:avLst/>
          </a:prstGeom>
        </p:spPr>
      </p:pic>
      <p:sp>
        <p:nvSpPr>
          <p:cNvPr id="6" name="so-1"/>
          <p:cNvSpPr txBox="1"/>
          <p:nvPr/>
        </p:nvSpPr>
        <p:spPr>
          <a:xfrm>
            <a:off x="512064" y="54132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4"/>
          <p:cNvSpPr txBox="1"/>
          <p:nvPr/>
        </p:nvSpPr>
        <p:spPr>
          <a:xfrm>
            <a:off x="978408" y="5394960"/>
            <a:ext cx="6942582" cy="552704"/>
          </a:xfrm>
          <a:prstGeom prst="rect">
            <a:avLst/>
          </a:prstGeom>
          <a:noFill/>
          <a:ln/>
        </p:spPr>
        <p:txBody>
          <a:bodyPr wrap="square" lIns="25400" tIns="0" rIns="0" bIns="0" rtlCol="0" anchor="t"/>
          <a:lstStyle/>
          <a:p>
            <a:pPr indent="0" marL="0">
              <a:buNone/>
            </a:pPr>
            <a:r>
              <a:rPr lang="en-US" sz="1400" b="1" dirty="0">
                <a:solidFill>
                  <a:schemeClr val="tx1"/>
                </a:solidFill>
              </a:rPr>
              <a:t>Khung xanh</a:t>
            </a:r>
            <a:pPr indent="0" marL="0">
              <a:buNone/>
            </a:pPr>
            <a:r>
              <a:rPr lang="en-US" sz="1400" dirty="0">
                <a:solidFill>
                  <a:schemeClr val="tx1"/>
                </a:solidFill>
              </a:rPr>
              <a:t> báo "Đã thanh toán HD-…" và số Tiền thối thật to để đưa khách. Cần in thêm: bấm "In lại". Quét món tiếp theo là sang đơn mới.</a:t>
            </a:r>
            <a:endParaRPr lang="en-US" sz="1400" dirty="0"/>
          </a:p>
        </p:txBody>
      </p:sp>
      <p:sp>
        <p:nvSpPr>
          <p:cNvPr id="8" name="receipt-print-khung"/>
          <p:cNvSpPr/>
          <p:nvPr/>
        </p:nvSpPr>
        <p:spPr>
          <a:xfrm>
            <a:off x="8608812" y="1216152"/>
            <a:ext cx="2819166" cy="396849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9" name="receipt-print" descr="receipt-print">    </p:cNvPr>
          <p:cNvPicPr>
            <a:picLocks noChangeAspect="1"/>
          </p:cNvPicPr>
          <p:nvPr/>
        </p:nvPicPr>
        <p:blipFill>
          <a:blip r:embed="rId2"/>
          <a:stretch>
            <a:fillRect/>
          </a:stretch>
        </p:blipFill>
        <p:spPr>
          <a:xfrm>
            <a:off x="8627100" y="1234440"/>
            <a:ext cx="2782590" cy="3931920"/>
          </a:xfrm>
          <a:prstGeom prst="rect">
            <a:avLst/>
          </a:prstGeom>
        </p:spPr>
      </p:pic>
      <p:sp>
        <p:nvSpPr>
          <p:cNvPr id="10" name="so-2"/>
          <p:cNvSpPr txBox="1"/>
          <p:nvPr/>
        </p:nvSpPr>
        <p:spPr>
          <a:xfrm>
            <a:off x="8341614" y="54132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7"/>
          <p:cNvSpPr txBox="1"/>
          <p:nvPr/>
        </p:nvSpPr>
        <p:spPr>
          <a:xfrm>
            <a:off x="8807958" y="5394960"/>
            <a:ext cx="2896362" cy="769620"/>
          </a:xfrm>
          <a:prstGeom prst="rect">
            <a:avLst/>
          </a:prstGeom>
          <a:noFill/>
          <a:ln/>
        </p:spPr>
        <p:txBody>
          <a:bodyPr wrap="square" lIns="25400" tIns="0" rIns="0" bIns="0" rtlCol="0" anchor="t"/>
          <a:lstStyle/>
          <a:p>
            <a:pPr indent="0" marL="0">
              <a:buNone/>
            </a:pPr>
            <a:r>
              <a:rPr lang="en-US" sz="1400" b="1" dirty="0">
                <a:solidFill>
                  <a:schemeClr val="tx1"/>
                </a:solidFill>
              </a:rPr>
              <a:t>Hóa đơn 80mm</a:t>
            </a:r>
            <a:pPr indent="0" marL="0">
              <a:buNone/>
            </a:pPr>
            <a:r>
              <a:rPr lang="en-US" sz="1400" dirty="0">
                <a:solidFill>
                  <a:schemeClr val="tx1"/>
                </a:solidFill>
              </a:rPr>
              <a:t> tự in sau khi thanh toán. Tắt / bật ở Cài đặt → In hóa đơn.</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Cất đơn chờ</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2 · Bán hàng</a:t>
            </a:r>
            <a:endParaRPr lang="en-US" sz="1200" dirty="0"/>
          </a:p>
        </p:txBody>
      </p:sp>
      <p:sp>
        <p:nvSpPr>
          <p:cNvPr id="4" name="sell-held-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sell-held" descr="sell-held">    </p:cNvPr>
          <p:cNvPicPr>
            <a:picLocks noChangeAspect="1"/>
          </p:cNvPicPr>
          <p:nvPr/>
        </p:nvPicPr>
        <p:blipFill>
          <a:blip r:embed="rId1"/>
          <a:stretch>
            <a:fillRect/>
          </a:stretch>
        </p:blipFill>
        <p:spPr>
          <a:xfrm>
            <a:off x="502920" y="1234440"/>
            <a:ext cx="7269480" cy="4089083"/>
          </a:xfrm>
          <a:prstGeom prst="rect">
            <a:avLst/>
          </a:prstGeom>
        </p:spPr>
      </p:pic>
      <p:sp>
        <p:nvSpPr>
          <p:cNvPr id="6" name="so-1"/>
          <p:cNvSpPr txBox="1"/>
          <p:nvPr/>
        </p:nvSpPr>
        <p:spPr>
          <a:xfrm>
            <a:off x="6047899" y="2849356"/>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o-3"/>
          <p:cNvSpPr txBox="1"/>
          <p:nvPr/>
        </p:nvSpPr>
        <p:spPr>
          <a:xfrm>
            <a:off x="3215831" y="181194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8" name="so-4"/>
          <p:cNvSpPr txBox="1"/>
          <p:nvPr/>
        </p:nvSpPr>
        <p:spPr>
          <a:xfrm>
            <a:off x="3927634" y="181194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9"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buoc-1"/>
          <p:cNvSpPr txBox="1"/>
          <p:nvPr/>
        </p:nvSpPr>
        <p:spPr>
          <a:xfrm>
            <a:off x="8567928" y="1280160"/>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Khách chưa mua xong</a:t>
            </a:r>
            <a:pPr indent="0" marL="0">
              <a:buNone/>
            </a:pPr>
            <a:r>
              <a:rPr lang="en-US" sz="1400" dirty="0">
                <a:solidFill>
                  <a:schemeClr val="tx1"/>
                </a:solidFill>
              </a:rPr>
              <a:t> (quên ví, đi lấy thêm đồ): bấm Cất chờ.</a:t>
            </a:r>
            <a:endParaRPr lang="en-US" sz="1400" dirty="0"/>
          </a:p>
        </p:txBody>
      </p:sp>
      <p:sp>
        <p:nvSpPr>
          <p:cNvPr id="11" name="so-2"/>
          <p:cNvSpPr txBox="1"/>
          <p:nvPr/>
        </p:nvSpPr>
        <p:spPr>
          <a:xfrm>
            <a:off x="8101584" y="19883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buoc-2"/>
          <p:cNvSpPr txBox="1"/>
          <p:nvPr/>
        </p:nvSpPr>
        <p:spPr>
          <a:xfrm>
            <a:off x="8567928" y="1970024"/>
            <a:ext cx="3136392" cy="329184"/>
          </a:xfrm>
          <a:prstGeom prst="rect">
            <a:avLst/>
          </a:prstGeom>
          <a:noFill/>
          <a:ln/>
        </p:spPr>
        <p:txBody>
          <a:bodyPr wrap="square" lIns="25400" tIns="0" rIns="0" bIns="0" rtlCol="0" anchor="t"/>
          <a:lstStyle/>
          <a:p>
            <a:pPr indent="0" marL="0">
              <a:buNone/>
            </a:pPr>
            <a:r>
              <a:rPr lang="en-US" sz="1400" b="1" dirty="0">
                <a:solidFill>
                  <a:schemeClr val="tx1"/>
                </a:solidFill>
              </a:rPr>
              <a:t>Giỏ trống ngay</a:t>
            </a:r>
            <a:pPr indent="0" marL="0">
              <a:buNone/>
            </a:pPr>
            <a:r>
              <a:rPr lang="en-US" sz="1400" dirty="0">
                <a:solidFill>
                  <a:schemeClr val="tx1"/>
                </a:solidFill>
              </a:rPr>
              <a:t> để bán cho khách sau.</a:t>
            </a:r>
            <a:endParaRPr lang="en-US" sz="1400" dirty="0"/>
          </a:p>
        </p:txBody>
      </p:sp>
      <p:sp>
        <p:nvSpPr>
          <p:cNvPr id="13" name="so-3"/>
          <p:cNvSpPr txBox="1"/>
          <p:nvPr/>
        </p:nvSpPr>
        <p:spPr>
          <a:xfrm>
            <a:off x="8101584" y="250037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4" name="buoc-3"/>
          <p:cNvSpPr txBox="1"/>
          <p:nvPr/>
        </p:nvSpPr>
        <p:spPr>
          <a:xfrm>
            <a:off x="8567928" y="2482088"/>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Khách quay lại:</a:t>
            </a:r>
            <a:pPr indent="0" marL="0">
              <a:buNone/>
            </a:pPr>
            <a:r>
              <a:rPr lang="en-US" sz="1400" dirty="0">
                <a:solidFill>
                  <a:schemeClr val="tx1"/>
                </a:solidFill>
              </a:rPr>
              <a:t> bấm thẻ "Chờ 1 · giờ · số tiền" để mở lại đơn.</a:t>
            </a:r>
            <a:endParaRPr lang="en-US" sz="1400" dirty="0"/>
          </a:p>
        </p:txBody>
      </p:sp>
      <p:sp>
        <p:nvSpPr>
          <p:cNvPr id="15" name="so-4"/>
          <p:cNvSpPr txBox="1"/>
          <p:nvPr/>
        </p:nvSpPr>
        <p:spPr>
          <a:xfrm>
            <a:off x="8101584" y="319024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buoc-4"/>
          <p:cNvSpPr txBox="1"/>
          <p:nvPr/>
        </p:nvSpPr>
        <p:spPr>
          <a:xfrm>
            <a:off x="8567928" y="3171952"/>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Bỏ đơn chờ:</a:t>
            </a:r>
            <a:pPr indent="0" marL="0">
              <a:buNone/>
            </a:pPr>
            <a:r>
              <a:rPr lang="en-US" sz="1400" dirty="0">
                <a:solidFill>
                  <a:schemeClr val="tx1"/>
                </a:solidFill>
              </a:rPr>
              <a:t> bấm × trên thẻ (có hỏi lại).</a:t>
            </a:r>
            <a:endParaRPr lang="en-US" sz="1400" dirty="0"/>
          </a:p>
        </p:txBody>
      </p:sp>
      <p:sp>
        <p:nvSpPr>
          <p:cNvPr id="17" name="meo"/>
          <p:cNvSpPr/>
          <p:nvPr/>
        </p:nvSpPr>
        <p:spPr>
          <a:xfrm>
            <a:off x="8092440" y="3953256"/>
            <a:ext cx="3611880" cy="860298"/>
          </a:xfrm>
          <a:prstGeom prst="roundRect">
            <a:avLst>
              <a:gd name="adj" fmla="val 8503"/>
            </a:avLst>
          </a:prstGeom>
          <a:solidFill>
            <a:schemeClr val="accent1">
              <a:alpha val="10000"/>
            </a:schemeClr>
          </a:solidFill>
          <a:ln w="9525">
            <a:solidFill>
              <a:schemeClr val="accent1">
                <a:alpha val="45000"/>
              </a:schemeClr>
            </a:solidFill>
            <a:prstDash val="solid"/>
          </a:ln>
        </p:spPr>
      </p:sp>
      <p:pic>
        <p:nvPicPr>
          <p:cNvPr id="18" name="Image 1" descr="Mẹo">    </p:cNvPr>
          <p:cNvPicPr>
            <a:picLocks noChangeAspect="1"/>
          </p:cNvPicPr>
          <p:nvPr/>
        </p:nvPicPr>
        <p:blipFill>
          <a:blip r:embed="rId2"/>
          <a:stretch>
            <a:fillRect/>
          </a:stretch>
        </p:blipFill>
        <p:spPr>
          <a:xfrm>
            <a:off x="8257032" y="4099560"/>
            <a:ext cx="274320" cy="274320"/>
          </a:xfrm>
          <a:prstGeom prst="rect">
            <a:avLst/>
          </a:prstGeom>
        </p:spPr>
      </p:pic>
      <p:sp>
        <p:nvSpPr>
          <p:cNvPr id="19" name="Text 15"/>
          <p:cNvSpPr txBox="1"/>
          <p:nvPr/>
        </p:nvSpPr>
        <p:spPr>
          <a:xfrm>
            <a:off x="8641080" y="4026408"/>
            <a:ext cx="2926080" cy="713994"/>
          </a:xfrm>
          <a:prstGeom prst="rect">
            <a:avLst/>
          </a:prstGeom>
          <a:noFill/>
          <a:ln/>
        </p:spPr>
        <p:txBody>
          <a:bodyPr wrap="square" lIns="0" tIns="0" rIns="0" bIns="0" rtlCol="0" anchor="ctr"/>
          <a:lstStyle/>
          <a:p>
            <a:pPr indent="0" marL="0">
              <a:buNone/>
            </a:pPr>
            <a:r>
              <a:rPr lang="en-US" sz="1300" dirty="0">
                <a:solidFill>
                  <a:schemeClr val="tx1"/>
                </a:solidFill>
              </a:rPr>
              <a:t>Tối đa 5 đơn chờ. Giỏ hàng và đơn chờ được giữ trên máy này, kể cả khi tắt máy hay mất điện.</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Cửa sổ quầy: chỉ có màn bán hàng</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2 · Bán hàng</a:t>
            </a:r>
            <a:endParaRPr lang="en-US" sz="1200" dirty="0"/>
          </a:p>
        </p:txBody>
      </p:sp>
      <p:sp>
        <p:nvSpPr>
          <p:cNvPr id="4" name="pos-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pos" descr="pos">    </p:cNvPr>
          <p:cNvPicPr>
            <a:picLocks noChangeAspect="1"/>
          </p:cNvPicPr>
          <p:nvPr/>
        </p:nvPicPr>
        <p:blipFill>
          <a:blip r:embed="rId1"/>
          <a:stretch>
            <a:fillRect/>
          </a:stretch>
        </p:blipFill>
        <p:spPr>
          <a:xfrm>
            <a:off x="502920" y="1234440"/>
            <a:ext cx="7269480" cy="4089083"/>
          </a:xfrm>
          <a:prstGeom prst="rect">
            <a:avLst/>
          </a:prstGeom>
        </p:spPr>
      </p:pic>
      <p:sp>
        <p:nvSpPr>
          <p:cNvPr id="6"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8567928" y="1280160"/>
            <a:ext cx="3136392" cy="723900"/>
          </a:xfrm>
          <a:prstGeom prst="rect">
            <a:avLst/>
          </a:prstGeom>
          <a:noFill/>
          <a:ln/>
        </p:spPr>
        <p:txBody>
          <a:bodyPr wrap="square" lIns="25400" tIns="0" rIns="0" bIns="0" rtlCol="0" anchor="t"/>
          <a:lstStyle/>
          <a:p>
            <a:pPr indent="0" marL="0">
              <a:buNone/>
            </a:pPr>
            <a:r>
              <a:rPr lang="en-US" sz="1400" b="1" dirty="0">
                <a:solidFill>
                  <a:schemeClr val="tx1"/>
                </a:solidFill>
              </a:rPr>
              <a:t>Trên trang Bán hàng bấm "Cửa sổ quầy"</a:t>
            </a:r>
            <a:pPr indent="0" marL="0">
              <a:buNone/>
            </a:pPr>
            <a:r>
              <a:rPr lang="en-US" sz="1400" dirty="0">
                <a:solidFill>
                  <a:schemeClr val="tx1"/>
                </a:solidFill>
              </a:rPr>
              <a:t> (góc trên bên phải): mở cửa sổ chỉ có màn bán hàng, không có menu.</a:t>
            </a:r>
            <a:endParaRPr lang="en-US" sz="1400" dirty="0"/>
          </a:p>
        </p:txBody>
      </p:sp>
      <p:sp>
        <p:nvSpPr>
          <p:cNvPr id="8" name="so-2"/>
          <p:cNvSpPr txBox="1"/>
          <p:nvPr/>
        </p:nvSpPr>
        <p:spPr>
          <a:xfrm>
            <a:off x="8101584" y="220522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8567928" y="2186940"/>
            <a:ext cx="3136392" cy="723900"/>
          </a:xfrm>
          <a:prstGeom prst="rect">
            <a:avLst/>
          </a:prstGeom>
          <a:noFill/>
          <a:ln/>
        </p:spPr>
        <p:txBody>
          <a:bodyPr wrap="square" lIns="25400" tIns="0" rIns="0" bIns="0" rtlCol="0" anchor="t"/>
          <a:lstStyle/>
          <a:p>
            <a:pPr indent="0" marL="0">
              <a:buNone/>
            </a:pPr>
            <a:r>
              <a:rPr lang="en-US" sz="1400" b="1" dirty="0">
                <a:solidFill>
                  <a:schemeClr val="tx1"/>
                </a:solidFill>
              </a:rPr>
              <a:t>Cửa sổ cũ tự chuyển sang Tổng quan</a:t>
            </a:r>
            <a:pPr indent="0" marL="0">
              <a:buNone/>
            </a:pPr>
            <a:r>
              <a:rPr lang="en-US" sz="1400" dirty="0">
                <a:solidFill>
                  <a:schemeClr val="tx1"/>
                </a:solidFill>
              </a:rPr>
              <a:t> để xem số liệu. Hai cửa sổ dùng chung giỏ hàng.</a:t>
            </a:r>
            <a:endParaRPr lang="en-US" sz="1400" dirty="0"/>
          </a:p>
        </p:txBody>
      </p:sp>
      <p:sp>
        <p:nvSpPr>
          <p:cNvPr id="10" name="so-3"/>
          <p:cNvSpPr txBox="1"/>
          <p:nvPr/>
        </p:nvSpPr>
        <p:spPr>
          <a:xfrm>
            <a:off x="8101584" y="311200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8567928" y="3093720"/>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Nút "Quản lý"</a:t>
            </a:r>
            <a:pPr indent="0" marL="0">
              <a:buNone/>
            </a:pPr>
            <a:r>
              <a:rPr lang="en-US" sz="1400" dirty="0">
                <a:solidFill>
                  <a:schemeClr val="tx1"/>
                </a:solidFill>
              </a:rPr>
              <a:t> ở góc trên cùng để quay lại màn có menu.</a:t>
            </a:r>
            <a:endParaRPr lang="en-US" sz="1400" dirty="0"/>
          </a:p>
        </p:txBody>
      </p:sp>
      <p:sp>
        <p:nvSpPr>
          <p:cNvPr id="12" name="so-4"/>
          <p:cNvSpPr txBox="1"/>
          <p:nvPr/>
        </p:nvSpPr>
        <p:spPr>
          <a:xfrm>
            <a:off x="8101584" y="380187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8567928" y="3783584"/>
            <a:ext cx="3136392" cy="940816"/>
          </a:xfrm>
          <a:prstGeom prst="rect">
            <a:avLst/>
          </a:prstGeom>
          <a:noFill/>
          <a:ln/>
        </p:spPr>
        <p:txBody>
          <a:bodyPr wrap="square" lIns="25400" tIns="0" rIns="0" bIns="0" rtlCol="0" anchor="t"/>
          <a:lstStyle/>
          <a:p>
            <a:pPr indent="0" marL="0">
              <a:buNone/>
            </a:pPr>
            <a:r>
              <a:rPr lang="en-US" sz="1400" b="1" dirty="0">
                <a:solidFill>
                  <a:schemeClr val="tx1"/>
                </a:solidFill>
              </a:rPr>
              <a:t>Muốn bật máy là vào thẳng cửa sổ quầy:</a:t>
            </a:r>
            <a:pPr indent="0" marL="0">
              <a:buNone/>
            </a:pPr>
            <a:r>
              <a:rPr lang="en-US" sz="1400" dirty="0">
                <a:solidFill>
                  <a:schemeClr val="tx1"/>
                </a:solidFill>
              </a:rPr>
              <a:t> Cài đặt → Giao diện (trên máy này) → bật "Mở phần mềm vào thẳng cửa sổ quầy".</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1097280"/>
            <a:ext cx="2743200" cy="1188720"/>
          </a:xfrm>
          <a:prstGeom prst="rect">
            <a:avLst/>
          </a:prstGeom>
          <a:noFill/>
          <a:ln/>
        </p:spPr>
        <p:txBody>
          <a:bodyPr wrap="square" lIns="0" tIns="0" rIns="0" bIns="0" rtlCol="0" anchor="ctr"/>
          <a:lstStyle/>
          <a:p>
            <a:pPr indent="0" marL="0">
              <a:buNone/>
            </a:pPr>
            <a:r>
              <a:rPr lang="en-US" sz="8000" b="1" dirty="0">
                <a:solidFill>
                  <a:srgbClr val="FDBA74"/>
                </a:solidFill>
              </a:rPr>
              <a:t>03</a:t>
            </a:r>
            <a:endParaRPr lang="en-US" sz="8000" dirty="0"/>
          </a:p>
        </p:txBody>
      </p:sp>
      <p:sp>
        <p:nvSpPr>
          <p:cNvPr id="3" name="Text 0"/>
          <p:cNvSpPr/>
          <p:nvPr>
            <p:ph idx="100" type="title" hasCustomPrompt="1"/>
          </p:nvPr>
        </p:nvSpPr>
        <p:spPr>
          <a:xfrm>
            <a:off x="731520" y="2331720"/>
            <a:ext cx="5669280" cy="1463040"/>
          </a:xfrm>
          <a:prstGeom prst="rect">
            <a:avLst/>
          </a:prstGeom>
          <a:noFill/>
          <a:ln/>
        </p:spPr>
        <p:txBody>
          <a:bodyPr wrap="square" lIns="0" tIns="0" rIns="0" bIns="0" rtlCol="0" anchor="t"/>
          <a:lstStyle/>
          <a:p>
            <a:pPr algn="l" indent="0" marL="0">
              <a:buNone/>
            </a:pPr>
            <a:r>
              <a:rPr lang="en-US" sz="4400" b="1" dirty="0">
                <a:solidFill>
                  <a:schemeClr val="bg1"/>
                </a:solidFill>
              </a:rPr>
              <a:t>Hóa đơn và trả hàng</a:t>
            </a:r>
            <a:endParaRPr lang="en-US" sz="4400" dirty="0"/>
          </a:p>
        </p:txBody>
      </p:sp>
      <p:sp>
        <p:nvSpPr>
          <p:cNvPr id="4" name="Shape 2"/>
          <p:cNvSpPr/>
          <p:nvPr/>
        </p:nvSpPr>
        <p:spPr>
          <a:xfrm>
            <a:off x="6903720" y="1051560"/>
            <a:ext cx="4754880" cy="4754880"/>
          </a:xfrm>
          <a:prstGeom prst="roundRect">
            <a:avLst>
              <a:gd name="adj" fmla="val 3846"/>
            </a:avLst>
          </a:prstGeom>
          <a:solidFill>
            <a:schemeClr val="bg1">
              <a:alpha val="8000"/>
            </a:schemeClr>
          </a:solidFill>
          <a:ln w="9525">
            <a:solidFill>
              <a:schemeClr val="bg1">
                <a:alpha val="20000"/>
              </a:schemeClr>
            </a:solidFill>
            <a:prstDash val="solid"/>
          </a:ln>
        </p:spPr>
      </p:sp>
      <p:pic>
        <p:nvPicPr>
          <p:cNvPr id="5" name="Image 0" descr="Hóa đơn và trả hàng">    </p:cNvPr>
          <p:cNvPicPr>
            <a:picLocks noChangeAspect="1"/>
          </p:cNvPicPr>
          <p:nvPr/>
        </p:nvPicPr>
        <p:blipFill>
          <a:blip r:embed="rId1"/>
          <a:stretch>
            <a:fillRect/>
          </a:stretch>
        </p:blipFill>
        <p:spPr>
          <a:xfrm>
            <a:off x="7269480" y="1371600"/>
            <a:ext cx="548640" cy="548640"/>
          </a:xfrm>
          <a:prstGeom prst="rect">
            <a:avLst/>
          </a:prstGeom>
        </p:spPr>
      </p:pic>
      <p:sp>
        <p:nvSpPr>
          <p:cNvPr id="6" name="Text 3"/>
          <p:cNvSpPr txBox="1"/>
          <p:nvPr/>
        </p:nvSpPr>
        <p:spPr>
          <a:xfrm>
            <a:off x="8001000" y="1417320"/>
            <a:ext cx="3474720" cy="457200"/>
          </a:xfrm>
          <a:prstGeom prst="rect">
            <a:avLst/>
          </a:prstGeom>
          <a:noFill/>
          <a:ln/>
        </p:spPr>
        <p:txBody>
          <a:bodyPr wrap="square" lIns="0" tIns="0" rIns="0" bIns="0" rtlCol="0" anchor="ctr"/>
          <a:lstStyle/>
          <a:p>
            <a:pPr indent="0" marL="0">
              <a:buNone/>
            </a:pPr>
            <a:r>
              <a:rPr lang="en-US" sz="1600" b="1" dirty="0">
                <a:solidFill>
                  <a:schemeClr val="bg1"/>
                </a:solidFill>
              </a:rPr>
              <a:t>Trong phần này</a:t>
            </a:r>
            <a:endParaRPr lang="en-US" sz="1600" dirty="0"/>
          </a:p>
        </p:txBody>
      </p:sp>
      <p:sp>
        <p:nvSpPr>
          <p:cNvPr id="7" name="Text 4"/>
          <p:cNvSpPr txBox="1"/>
          <p:nvPr/>
        </p:nvSpPr>
        <p:spPr>
          <a:xfrm>
            <a:off x="7269480" y="2148840"/>
            <a:ext cx="4114800" cy="347472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chemeClr val="bg1"/>
                </a:solidFill>
              </a:rPr>
              <a:t>Xem lại và lọc hóa đơn</a:t>
            </a:r>
            <a:endParaRPr lang="en-US" sz="1700" dirty="0"/>
          </a:p>
          <a:p>
            <a:pPr marL="342900" indent="-342900">
              <a:spcAft>
                <a:spcPts val="900"/>
              </a:spcAft>
              <a:buSzPct val="100000"/>
              <a:buChar char="•"/>
            </a:pPr>
            <a:r>
              <a:rPr lang="en-US" sz="1700" dirty="0">
                <a:solidFill>
                  <a:schemeClr val="bg1"/>
                </a:solidFill>
              </a:rPr>
              <a:t>In lại, hủy hóa đơn</a:t>
            </a:r>
            <a:endParaRPr lang="en-US" sz="1700" dirty="0"/>
          </a:p>
          <a:p>
            <a:pPr marL="342900" indent="-342900">
              <a:spcAft>
                <a:spcPts val="900"/>
              </a:spcAft>
              <a:buSzPct val="100000"/>
              <a:buChar char="•"/>
            </a:pPr>
            <a:r>
              <a:rPr lang="en-US" sz="1700" dirty="0">
                <a:solidFill>
                  <a:schemeClr val="bg1"/>
                </a:solidFill>
              </a:rPr>
              <a:t>Khách trả hàng</a:t>
            </a:r>
            <a:endParaRPr lang="en-US" sz="1700" dirty="0"/>
          </a:p>
          <a:p>
            <a:pPr marL="342900" indent="-342900">
              <a:spcAft>
                <a:spcPts val="900"/>
              </a:spcAft>
              <a:buSzPct val="100000"/>
              <a:buChar char="•"/>
            </a:pPr>
            <a:r>
              <a:rPr lang="en-US" sz="1700" dirty="0">
                <a:solidFill>
                  <a:schemeClr val="bg1"/>
                </a:solidFill>
              </a:rPr>
              <a:t>Danh sách phiếu trả</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Xem lại hóa đơn</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3 · Hóa đơn</a:t>
            </a:r>
            <a:endParaRPr lang="en-US" sz="1200" dirty="0"/>
          </a:p>
        </p:txBody>
      </p:sp>
      <p:sp>
        <p:nvSpPr>
          <p:cNvPr id="4" name="orders-filter-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orders-filter" descr="orders-filter">    </p:cNvPr>
          <p:cNvPicPr>
            <a:picLocks noChangeAspect="1"/>
          </p:cNvPicPr>
          <p:nvPr/>
        </p:nvPicPr>
        <p:blipFill>
          <a:blip r:embed="rId1"/>
          <a:stretch>
            <a:fillRect/>
          </a:stretch>
        </p:blipFill>
        <p:spPr>
          <a:xfrm>
            <a:off x="502920" y="1234440"/>
            <a:ext cx="7269480" cy="4089083"/>
          </a:xfrm>
          <a:prstGeom prst="rect">
            <a:avLst/>
          </a:prstGeom>
        </p:spPr>
      </p:pic>
      <p:sp>
        <p:nvSpPr>
          <p:cNvPr id="6" name="so-1"/>
          <p:cNvSpPr txBox="1"/>
          <p:nvPr/>
        </p:nvSpPr>
        <p:spPr>
          <a:xfrm>
            <a:off x="1758148" y="149390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o-2"/>
          <p:cNvSpPr txBox="1"/>
          <p:nvPr/>
        </p:nvSpPr>
        <p:spPr>
          <a:xfrm>
            <a:off x="1852803" y="273577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8" name="so-3"/>
          <p:cNvSpPr txBox="1"/>
          <p:nvPr/>
        </p:nvSpPr>
        <p:spPr>
          <a:xfrm>
            <a:off x="6983087" y="273577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9" name="so-4"/>
          <p:cNvSpPr txBox="1"/>
          <p:nvPr/>
        </p:nvSpPr>
        <p:spPr>
          <a:xfrm>
            <a:off x="1777079" y="3493008"/>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0"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buoc-1"/>
          <p:cNvSpPr txBox="1"/>
          <p:nvPr/>
        </p:nvSpPr>
        <p:spPr>
          <a:xfrm>
            <a:off x="8567928" y="1280160"/>
            <a:ext cx="3136392" cy="723900"/>
          </a:xfrm>
          <a:prstGeom prst="rect">
            <a:avLst/>
          </a:prstGeom>
          <a:noFill/>
          <a:ln/>
        </p:spPr>
        <p:txBody>
          <a:bodyPr wrap="square" lIns="25400" tIns="0" rIns="0" bIns="0" rtlCol="0" anchor="t"/>
          <a:lstStyle/>
          <a:p>
            <a:pPr indent="0" marL="0">
              <a:buNone/>
            </a:pPr>
            <a:r>
              <a:rPr lang="en-US" sz="1400" b="1" dirty="0">
                <a:solidFill>
                  <a:schemeClr val="tx1"/>
                </a:solidFill>
              </a:rPr>
              <a:t>Số liệu</a:t>
            </a:r>
            <a:pPr indent="0" marL="0">
              <a:buNone/>
            </a:pPr>
            <a:r>
              <a:rPr lang="en-US" sz="1400" dirty="0">
                <a:solidFill>
                  <a:schemeClr val="tx1"/>
                </a:solidFill>
              </a:rPr>
              <a:t> của khoảng đang xem: số đơn, doanh thu, tiền mặt, chuyển khoản, ghi nợ, thu nợ.</a:t>
            </a:r>
            <a:endParaRPr lang="en-US" sz="1400" dirty="0"/>
          </a:p>
        </p:txBody>
      </p:sp>
      <p:sp>
        <p:nvSpPr>
          <p:cNvPr id="12" name="so-2"/>
          <p:cNvSpPr txBox="1"/>
          <p:nvPr/>
        </p:nvSpPr>
        <p:spPr>
          <a:xfrm>
            <a:off x="8101584" y="220522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buoc-2"/>
          <p:cNvSpPr txBox="1"/>
          <p:nvPr/>
        </p:nvSpPr>
        <p:spPr>
          <a:xfrm>
            <a:off x="8567928" y="2186940"/>
            <a:ext cx="3136392" cy="329184"/>
          </a:xfrm>
          <a:prstGeom prst="rect">
            <a:avLst/>
          </a:prstGeom>
          <a:noFill/>
          <a:ln/>
        </p:spPr>
        <p:txBody>
          <a:bodyPr wrap="square" lIns="25400" tIns="0" rIns="0" bIns="0" rtlCol="0" anchor="t"/>
          <a:lstStyle/>
          <a:p>
            <a:pPr indent="0" marL="0">
              <a:buNone/>
            </a:pPr>
            <a:r>
              <a:rPr lang="en-US" sz="1400" b="1" dirty="0">
                <a:solidFill>
                  <a:schemeClr val="tx1"/>
                </a:solidFill>
              </a:rPr>
              <a:t>Tìm</a:t>
            </a:r>
            <a:pPr indent="0" marL="0">
              <a:buNone/>
            </a:pPr>
            <a:r>
              <a:rPr lang="en-US" sz="1400" dirty="0">
                <a:solidFill>
                  <a:schemeClr val="tx1"/>
                </a:solidFill>
              </a:rPr>
              <a:t> theo mã hóa đơn hoặc tên hàng.</a:t>
            </a:r>
            <a:endParaRPr lang="en-US" sz="1400" dirty="0"/>
          </a:p>
        </p:txBody>
      </p:sp>
      <p:sp>
        <p:nvSpPr>
          <p:cNvPr id="14" name="so-3"/>
          <p:cNvSpPr txBox="1"/>
          <p:nvPr/>
        </p:nvSpPr>
        <p:spPr>
          <a:xfrm>
            <a:off x="8101584" y="271729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buoc-3"/>
          <p:cNvSpPr txBox="1"/>
          <p:nvPr/>
        </p:nvSpPr>
        <p:spPr>
          <a:xfrm>
            <a:off x="8567928" y="2699004"/>
            <a:ext cx="3136392" cy="723900"/>
          </a:xfrm>
          <a:prstGeom prst="rect">
            <a:avLst/>
          </a:prstGeom>
          <a:noFill/>
          <a:ln/>
        </p:spPr>
        <p:txBody>
          <a:bodyPr wrap="square" lIns="25400" tIns="0" rIns="0" bIns="0" rtlCol="0" anchor="t"/>
          <a:lstStyle/>
          <a:p>
            <a:pPr indent="0" marL="0">
              <a:buNone/>
            </a:pPr>
            <a:r>
              <a:rPr lang="en-US" sz="1400" b="1" dirty="0">
                <a:solidFill>
                  <a:schemeClr val="tx1"/>
                </a:solidFill>
              </a:rPr>
              <a:t>Bộ lọc:</a:t>
            </a:r>
            <a:pPr indent="0" marL="0">
              <a:buNone/>
            </a:pPr>
            <a:r>
              <a:rPr lang="en-US" sz="1400" dirty="0">
                <a:solidFill>
                  <a:schemeClr val="tx1"/>
                </a:solidFill>
              </a:rPr>
              <a:t> thời gian (mặc định Hôm nay), cách thanh toán, trạng thái, khách ghi nợ.</a:t>
            </a:r>
            <a:endParaRPr lang="en-US" sz="1400" dirty="0"/>
          </a:p>
        </p:txBody>
      </p:sp>
      <p:sp>
        <p:nvSpPr>
          <p:cNvPr id="16" name="so-4"/>
          <p:cNvSpPr txBox="1"/>
          <p:nvPr/>
        </p:nvSpPr>
        <p:spPr>
          <a:xfrm>
            <a:off x="8101584" y="362407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7" name="buoc-4"/>
          <p:cNvSpPr txBox="1"/>
          <p:nvPr/>
        </p:nvSpPr>
        <p:spPr>
          <a:xfrm>
            <a:off x="8567928" y="3605784"/>
            <a:ext cx="3136392" cy="329184"/>
          </a:xfrm>
          <a:prstGeom prst="rect">
            <a:avLst/>
          </a:prstGeom>
          <a:noFill/>
          <a:ln/>
        </p:spPr>
        <p:txBody>
          <a:bodyPr wrap="square" lIns="25400" tIns="0" rIns="0" bIns="0" rtlCol="0" anchor="t"/>
          <a:lstStyle/>
          <a:p>
            <a:pPr indent="0" marL="0">
              <a:buNone/>
            </a:pPr>
            <a:r>
              <a:rPr lang="en-US" sz="1400" b="1" dirty="0">
                <a:solidFill>
                  <a:schemeClr val="tx1"/>
                </a:solidFill>
              </a:rPr>
              <a:t>Bấm một dòng</a:t>
            </a:r>
            <a:pPr indent="0" marL="0">
              <a:buNone/>
            </a:pPr>
            <a:r>
              <a:rPr lang="en-US" sz="1400" dirty="0">
                <a:solidFill>
                  <a:schemeClr val="tx1"/>
                </a:solidFill>
              </a:rPr>
              <a:t> để xem chi tiết hóa đơn.</a:t>
            </a:r>
            <a:endParaRPr lang="en-US" sz="1400" dirty="0"/>
          </a:p>
        </p:txBody>
      </p:sp>
      <p:sp>
        <p:nvSpPr>
          <p:cNvPr id="18" name="meo"/>
          <p:cNvSpPr/>
          <p:nvPr/>
        </p:nvSpPr>
        <p:spPr>
          <a:xfrm>
            <a:off x="8092440" y="4209288"/>
            <a:ext cx="3611880" cy="658876"/>
          </a:xfrm>
          <a:prstGeom prst="roundRect">
            <a:avLst>
              <a:gd name="adj" fmla="val 11103"/>
            </a:avLst>
          </a:prstGeom>
          <a:solidFill>
            <a:schemeClr val="accent1">
              <a:alpha val="10000"/>
            </a:schemeClr>
          </a:solidFill>
          <a:ln w="9525">
            <a:solidFill>
              <a:schemeClr val="accent1">
                <a:alpha val="45000"/>
              </a:schemeClr>
            </a:solidFill>
            <a:prstDash val="solid"/>
          </a:ln>
        </p:spPr>
      </p:sp>
      <p:pic>
        <p:nvPicPr>
          <p:cNvPr id="19" name="Image 1" descr="Mẹo">    </p:cNvPr>
          <p:cNvPicPr>
            <a:picLocks noChangeAspect="1"/>
          </p:cNvPicPr>
          <p:nvPr/>
        </p:nvPicPr>
        <p:blipFill>
          <a:blip r:embed="rId2"/>
          <a:stretch>
            <a:fillRect/>
          </a:stretch>
        </p:blipFill>
        <p:spPr>
          <a:xfrm>
            <a:off x="8257032" y="4355592"/>
            <a:ext cx="274320" cy="274320"/>
          </a:xfrm>
          <a:prstGeom prst="rect">
            <a:avLst/>
          </a:prstGeom>
        </p:spPr>
      </p:pic>
      <p:sp>
        <p:nvSpPr>
          <p:cNvPr id="20" name="Text 16"/>
          <p:cNvSpPr txBox="1"/>
          <p:nvPr/>
        </p:nvSpPr>
        <p:spPr>
          <a:xfrm>
            <a:off x="8641080" y="4282440"/>
            <a:ext cx="2926080" cy="512572"/>
          </a:xfrm>
          <a:prstGeom prst="rect">
            <a:avLst/>
          </a:prstGeom>
          <a:noFill/>
          <a:ln/>
        </p:spPr>
        <p:txBody>
          <a:bodyPr wrap="square" lIns="0" tIns="0" rIns="0" bIns="0" rtlCol="0" anchor="ctr"/>
          <a:lstStyle/>
          <a:p>
            <a:pPr indent="0" marL="0">
              <a:buNone/>
            </a:pPr>
            <a:r>
              <a:rPr lang="en-US" sz="1300" dirty="0">
                <a:solidFill>
                  <a:schemeClr val="tx1"/>
                </a:solidFill>
              </a:rPr>
              <a:t>Nút "Xuất Excel" xuất đúng danh sách đang lọc, mở được bằng Excel.</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Chi tiết, in lại và hủy hóa đơn</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3 · Hóa đơn</a:t>
            </a:r>
            <a:endParaRPr lang="en-US" sz="1200" dirty="0"/>
          </a:p>
        </p:txBody>
      </p:sp>
      <p:sp>
        <p:nvSpPr>
          <p:cNvPr id="4" name="order-detail-khung"/>
          <p:cNvSpPr/>
          <p:nvPr/>
        </p:nvSpPr>
        <p:spPr>
          <a:xfrm>
            <a:off x="789944" y="1216152"/>
            <a:ext cx="4272273" cy="502005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order-detail" descr="order-detail">    </p:cNvPr>
          <p:cNvPicPr>
            <a:picLocks noChangeAspect="1"/>
          </p:cNvPicPr>
          <p:nvPr/>
        </p:nvPicPr>
        <p:blipFill>
          <a:blip r:embed="rId1"/>
          <a:stretch>
            <a:fillRect/>
          </a:stretch>
        </p:blipFill>
        <p:spPr>
          <a:xfrm>
            <a:off x="808232" y="1234440"/>
            <a:ext cx="4235697" cy="4983480"/>
          </a:xfrm>
          <a:prstGeom prst="rect">
            <a:avLst/>
          </a:prstGeom>
        </p:spPr>
      </p:pic>
      <p:sp>
        <p:nvSpPr>
          <p:cNvPr id="6" name="so-1"/>
          <p:cNvSpPr txBox="1"/>
          <p:nvPr/>
        </p:nvSpPr>
        <p:spPr>
          <a:xfrm>
            <a:off x="576986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6236208" y="1280160"/>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In lại:</a:t>
            </a:r>
            <a:pPr indent="0" marL="0">
              <a:buNone/>
            </a:pPr>
            <a:r>
              <a:rPr lang="en-US" sz="1400" dirty="0">
                <a:solidFill>
                  <a:schemeClr val="tx1"/>
                </a:solidFill>
              </a:rPr>
              <a:t> in lại hóa đơn cho khách.</a:t>
            </a:r>
            <a:endParaRPr lang="en-US" sz="1400" dirty="0"/>
          </a:p>
        </p:txBody>
      </p:sp>
      <p:sp>
        <p:nvSpPr>
          <p:cNvPr id="8" name="so-2"/>
          <p:cNvSpPr txBox="1"/>
          <p:nvPr/>
        </p:nvSpPr>
        <p:spPr>
          <a:xfrm>
            <a:off x="5769864" y="18105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6236208" y="1792224"/>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Trả hàng:</a:t>
            </a:r>
            <a:pPr indent="0" marL="0">
              <a:buNone/>
            </a:pPr>
            <a:r>
              <a:rPr lang="en-US" sz="1400" dirty="0">
                <a:solidFill>
                  <a:schemeClr val="tx1"/>
                </a:solidFill>
              </a:rPr>
              <a:t> khách trả một phần hoặc cả đơn (trang sau).</a:t>
            </a:r>
            <a:endParaRPr lang="en-US" sz="1400" dirty="0"/>
          </a:p>
        </p:txBody>
      </p:sp>
      <p:sp>
        <p:nvSpPr>
          <p:cNvPr id="10" name="so-3"/>
          <p:cNvSpPr txBox="1"/>
          <p:nvPr/>
        </p:nvSpPr>
        <p:spPr>
          <a:xfrm>
            <a:off x="5769864" y="232257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6236208" y="2304288"/>
            <a:ext cx="5468112" cy="723900"/>
          </a:xfrm>
          <a:prstGeom prst="rect">
            <a:avLst/>
          </a:prstGeom>
          <a:noFill/>
          <a:ln/>
        </p:spPr>
        <p:txBody>
          <a:bodyPr wrap="square" lIns="25400" tIns="0" rIns="0" bIns="0" rtlCol="0" anchor="t"/>
          <a:lstStyle/>
          <a:p>
            <a:pPr indent="0" marL="0">
              <a:buNone/>
            </a:pPr>
            <a:r>
              <a:rPr lang="en-US" sz="1400" b="1" dirty="0">
                <a:solidFill>
                  <a:schemeClr val="tx1"/>
                </a:solidFill>
              </a:rPr>
              <a:t>Hủy đơn:</a:t>
            </a:r>
            <a:pPr indent="0" marL="0">
              <a:buNone/>
            </a:pPr>
            <a:r>
              <a:rPr lang="en-US" sz="1400" dirty="0">
                <a:solidFill>
                  <a:schemeClr val="tx1"/>
                </a:solidFill>
              </a:rPr>
              <a:t> hàng về lại kho, tiền khách trả trước được hoàn, nợ được xóa. Đơn vẫn còn trong danh sách với nhãn "Đã hủy" và không tính vào doanh thu.</a:t>
            </a:r>
            <a:endParaRPr lang="en-US" sz="1400" dirty="0"/>
          </a:p>
        </p:txBody>
      </p:sp>
      <p:sp>
        <p:nvSpPr>
          <p:cNvPr id="12" name="so-4"/>
          <p:cNvSpPr txBox="1"/>
          <p:nvPr/>
        </p:nvSpPr>
        <p:spPr>
          <a:xfrm>
            <a:off x="5769864" y="322935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6236208" y="3211068"/>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Hóa đơn không sửa được.</a:t>
            </a:r>
            <a:pPr indent="0" marL="0">
              <a:buNone/>
            </a:pPr>
            <a:r>
              <a:rPr lang="en-US" sz="1400" dirty="0">
                <a:solidFill>
                  <a:schemeClr val="tx1"/>
                </a:solidFill>
              </a:rPr>
              <a:t> Bán nhầm thì hủy đơn rồi bán lại.</a:t>
            </a:r>
            <a:endParaRPr lang="en-US" sz="1400" dirty="0"/>
          </a:p>
        </p:txBody>
      </p:sp>
      <p:sp>
        <p:nvSpPr>
          <p:cNvPr id="14" name="luu-y"/>
          <p:cNvSpPr/>
          <p:nvPr/>
        </p:nvSpPr>
        <p:spPr>
          <a:xfrm>
            <a:off x="5760720" y="3814572"/>
            <a:ext cx="5943600" cy="658876"/>
          </a:xfrm>
          <a:prstGeom prst="roundRect">
            <a:avLst>
              <a:gd name="adj" fmla="val 11103"/>
            </a:avLst>
          </a:prstGeom>
          <a:solidFill>
            <a:schemeClr val="accent2">
              <a:alpha val="10000"/>
            </a:schemeClr>
          </a:solidFill>
          <a:ln w="9525">
            <a:solidFill>
              <a:schemeClr val="accent2">
                <a:alpha val="45000"/>
              </a:schemeClr>
            </a:solidFill>
            <a:prstDash val="solid"/>
          </a:ln>
        </p:spPr>
      </p:sp>
      <p:pic>
        <p:nvPicPr>
          <p:cNvPr id="15" name="Image 1" descr="Lưu ý">    </p:cNvPr>
          <p:cNvPicPr>
            <a:picLocks noChangeAspect="1"/>
          </p:cNvPicPr>
          <p:nvPr/>
        </p:nvPicPr>
        <p:blipFill>
          <a:blip r:embed="rId2"/>
          <a:stretch>
            <a:fillRect/>
          </a:stretch>
        </p:blipFill>
        <p:spPr>
          <a:xfrm>
            <a:off x="5925312" y="3960876"/>
            <a:ext cx="274320" cy="274320"/>
          </a:xfrm>
          <a:prstGeom prst="rect">
            <a:avLst/>
          </a:prstGeom>
        </p:spPr>
      </p:pic>
      <p:sp>
        <p:nvSpPr>
          <p:cNvPr id="16" name="Text 12"/>
          <p:cNvSpPr txBox="1"/>
          <p:nvPr/>
        </p:nvSpPr>
        <p:spPr>
          <a:xfrm>
            <a:off x="6309360" y="3887724"/>
            <a:ext cx="5257800" cy="512572"/>
          </a:xfrm>
          <a:prstGeom prst="rect">
            <a:avLst/>
          </a:prstGeom>
          <a:noFill/>
          <a:ln/>
        </p:spPr>
        <p:txBody>
          <a:bodyPr wrap="square" lIns="0" tIns="0" rIns="0" bIns="0" rtlCol="0" anchor="ctr"/>
          <a:lstStyle/>
          <a:p>
            <a:pPr indent="0" marL="0">
              <a:buNone/>
            </a:pPr>
            <a:r>
              <a:rPr lang="en-US" sz="1300" dirty="0">
                <a:solidFill>
                  <a:schemeClr val="tx1"/>
                </a:solidFill>
              </a:rPr>
              <a:t>Đơn đã có phiếu trả hàng thì phải hủy phiếu trả trước, rồi mới hủy được đơn.</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Khách trả hàng</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3 · Hóa đơn</a:t>
            </a:r>
            <a:endParaRPr lang="en-US" sz="1200" dirty="0"/>
          </a:p>
        </p:txBody>
      </p:sp>
      <p:sp>
        <p:nvSpPr>
          <p:cNvPr id="4" name="return-dialog-khung"/>
          <p:cNvSpPr/>
          <p:nvPr/>
        </p:nvSpPr>
        <p:spPr>
          <a:xfrm>
            <a:off x="842719" y="1216152"/>
            <a:ext cx="5264003" cy="502005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return-dialog" descr="return-dialog">    </p:cNvPr>
          <p:cNvPicPr>
            <a:picLocks noChangeAspect="1"/>
          </p:cNvPicPr>
          <p:nvPr/>
        </p:nvPicPr>
        <p:blipFill>
          <a:blip r:embed="rId1"/>
          <a:stretch>
            <a:fillRect/>
          </a:stretch>
        </p:blipFill>
        <p:spPr>
          <a:xfrm>
            <a:off x="861007" y="1234440"/>
            <a:ext cx="5227427" cy="4983480"/>
          </a:xfrm>
          <a:prstGeom prst="rect">
            <a:avLst/>
          </a:prstGeom>
        </p:spPr>
      </p:pic>
      <p:sp>
        <p:nvSpPr>
          <p:cNvPr id="6" name="so-1"/>
          <p:cNvSpPr txBox="1"/>
          <p:nvPr/>
        </p:nvSpPr>
        <p:spPr>
          <a:xfrm>
            <a:off x="682142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7287768" y="1280160"/>
            <a:ext cx="4416552" cy="329184"/>
          </a:xfrm>
          <a:prstGeom prst="rect">
            <a:avLst/>
          </a:prstGeom>
          <a:noFill/>
          <a:ln/>
        </p:spPr>
        <p:txBody>
          <a:bodyPr wrap="square" lIns="25400" tIns="0" rIns="0" bIns="0" rtlCol="0" anchor="t"/>
          <a:lstStyle/>
          <a:p>
            <a:pPr indent="0" marL="0">
              <a:buNone/>
            </a:pPr>
            <a:r>
              <a:rPr lang="en-US" sz="1400" b="1" dirty="0">
                <a:solidFill>
                  <a:schemeClr val="tx1"/>
                </a:solidFill>
              </a:rPr>
              <a:t>Hóa đơn → bấm vào đơn → Trả hàng.</a:t>
            </a:r>
            <a:endParaRPr lang="en-US" sz="1400" dirty="0"/>
          </a:p>
        </p:txBody>
      </p:sp>
      <p:sp>
        <p:nvSpPr>
          <p:cNvPr id="8" name="so-2"/>
          <p:cNvSpPr txBox="1"/>
          <p:nvPr/>
        </p:nvSpPr>
        <p:spPr>
          <a:xfrm>
            <a:off x="6821424" y="18105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7287768" y="1792224"/>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Chọn số lượng trả</a:t>
            </a:r>
            <a:pPr indent="0" marL="0">
              <a:buNone/>
            </a:pPr>
            <a:r>
              <a:rPr lang="en-US" sz="1400" dirty="0">
                <a:solidFill>
                  <a:schemeClr val="tx1"/>
                </a:solidFill>
              </a:rPr>
              <a:t> từng món bằng − / +. Nút "Trả hết" điền tất cả.</a:t>
            </a:r>
            <a:endParaRPr lang="en-US" sz="1400" dirty="0"/>
          </a:p>
        </p:txBody>
      </p:sp>
      <p:sp>
        <p:nvSpPr>
          <p:cNvPr id="10" name="so-3"/>
          <p:cNvSpPr txBox="1"/>
          <p:nvPr/>
        </p:nvSpPr>
        <p:spPr>
          <a:xfrm>
            <a:off x="6821424" y="250037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7287768" y="2482088"/>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Hàng hỏng, hết hạn:</a:t>
            </a:r>
            <a:pPr indent="0" marL="0">
              <a:buNone/>
            </a:pPr>
            <a:r>
              <a:rPr lang="en-US" sz="1400" dirty="0">
                <a:solidFill>
                  <a:schemeClr val="tx1"/>
                </a:solidFill>
              </a:rPr>
              <a:t> bỏ chọn "Nhập lại kho" để không cộng vào tồn.</a:t>
            </a:r>
            <a:endParaRPr lang="en-US" sz="1400" dirty="0"/>
          </a:p>
        </p:txBody>
      </p:sp>
      <p:sp>
        <p:nvSpPr>
          <p:cNvPr id="12" name="so-4"/>
          <p:cNvSpPr txBox="1"/>
          <p:nvPr/>
        </p:nvSpPr>
        <p:spPr>
          <a:xfrm>
            <a:off x="6821424" y="319024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7287768" y="3171952"/>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Ghi lý do</a:t>
            </a:r>
            <a:pPr indent="0" marL="0">
              <a:buNone/>
            </a:pPr>
            <a:r>
              <a:rPr lang="en-US" sz="1400" dirty="0">
                <a:solidFill>
                  <a:schemeClr val="tx1"/>
                </a:solidFill>
              </a:rPr>
              <a:t> (không bắt buộc) → "Lập phiếu trả". Phiếu có mã TH-…, in được.</a:t>
            </a:r>
            <a:endParaRPr lang="en-US" sz="1400" dirty="0"/>
          </a:p>
        </p:txBody>
      </p:sp>
      <p:sp>
        <p:nvSpPr>
          <p:cNvPr id="14" name="meo"/>
          <p:cNvSpPr/>
          <p:nvPr/>
        </p:nvSpPr>
        <p:spPr>
          <a:xfrm>
            <a:off x="6812280" y="3953256"/>
            <a:ext cx="4892040" cy="658876"/>
          </a:xfrm>
          <a:prstGeom prst="roundRect">
            <a:avLst>
              <a:gd name="adj" fmla="val 11103"/>
            </a:avLst>
          </a:prstGeom>
          <a:solidFill>
            <a:schemeClr val="accent1">
              <a:alpha val="10000"/>
            </a:schemeClr>
          </a:solidFill>
          <a:ln w="9525">
            <a:solidFill>
              <a:schemeClr val="accent1">
                <a:alpha val="45000"/>
              </a:schemeClr>
            </a:solidFill>
            <a:prstDash val="solid"/>
          </a:ln>
        </p:spPr>
      </p:sp>
      <p:pic>
        <p:nvPicPr>
          <p:cNvPr id="15" name="Image 1" descr="Mẹo">    </p:cNvPr>
          <p:cNvPicPr>
            <a:picLocks noChangeAspect="1"/>
          </p:cNvPicPr>
          <p:nvPr/>
        </p:nvPicPr>
        <p:blipFill>
          <a:blip r:embed="rId2"/>
          <a:stretch>
            <a:fillRect/>
          </a:stretch>
        </p:blipFill>
        <p:spPr>
          <a:xfrm>
            <a:off x="6976872" y="4099560"/>
            <a:ext cx="274320" cy="274320"/>
          </a:xfrm>
          <a:prstGeom prst="rect">
            <a:avLst/>
          </a:prstGeom>
        </p:spPr>
      </p:pic>
      <p:sp>
        <p:nvSpPr>
          <p:cNvPr id="16" name="Text 12"/>
          <p:cNvSpPr txBox="1"/>
          <p:nvPr/>
        </p:nvSpPr>
        <p:spPr>
          <a:xfrm>
            <a:off x="7360920" y="4026408"/>
            <a:ext cx="4206240" cy="512572"/>
          </a:xfrm>
          <a:prstGeom prst="rect">
            <a:avLst/>
          </a:prstGeom>
          <a:noFill/>
          <a:ln/>
        </p:spPr>
        <p:txBody>
          <a:bodyPr wrap="square" lIns="0" tIns="0" rIns="0" bIns="0" rtlCol="0" anchor="ctr"/>
          <a:lstStyle/>
          <a:p>
            <a:pPr indent="0" marL="0">
              <a:buNone/>
            </a:pPr>
            <a:r>
              <a:rPr lang="en-US" sz="1300" dirty="0">
                <a:solidFill>
                  <a:schemeClr val="tx1"/>
                </a:solidFill>
              </a:rPr>
              <a:t>Tiền hoàn tính theo giá sau giảm giá. Đơn ghi nợ: trừ vào nợ của khách trước, phần còn lại trả tiền mặt.</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Danh sách phiếu trả</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3 · Hóa đơn</a:t>
            </a:r>
            <a:endParaRPr lang="en-US" sz="1200" dirty="0"/>
          </a:p>
        </p:txBody>
      </p:sp>
      <p:sp>
        <p:nvSpPr>
          <p:cNvPr id="4" name="returns-khung"/>
          <p:cNvSpPr/>
          <p:nvPr/>
        </p:nvSpPr>
        <p:spPr>
          <a:xfrm>
            <a:off x="797247" y="1216152"/>
            <a:ext cx="6051296" cy="341985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returns" descr="returns">    </p:cNvPr>
          <p:cNvPicPr>
            <a:picLocks noChangeAspect="1"/>
          </p:cNvPicPr>
          <p:nvPr/>
        </p:nvPicPr>
        <p:blipFill>
          <a:blip r:embed="rId1"/>
          <a:stretch>
            <a:fillRect/>
          </a:stretch>
        </p:blipFill>
        <p:spPr>
          <a:xfrm>
            <a:off x="815535" y="1234440"/>
            <a:ext cx="6014720" cy="3383280"/>
          </a:xfrm>
          <a:prstGeom prst="rect">
            <a:avLst/>
          </a:prstGeom>
        </p:spPr>
      </p:pic>
      <p:sp>
        <p:nvSpPr>
          <p:cNvPr id="6" name="so-1"/>
          <p:cNvSpPr txBox="1"/>
          <p:nvPr/>
        </p:nvSpPr>
        <p:spPr>
          <a:xfrm>
            <a:off x="512064" y="486460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4"/>
          <p:cNvSpPr txBox="1"/>
          <p:nvPr/>
        </p:nvSpPr>
        <p:spPr>
          <a:xfrm>
            <a:off x="978408" y="4846320"/>
            <a:ext cx="6164463" cy="552704"/>
          </a:xfrm>
          <a:prstGeom prst="rect">
            <a:avLst/>
          </a:prstGeom>
          <a:noFill/>
          <a:ln/>
        </p:spPr>
        <p:txBody>
          <a:bodyPr wrap="square" lIns="25400" tIns="0" rIns="0" bIns="0" rtlCol="0" anchor="t"/>
          <a:lstStyle/>
          <a:p>
            <a:pPr indent="0" marL="0">
              <a:buNone/>
            </a:pPr>
            <a:r>
              <a:rPr lang="en-US" sz="1400" b="1" dirty="0">
                <a:solidFill>
                  <a:schemeClr val="tx1"/>
                </a:solidFill>
              </a:rPr>
              <a:t>Menu Trả hàng:</a:t>
            </a:r>
            <a:pPr indent="0" marL="0">
              <a:buNone/>
            </a:pPr>
            <a:r>
              <a:rPr lang="en-US" sz="1400" dirty="0">
                <a:solidFill>
                  <a:schemeClr val="tx1"/>
                </a:solidFill>
              </a:rPr>
              <a:t> xem phiếu theo ngày, tổng tiền hoàn, hoàn tiền mặt (tiền chi ra từ két) và trừ nợ.</a:t>
            </a:r>
            <a:endParaRPr lang="en-US" sz="1400" dirty="0"/>
          </a:p>
        </p:txBody>
      </p:sp>
      <p:sp>
        <p:nvSpPr>
          <p:cNvPr id="8" name="return-detail-khung"/>
          <p:cNvSpPr/>
          <p:nvPr/>
        </p:nvSpPr>
        <p:spPr>
          <a:xfrm>
            <a:off x="7536063" y="1361431"/>
            <a:ext cx="4186545" cy="3274577"/>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9" name="return-detail" descr="return-detail">    </p:cNvPr>
          <p:cNvPicPr>
            <a:picLocks noChangeAspect="1"/>
          </p:cNvPicPr>
          <p:nvPr/>
        </p:nvPicPr>
        <p:blipFill>
          <a:blip r:embed="rId2"/>
          <a:stretch>
            <a:fillRect/>
          </a:stretch>
        </p:blipFill>
        <p:spPr>
          <a:xfrm>
            <a:off x="7554351" y="1379719"/>
            <a:ext cx="4149969" cy="3238001"/>
          </a:xfrm>
          <a:prstGeom prst="rect">
            <a:avLst/>
          </a:prstGeom>
        </p:spPr>
      </p:pic>
      <p:sp>
        <p:nvSpPr>
          <p:cNvPr id="10" name="so-2"/>
          <p:cNvSpPr txBox="1"/>
          <p:nvPr/>
        </p:nvSpPr>
        <p:spPr>
          <a:xfrm>
            <a:off x="7563495" y="486460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7"/>
          <p:cNvSpPr txBox="1"/>
          <p:nvPr/>
        </p:nvSpPr>
        <p:spPr>
          <a:xfrm>
            <a:off x="8029839" y="4846320"/>
            <a:ext cx="3674481" cy="552704"/>
          </a:xfrm>
          <a:prstGeom prst="rect">
            <a:avLst/>
          </a:prstGeom>
          <a:noFill/>
          <a:ln/>
        </p:spPr>
        <p:txBody>
          <a:bodyPr wrap="square" lIns="25400" tIns="0" rIns="0" bIns="0" rtlCol="0" anchor="t"/>
          <a:lstStyle/>
          <a:p>
            <a:pPr indent="0" marL="0">
              <a:buNone/>
            </a:pPr>
            <a:r>
              <a:rPr lang="en-US" sz="1400" b="1" dirty="0">
                <a:solidFill>
                  <a:schemeClr val="tx1"/>
                </a:solidFill>
              </a:rPr>
              <a:t>Bấm một phiếu:</a:t>
            </a:r>
            <a:pPr indent="0" marL="0">
              <a:buNone/>
            </a:pPr>
            <a:r>
              <a:rPr lang="en-US" sz="1400" dirty="0">
                <a:solidFill>
                  <a:schemeClr val="tx1"/>
                </a:solidFill>
              </a:rPr>
              <a:t> In phiếu, hoặc Hủy phiếu (tồn bị trừ lại, nợ đã trừ được cộng lại).</a:t>
            </a:r>
            <a:endParaRPr lang="en-US" sz="1400" dirty="0"/>
          </a:p>
        </p:txBody>
      </p:sp>
      <p:sp>
        <p:nvSpPr>
          <p:cNvPr id="12" name="meo"/>
          <p:cNvSpPr/>
          <p:nvPr/>
        </p:nvSpPr>
        <p:spPr>
          <a:xfrm>
            <a:off x="502920" y="5715000"/>
            <a:ext cx="11201400" cy="566928"/>
          </a:xfrm>
          <a:prstGeom prst="roundRect">
            <a:avLst>
              <a:gd name="adj" fmla="val 12903"/>
            </a:avLst>
          </a:prstGeom>
          <a:solidFill>
            <a:schemeClr val="accent1">
              <a:alpha val="10000"/>
            </a:schemeClr>
          </a:solidFill>
          <a:ln w="9525">
            <a:solidFill>
              <a:schemeClr val="accent1">
                <a:alpha val="45000"/>
              </a:schemeClr>
            </a:solidFill>
            <a:prstDash val="solid"/>
          </a:ln>
        </p:spPr>
      </p:sp>
      <p:pic>
        <p:nvPicPr>
          <p:cNvPr id="13" name="Image 2" descr="Mẹo">    </p:cNvPr>
          <p:cNvPicPr>
            <a:picLocks noChangeAspect="1"/>
          </p:cNvPicPr>
          <p:nvPr/>
        </p:nvPicPr>
        <p:blipFill>
          <a:blip r:embed="rId3"/>
          <a:stretch>
            <a:fillRect/>
          </a:stretch>
        </p:blipFill>
        <p:spPr>
          <a:xfrm>
            <a:off x="667512" y="5861304"/>
            <a:ext cx="274320" cy="274320"/>
          </a:xfrm>
          <a:prstGeom prst="rect">
            <a:avLst/>
          </a:prstGeom>
        </p:spPr>
      </p:pic>
      <p:sp>
        <p:nvSpPr>
          <p:cNvPr id="14" name="Text 9"/>
          <p:cNvSpPr txBox="1"/>
          <p:nvPr/>
        </p:nvSpPr>
        <p:spPr>
          <a:xfrm>
            <a:off x="1051560" y="5788152"/>
            <a:ext cx="10515600" cy="420624"/>
          </a:xfrm>
          <a:prstGeom prst="rect">
            <a:avLst/>
          </a:prstGeom>
          <a:noFill/>
          <a:ln/>
        </p:spPr>
        <p:txBody>
          <a:bodyPr wrap="square" lIns="0" tIns="0" rIns="0" bIns="0" rtlCol="0" anchor="ctr"/>
          <a:lstStyle/>
          <a:p>
            <a:pPr indent="0" marL="0">
              <a:buNone/>
            </a:pPr>
            <a:r>
              <a:rPr lang="en-US" sz="1300" dirty="0">
                <a:solidFill>
                  <a:schemeClr val="tx1"/>
                </a:solidFill>
              </a:rPr>
              <a:t>Phiếu trả tính vào ngày khách trả, không phải ngày mua.</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31520" y="1097280"/>
            <a:ext cx="2743200" cy="1188720"/>
          </a:xfrm>
          <a:prstGeom prst="rect">
            <a:avLst/>
          </a:prstGeom>
          <a:noFill/>
          <a:ln/>
        </p:spPr>
        <p:txBody>
          <a:bodyPr wrap="square" lIns="0" tIns="0" rIns="0" bIns="0" rtlCol="0" anchor="ctr"/>
          <a:lstStyle/>
          <a:p>
            <a:pPr indent="0" marL="0">
              <a:buNone/>
            </a:pPr>
            <a:r>
              <a:rPr lang="en-US" sz="8000" b="1" dirty="0">
                <a:solidFill>
                  <a:srgbClr val="FDBA74"/>
                </a:solidFill>
              </a:rPr>
              <a:t>04</a:t>
            </a:r>
            <a:endParaRPr lang="en-US" sz="8000" dirty="0"/>
          </a:p>
        </p:txBody>
      </p:sp>
      <p:sp>
        <p:nvSpPr>
          <p:cNvPr id="3" name="Text 0"/>
          <p:cNvSpPr/>
          <p:nvPr>
            <p:ph idx="100" type="title" hasCustomPrompt="1"/>
          </p:nvPr>
        </p:nvSpPr>
        <p:spPr>
          <a:xfrm>
            <a:off x="731520" y="2331720"/>
            <a:ext cx="5669280" cy="1463040"/>
          </a:xfrm>
          <a:prstGeom prst="rect">
            <a:avLst/>
          </a:prstGeom>
          <a:noFill/>
          <a:ln/>
        </p:spPr>
        <p:txBody>
          <a:bodyPr wrap="square" lIns="0" tIns="0" rIns="0" bIns="0" rtlCol="0" anchor="t"/>
          <a:lstStyle/>
          <a:p>
            <a:pPr algn="l" indent="0" marL="0">
              <a:buNone/>
            </a:pPr>
            <a:r>
              <a:rPr lang="en-US" sz="4400" b="1" dirty="0">
                <a:solidFill>
                  <a:schemeClr val="bg1"/>
                </a:solidFill>
              </a:rPr>
              <a:t>Khách hàng và công nợ</a:t>
            </a:r>
            <a:endParaRPr lang="en-US" sz="4400" dirty="0"/>
          </a:p>
        </p:txBody>
      </p:sp>
      <p:sp>
        <p:nvSpPr>
          <p:cNvPr id="4" name="Shape 2"/>
          <p:cNvSpPr/>
          <p:nvPr/>
        </p:nvSpPr>
        <p:spPr>
          <a:xfrm>
            <a:off x="6903720" y="1051560"/>
            <a:ext cx="4754880" cy="4754880"/>
          </a:xfrm>
          <a:prstGeom prst="roundRect">
            <a:avLst>
              <a:gd name="adj" fmla="val 3846"/>
            </a:avLst>
          </a:prstGeom>
          <a:solidFill>
            <a:schemeClr val="bg1">
              <a:alpha val="8000"/>
            </a:schemeClr>
          </a:solidFill>
          <a:ln w="9525">
            <a:solidFill>
              <a:schemeClr val="bg1">
                <a:alpha val="20000"/>
              </a:schemeClr>
            </a:solidFill>
            <a:prstDash val="solid"/>
          </a:ln>
        </p:spPr>
      </p:sp>
      <p:pic>
        <p:nvPicPr>
          <p:cNvPr id="5" name="Image 0" descr="Khách hàng và công nợ">    </p:cNvPr>
          <p:cNvPicPr>
            <a:picLocks noChangeAspect="1"/>
          </p:cNvPicPr>
          <p:nvPr/>
        </p:nvPicPr>
        <p:blipFill>
          <a:blip r:embed="rId1"/>
          <a:stretch>
            <a:fillRect/>
          </a:stretch>
        </p:blipFill>
        <p:spPr>
          <a:xfrm>
            <a:off x="7269480" y="1371600"/>
            <a:ext cx="548640" cy="548640"/>
          </a:xfrm>
          <a:prstGeom prst="rect">
            <a:avLst/>
          </a:prstGeom>
        </p:spPr>
      </p:pic>
      <p:sp>
        <p:nvSpPr>
          <p:cNvPr id="6" name="Text 3"/>
          <p:cNvSpPr txBox="1"/>
          <p:nvPr/>
        </p:nvSpPr>
        <p:spPr>
          <a:xfrm>
            <a:off x="8001000" y="1417320"/>
            <a:ext cx="3474720" cy="457200"/>
          </a:xfrm>
          <a:prstGeom prst="rect">
            <a:avLst/>
          </a:prstGeom>
          <a:noFill/>
          <a:ln/>
        </p:spPr>
        <p:txBody>
          <a:bodyPr wrap="square" lIns="0" tIns="0" rIns="0" bIns="0" rtlCol="0" anchor="ctr"/>
          <a:lstStyle/>
          <a:p>
            <a:pPr indent="0" marL="0">
              <a:buNone/>
            </a:pPr>
            <a:r>
              <a:rPr lang="en-US" sz="1600" b="1" dirty="0">
                <a:solidFill>
                  <a:schemeClr val="bg1"/>
                </a:solidFill>
              </a:rPr>
              <a:t>Trong phần này</a:t>
            </a:r>
            <a:endParaRPr lang="en-US" sz="1600" dirty="0"/>
          </a:p>
        </p:txBody>
      </p:sp>
      <p:sp>
        <p:nvSpPr>
          <p:cNvPr id="7" name="Text 4"/>
          <p:cNvSpPr txBox="1"/>
          <p:nvPr/>
        </p:nvSpPr>
        <p:spPr>
          <a:xfrm>
            <a:off x="7269480" y="2148840"/>
            <a:ext cx="4114800" cy="347472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chemeClr val="bg1"/>
                </a:solidFill>
              </a:rPr>
              <a:t>Danh sách khách, thêm khách</a:t>
            </a:r>
            <a:endParaRPr lang="en-US" sz="1700" dirty="0"/>
          </a:p>
          <a:p>
            <a:pPr marL="342900" indent="-342900">
              <a:spcAft>
                <a:spcPts val="900"/>
              </a:spcAft>
              <a:buSzPct val="100000"/>
              <a:buChar char="•"/>
            </a:pPr>
            <a:r>
              <a:rPr lang="en-US" sz="1700" dirty="0">
                <a:solidFill>
                  <a:schemeClr val="bg1"/>
                </a:solidFill>
              </a:rPr>
              <a:t>Sổ nợ của từng khách</a:t>
            </a:r>
            <a:endParaRPr lang="en-US" sz="1700" dirty="0"/>
          </a:p>
          <a:p>
            <a:pPr marL="342900" indent="-342900">
              <a:spcAft>
                <a:spcPts val="900"/>
              </a:spcAft>
              <a:buSzPct val="100000"/>
              <a:buChar char="•"/>
            </a:pPr>
            <a:r>
              <a:rPr lang="en-US" sz="1700" dirty="0">
                <a:solidFill>
                  <a:schemeClr val="bg1"/>
                </a:solidFill>
              </a:rPr>
              <a:t>Thu nợ, ghi nợ tay</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Danh sách khách hàng</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4 · Khách hàng</a:t>
            </a:r>
            <a:endParaRPr lang="en-US" sz="1200" dirty="0"/>
          </a:p>
        </p:txBody>
      </p:sp>
      <p:sp>
        <p:nvSpPr>
          <p:cNvPr id="4" name="customers-khung"/>
          <p:cNvSpPr/>
          <p:nvPr/>
        </p:nvSpPr>
        <p:spPr>
          <a:xfrm>
            <a:off x="910428" y="1216152"/>
            <a:ext cx="6051296" cy="341985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customers" descr="customers">    </p:cNvPr>
          <p:cNvPicPr>
            <a:picLocks noChangeAspect="1"/>
          </p:cNvPicPr>
          <p:nvPr/>
        </p:nvPicPr>
        <p:blipFill>
          <a:blip r:embed="rId1"/>
          <a:stretch>
            <a:fillRect/>
          </a:stretch>
        </p:blipFill>
        <p:spPr>
          <a:xfrm>
            <a:off x="928716" y="1234440"/>
            <a:ext cx="6014720" cy="3383280"/>
          </a:xfrm>
          <a:prstGeom prst="rect">
            <a:avLst/>
          </a:prstGeom>
        </p:spPr>
      </p:pic>
      <p:sp>
        <p:nvSpPr>
          <p:cNvPr id="6" name="so-1"/>
          <p:cNvSpPr txBox="1"/>
          <p:nvPr/>
        </p:nvSpPr>
        <p:spPr>
          <a:xfrm>
            <a:off x="512064" y="486460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4"/>
          <p:cNvSpPr txBox="1"/>
          <p:nvPr/>
        </p:nvSpPr>
        <p:spPr>
          <a:xfrm>
            <a:off x="978408" y="4846320"/>
            <a:ext cx="6390825" cy="552704"/>
          </a:xfrm>
          <a:prstGeom prst="rect">
            <a:avLst/>
          </a:prstGeom>
          <a:noFill/>
          <a:ln/>
        </p:spPr>
        <p:txBody>
          <a:bodyPr wrap="square" lIns="25400" tIns="0" rIns="0" bIns="0" rtlCol="0" anchor="t"/>
          <a:lstStyle/>
          <a:p>
            <a:pPr indent="0" marL="0">
              <a:buNone/>
            </a:pPr>
            <a:r>
              <a:rPr lang="en-US" sz="1400" b="1" dirty="0">
                <a:solidFill>
                  <a:schemeClr val="tx1"/>
                </a:solidFill>
              </a:rPr>
              <a:t>Khách hàng:</a:t>
            </a:r>
            <a:pPr indent="0" marL="0">
              <a:buNone/>
            </a:pPr>
            <a:r>
              <a:rPr lang="en-US" sz="1400" dirty="0">
                <a:solidFill>
                  <a:schemeClr val="tx1"/>
                </a:solidFill>
              </a:rPr>
              <a:t> tổng nợ phải thu, số khách đang nợ. Bộ lọc: "Chỉ người đang nợ", sắp xếp Nợ nhiều nhất / Giao dịch gần nhất.</a:t>
            </a:r>
            <a:endParaRPr lang="en-US" sz="1400" dirty="0"/>
          </a:p>
        </p:txBody>
      </p:sp>
      <p:sp>
        <p:nvSpPr>
          <p:cNvPr id="8" name="customer-form-khung"/>
          <p:cNvSpPr/>
          <p:nvPr/>
        </p:nvSpPr>
        <p:spPr>
          <a:xfrm>
            <a:off x="8193391" y="1216152"/>
            <a:ext cx="3098251" cy="341985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9" name="customer-form" descr="customer-form">    </p:cNvPr>
          <p:cNvPicPr>
            <a:picLocks noChangeAspect="1"/>
          </p:cNvPicPr>
          <p:nvPr/>
        </p:nvPicPr>
        <p:blipFill>
          <a:blip r:embed="rId2"/>
          <a:stretch>
            <a:fillRect/>
          </a:stretch>
        </p:blipFill>
        <p:spPr>
          <a:xfrm>
            <a:off x="8211679" y="1234440"/>
            <a:ext cx="3061675" cy="3383280"/>
          </a:xfrm>
          <a:prstGeom prst="rect">
            <a:avLst/>
          </a:prstGeom>
        </p:spPr>
      </p:pic>
      <p:sp>
        <p:nvSpPr>
          <p:cNvPr id="10" name="so-2"/>
          <p:cNvSpPr txBox="1"/>
          <p:nvPr/>
        </p:nvSpPr>
        <p:spPr>
          <a:xfrm>
            <a:off x="7789857" y="486460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7"/>
          <p:cNvSpPr txBox="1"/>
          <p:nvPr/>
        </p:nvSpPr>
        <p:spPr>
          <a:xfrm>
            <a:off x="8256201" y="4846320"/>
            <a:ext cx="3448119" cy="769620"/>
          </a:xfrm>
          <a:prstGeom prst="rect">
            <a:avLst/>
          </a:prstGeom>
          <a:noFill/>
          <a:ln/>
        </p:spPr>
        <p:txBody>
          <a:bodyPr wrap="square" lIns="25400" tIns="0" rIns="0" bIns="0" rtlCol="0" anchor="t"/>
          <a:lstStyle/>
          <a:p>
            <a:pPr indent="0" marL="0">
              <a:buNone/>
            </a:pPr>
            <a:r>
              <a:rPr lang="en-US" sz="1400" b="1" dirty="0">
                <a:solidFill>
                  <a:schemeClr val="tx1"/>
                </a:solidFill>
              </a:rPr>
              <a:t>Thêm khách:</a:t>
            </a:r>
            <a:pPr indent="0" marL="0">
              <a:buNone/>
            </a:pPr>
            <a:r>
              <a:rPr lang="en-US" sz="1400" dirty="0">
                <a:solidFill>
                  <a:schemeClr val="tx1"/>
                </a:solidFill>
              </a:rPr>
              <a:t> Tên, Số điện thoại, Ghi chú. "Nợ đầu kỳ" = số khách đang nợ trong sổ giấy.</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Sổ nợ của khách</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4 · Khách hàng</a:t>
            </a:r>
            <a:endParaRPr lang="en-US" sz="1200" dirty="0"/>
          </a:p>
        </p:txBody>
      </p:sp>
      <p:sp>
        <p:nvSpPr>
          <p:cNvPr id="4" name="customer-detail-khung"/>
          <p:cNvSpPr/>
          <p:nvPr/>
        </p:nvSpPr>
        <p:spPr>
          <a:xfrm>
            <a:off x="484632" y="1216152"/>
            <a:ext cx="4882896" cy="4721352"/>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customer-detail" descr="customer-detail">    </p:cNvPr>
          <p:cNvPicPr>
            <a:picLocks noChangeAspect="1"/>
          </p:cNvPicPr>
          <p:nvPr/>
        </p:nvPicPr>
        <p:blipFill>
          <a:blip r:embed="rId1"/>
          <a:stretch>
            <a:fillRect/>
          </a:stretch>
        </p:blipFill>
        <p:spPr>
          <a:xfrm>
            <a:off x="502920" y="1234440"/>
            <a:ext cx="4846320" cy="4684776"/>
          </a:xfrm>
          <a:prstGeom prst="rect">
            <a:avLst/>
          </a:prstGeom>
        </p:spPr>
      </p:pic>
      <p:sp>
        <p:nvSpPr>
          <p:cNvPr id="6" name="so-1"/>
          <p:cNvSpPr txBox="1"/>
          <p:nvPr/>
        </p:nvSpPr>
        <p:spPr>
          <a:xfrm>
            <a:off x="576986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6236208" y="1280160"/>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Bấm tên khách</a:t>
            </a:r>
            <a:pPr indent="0" marL="0">
              <a:buNone/>
            </a:pPr>
            <a:r>
              <a:rPr lang="en-US" sz="1400" dirty="0">
                <a:solidFill>
                  <a:schemeClr val="tx1"/>
                </a:solidFill>
              </a:rPr>
              <a:t> để mở sổ nợ. Số to màu đỏ là số khách đang nợ.</a:t>
            </a:r>
            <a:endParaRPr lang="en-US" sz="1400" dirty="0"/>
          </a:p>
        </p:txBody>
      </p:sp>
      <p:sp>
        <p:nvSpPr>
          <p:cNvPr id="8" name="so-2"/>
          <p:cNvSpPr txBox="1"/>
          <p:nvPr/>
        </p:nvSpPr>
        <p:spPr>
          <a:xfrm>
            <a:off x="5769864" y="18105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6236208" y="1792224"/>
            <a:ext cx="5468112" cy="723900"/>
          </a:xfrm>
          <a:prstGeom prst="rect">
            <a:avLst/>
          </a:prstGeom>
          <a:noFill/>
          <a:ln/>
        </p:spPr>
        <p:txBody>
          <a:bodyPr wrap="square" lIns="25400" tIns="0" rIns="0" bIns="0" rtlCol="0" anchor="t"/>
          <a:lstStyle/>
          <a:p>
            <a:pPr indent="0" marL="0">
              <a:buNone/>
            </a:pPr>
            <a:r>
              <a:rPr lang="en-US" sz="1400" b="1" dirty="0">
                <a:solidFill>
                  <a:schemeClr val="tx1"/>
                </a:solidFill>
              </a:rPr>
              <a:t>Mỗi dòng là một lần thay đổi:</a:t>
            </a:r>
            <a:pPr indent="0" marL="0">
              <a:buNone/>
            </a:pPr>
            <a:r>
              <a:rPr lang="en-US" sz="1400" dirty="0">
                <a:solidFill>
                  <a:schemeClr val="tx1"/>
                </a:solidFill>
              </a:rPr>
              <a:t> Mua chịu (+), Thu nợ tiền mặt / CK (−), Trả hàng (−), Hủy đơn (−), Ghi nợ tay (+), Nợ đầu kỳ. Cột phải ghi số nợ còn lại.</a:t>
            </a:r>
            <a:endParaRPr lang="en-US" sz="1400" dirty="0"/>
          </a:p>
        </p:txBody>
      </p:sp>
      <p:sp>
        <p:nvSpPr>
          <p:cNvPr id="10" name="so-3"/>
          <p:cNvSpPr txBox="1"/>
          <p:nvPr/>
        </p:nvSpPr>
        <p:spPr>
          <a:xfrm>
            <a:off x="5769864" y="271729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6236208" y="2699004"/>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Bấm mã HD-…</a:t>
            </a:r>
            <a:pPr indent="0" marL="0">
              <a:buNone/>
            </a:pPr>
            <a:r>
              <a:rPr lang="en-US" sz="1400" dirty="0">
                <a:solidFill>
                  <a:schemeClr val="tx1"/>
                </a:solidFill>
              </a:rPr>
              <a:t> để mở hóa đơn đã mua chịu.</a:t>
            </a:r>
            <a:endParaRPr lang="en-US" sz="1400" dirty="0"/>
          </a:p>
        </p:txBody>
      </p:sp>
      <p:sp>
        <p:nvSpPr>
          <p:cNvPr id="12" name="so-4"/>
          <p:cNvSpPr txBox="1"/>
          <p:nvPr/>
        </p:nvSpPr>
        <p:spPr>
          <a:xfrm>
            <a:off x="5769864" y="322935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6236208" y="3211068"/>
            <a:ext cx="5468112" cy="506984"/>
          </a:xfrm>
          <a:prstGeom prst="rect">
            <a:avLst/>
          </a:prstGeom>
          <a:noFill/>
          <a:ln/>
        </p:spPr>
        <p:txBody>
          <a:bodyPr wrap="square" lIns="25400" tIns="0" rIns="0" bIns="0" rtlCol="0" anchor="t"/>
          <a:lstStyle/>
          <a:p>
            <a:pPr indent="0" marL="0">
              <a:buNone/>
            </a:pPr>
            <a:r>
              <a:rPr lang="en-US" sz="1400" b="1" dirty="0">
                <a:solidFill>
                  <a:schemeClr val="tx1"/>
                </a:solidFill>
              </a:rPr>
              <a:t>Nút Thu nợ, Ghi nợ tay, Sửa.</a:t>
            </a:r>
            <a:pPr indent="0" marL="0">
              <a:buNone/>
            </a:pPr>
            <a:r>
              <a:rPr lang="en-US" sz="1400" dirty="0">
                <a:solidFill>
                  <a:schemeClr val="tx1"/>
                </a:solidFill>
              </a:rPr>
              <a:t> Nút Xóa chỉ hiện khi khách hết nợ; sổ nợ cũ vẫn được giữ.</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Thu nợ và ghi nợ tay</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4 · Khách hàng</a:t>
            </a:r>
            <a:endParaRPr lang="en-US" sz="1200" dirty="0"/>
          </a:p>
        </p:txBody>
      </p:sp>
      <p:sp>
        <p:nvSpPr>
          <p:cNvPr id="4" name="collect-debt-khung"/>
          <p:cNvSpPr/>
          <p:nvPr/>
        </p:nvSpPr>
        <p:spPr>
          <a:xfrm>
            <a:off x="484632" y="1216152"/>
            <a:ext cx="4882896" cy="4129477"/>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collect-debt" descr="collect-debt">    </p:cNvPr>
          <p:cNvPicPr>
            <a:picLocks noChangeAspect="1"/>
          </p:cNvPicPr>
          <p:nvPr/>
        </p:nvPicPr>
        <p:blipFill>
          <a:blip r:embed="rId1"/>
          <a:stretch>
            <a:fillRect/>
          </a:stretch>
        </p:blipFill>
        <p:spPr>
          <a:xfrm>
            <a:off x="502920" y="1234440"/>
            <a:ext cx="4846320" cy="4092901"/>
          </a:xfrm>
          <a:prstGeom prst="rect">
            <a:avLst/>
          </a:prstGeom>
        </p:spPr>
      </p:pic>
      <p:sp>
        <p:nvSpPr>
          <p:cNvPr id="6" name="so-1"/>
          <p:cNvSpPr txBox="1"/>
          <p:nvPr/>
        </p:nvSpPr>
        <p:spPr>
          <a:xfrm>
            <a:off x="576986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6236208" y="1280160"/>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Mở khách → Thu nợ.</a:t>
            </a:r>
            <a:endParaRPr lang="en-US" sz="1400" dirty="0"/>
          </a:p>
        </p:txBody>
      </p:sp>
      <p:sp>
        <p:nvSpPr>
          <p:cNvPr id="8" name="so-2"/>
          <p:cNvSpPr txBox="1"/>
          <p:nvPr/>
        </p:nvSpPr>
        <p:spPr>
          <a:xfrm>
            <a:off x="5769864" y="18105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6236208" y="1792224"/>
            <a:ext cx="5468112" cy="506984"/>
          </a:xfrm>
          <a:prstGeom prst="rect">
            <a:avLst/>
          </a:prstGeom>
          <a:noFill/>
          <a:ln/>
        </p:spPr>
        <p:txBody>
          <a:bodyPr wrap="square" lIns="25400" tIns="0" rIns="0" bIns="0" rtlCol="0" anchor="t"/>
          <a:lstStyle/>
          <a:p>
            <a:pPr indent="0" marL="0">
              <a:buNone/>
            </a:pPr>
            <a:r>
              <a:rPr lang="en-US" sz="1400" b="1" dirty="0">
                <a:solidFill>
                  <a:schemeClr val="tx1"/>
                </a:solidFill>
              </a:rPr>
              <a:t>Số tiền thu</a:t>
            </a:r>
            <a:pPr indent="0" marL="0">
              <a:buNone/>
            </a:pPr>
            <a:r>
              <a:rPr lang="en-US" sz="1400" dirty="0">
                <a:solidFill>
                  <a:schemeClr val="tx1"/>
                </a:solidFill>
              </a:rPr>
              <a:t> điền sẵn toàn bộ nợ. Khách trả một phần thì sửa lại số.</a:t>
            </a:r>
            <a:endParaRPr lang="en-US" sz="1400" dirty="0"/>
          </a:p>
        </p:txBody>
      </p:sp>
      <p:sp>
        <p:nvSpPr>
          <p:cNvPr id="10" name="so-3"/>
          <p:cNvSpPr txBox="1"/>
          <p:nvPr/>
        </p:nvSpPr>
        <p:spPr>
          <a:xfrm>
            <a:off x="5769864" y="250037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6236208" y="2482088"/>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Chọn Tiền mặt hoặc Chuyển khoản</a:t>
            </a:r>
            <a:pPr indent="0" marL="0">
              <a:buNone/>
            </a:pPr>
            <a:r>
              <a:rPr lang="en-US" sz="1400" dirty="0">
                <a:solidFill>
                  <a:schemeClr val="tx1"/>
                </a:solidFill>
              </a:rPr>
              <a:t> (hiện mã QR cho khách quét).</a:t>
            </a:r>
            <a:endParaRPr lang="en-US" sz="1400" dirty="0"/>
          </a:p>
        </p:txBody>
      </p:sp>
      <p:sp>
        <p:nvSpPr>
          <p:cNvPr id="12" name="so-4"/>
          <p:cNvSpPr txBox="1"/>
          <p:nvPr/>
        </p:nvSpPr>
        <p:spPr>
          <a:xfrm>
            <a:off x="5769864" y="301244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6236208" y="2994152"/>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Xác nhận thu → In biên nhận</a:t>
            </a:r>
            <a:pPr indent="0" marL="0">
              <a:buNone/>
            </a:pPr>
            <a:r>
              <a:rPr lang="en-US" sz="1400" dirty="0">
                <a:solidFill>
                  <a:schemeClr val="tx1"/>
                </a:solidFill>
              </a:rPr>
              <a:t> cho khách giữ.</a:t>
            </a:r>
            <a:endParaRPr lang="en-US" sz="1400" dirty="0"/>
          </a:p>
        </p:txBody>
      </p:sp>
      <p:sp>
        <p:nvSpPr>
          <p:cNvPr id="14" name="so-5"/>
          <p:cNvSpPr txBox="1"/>
          <p:nvPr/>
        </p:nvSpPr>
        <p:spPr>
          <a:xfrm>
            <a:off x="5769864" y="352450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5" name="buoc-5"/>
          <p:cNvSpPr txBox="1"/>
          <p:nvPr/>
        </p:nvSpPr>
        <p:spPr>
          <a:xfrm>
            <a:off x="6236208" y="3506216"/>
            <a:ext cx="5468112" cy="506984"/>
          </a:xfrm>
          <a:prstGeom prst="rect">
            <a:avLst/>
          </a:prstGeom>
          <a:noFill/>
          <a:ln/>
        </p:spPr>
        <p:txBody>
          <a:bodyPr wrap="square" lIns="25400" tIns="0" rIns="0" bIns="0" rtlCol="0" anchor="t"/>
          <a:lstStyle/>
          <a:p>
            <a:pPr indent="0" marL="0">
              <a:buNone/>
            </a:pPr>
            <a:r>
              <a:rPr lang="en-US" sz="1400" b="1" dirty="0">
                <a:solidFill>
                  <a:schemeClr val="tx1"/>
                </a:solidFill>
              </a:rPr>
              <a:t>Ghi nợ tay:</a:t>
            </a:r>
            <a:pPr indent="0" marL="0">
              <a:buNone/>
            </a:pPr>
            <a:r>
              <a:rPr lang="en-US" sz="1400" dirty="0">
                <a:solidFill>
                  <a:schemeClr val="tx1"/>
                </a:solidFill>
              </a:rPr>
              <a:t> dùng khi quên ghi một khoản nợ. Bắt buộc ghi chú, ví dụ "quên ghi gói thuốc ngày 28".</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731520" y="1097280"/>
            <a:ext cx="2743200" cy="1188720"/>
          </a:xfrm>
          <a:prstGeom prst="rect">
            <a:avLst/>
          </a:prstGeom>
          <a:noFill/>
          <a:ln/>
        </p:spPr>
        <p:txBody>
          <a:bodyPr wrap="square" lIns="0" tIns="0" rIns="0" bIns="0" rtlCol="0" anchor="ctr"/>
          <a:lstStyle/>
          <a:p>
            <a:pPr indent="0" marL="0">
              <a:buNone/>
            </a:pPr>
            <a:r>
              <a:rPr lang="en-US" sz="8000" b="1" dirty="0">
                <a:solidFill>
                  <a:srgbClr val="FDBA74"/>
                </a:solidFill>
              </a:rPr>
              <a:t>05</a:t>
            </a:r>
            <a:endParaRPr lang="en-US" sz="8000" dirty="0"/>
          </a:p>
        </p:txBody>
      </p:sp>
      <p:sp>
        <p:nvSpPr>
          <p:cNvPr id="3" name="Text 0"/>
          <p:cNvSpPr/>
          <p:nvPr>
            <p:ph idx="100" type="title" hasCustomPrompt="1"/>
          </p:nvPr>
        </p:nvSpPr>
        <p:spPr>
          <a:xfrm>
            <a:off x="731520" y="2331720"/>
            <a:ext cx="5669280" cy="1463040"/>
          </a:xfrm>
          <a:prstGeom prst="rect">
            <a:avLst/>
          </a:prstGeom>
          <a:noFill/>
          <a:ln/>
        </p:spPr>
        <p:txBody>
          <a:bodyPr wrap="square" lIns="0" tIns="0" rIns="0" bIns="0" rtlCol="0" anchor="t"/>
          <a:lstStyle/>
          <a:p>
            <a:pPr algn="l" indent="0" marL="0">
              <a:buNone/>
            </a:pPr>
            <a:r>
              <a:rPr lang="en-US" sz="4400" b="1" dirty="0">
                <a:solidFill>
                  <a:schemeClr val="bg1"/>
                </a:solidFill>
              </a:rPr>
              <a:t>Sản phẩm</a:t>
            </a:r>
            <a:endParaRPr lang="en-US" sz="4400" dirty="0"/>
          </a:p>
        </p:txBody>
      </p:sp>
      <p:sp>
        <p:nvSpPr>
          <p:cNvPr id="4" name="Shape 2"/>
          <p:cNvSpPr/>
          <p:nvPr/>
        </p:nvSpPr>
        <p:spPr>
          <a:xfrm>
            <a:off x="6903720" y="1051560"/>
            <a:ext cx="4754880" cy="4754880"/>
          </a:xfrm>
          <a:prstGeom prst="roundRect">
            <a:avLst>
              <a:gd name="adj" fmla="val 3846"/>
            </a:avLst>
          </a:prstGeom>
          <a:solidFill>
            <a:schemeClr val="bg1">
              <a:alpha val="8000"/>
            </a:schemeClr>
          </a:solidFill>
          <a:ln w="9525">
            <a:solidFill>
              <a:schemeClr val="bg1">
                <a:alpha val="20000"/>
              </a:schemeClr>
            </a:solidFill>
            <a:prstDash val="solid"/>
          </a:ln>
        </p:spPr>
      </p:sp>
      <p:pic>
        <p:nvPicPr>
          <p:cNvPr id="5" name="Image 0" descr="Sản phẩm">    </p:cNvPr>
          <p:cNvPicPr>
            <a:picLocks noChangeAspect="1"/>
          </p:cNvPicPr>
          <p:nvPr/>
        </p:nvPicPr>
        <p:blipFill>
          <a:blip r:embed="rId1"/>
          <a:stretch>
            <a:fillRect/>
          </a:stretch>
        </p:blipFill>
        <p:spPr>
          <a:xfrm>
            <a:off x="7269480" y="1371600"/>
            <a:ext cx="548640" cy="548640"/>
          </a:xfrm>
          <a:prstGeom prst="rect">
            <a:avLst/>
          </a:prstGeom>
        </p:spPr>
      </p:pic>
      <p:sp>
        <p:nvSpPr>
          <p:cNvPr id="6" name="Text 3"/>
          <p:cNvSpPr txBox="1"/>
          <p:nvPr/>
        </p:nvSpPr>
        <p:spPr>
          <a:xfrm>
            <a:off x="8001000" y="1417320"/>
            <a:ext cx="3474720" cy="457200"/>
          </a:xfrm>
          <a:prstGeom prst="rect">
            <a:avLst/>
          </a:prstGeom>
          <a:noFill/>
          <a:ln/>
        </p:spPr>
        <p:txBody>
          <a:bodyPr wrap="square" lIns="0" tIns="0" rIns="0" bIns="0" rtlCol="0" anchor="ctr"/>
          <a:lstStyle/>
          <a:p>
            <a:pPr indent="0" marL="0">
              <a:buNone/>
            </a:pPr>
            <a:r>
              <a:rPr lang="en-US" sz="1600" b="1" dirty="0">
                <a:solidFill>
                  <a:schemeClr val="bg1"/>
                </a:solidFill>
              </a:rPr>
              <a:t>Trong phần này</a:t>
            </a:r>
            <a:endParaRPr lang="en-US" sz="1600" dirty="0"/>
          </a:p>
        </p:txBody>
      </p:sp>
      <p:sp>
        <p:nvSpPr>
          <p:cNvPr id="7" name="Text 4"/>
          <p:cNvSpPr txBox="1"/>
          <p:nvPr/>
        </p:nvSpPr>
        <p:spPr>
          <a:xfrm>
            <a:off x="7269480" y="2148840"/>
            <a:ext cx="4114800" cy="347472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chemeClr val="bg1"/>
                </a:solidFill>
              </a:rPr>
              <a:t>Danh sách và bộ lọc</a:t>
            </a:r>
            <a:endParaRPr lang="en-US" sz="1700" dirty="0"/>
          </a:p>
          <a:p>
            <a:pPr marL="342900" indent="-342900">
              <a:spcAft>
                <a:spcPts val="900"/>
              </a:spcAft>
              <a:buSzPct val="100000"/>
              <a:buChar char="•"/>
            </a:pPr>
            <a:r>
              <a:rPr lang="en-US" sz="1700" dirty="0">
                <a:solidFill>
                  <a:schemeClr val="bg1"/>
                </a:solidFill>
              </a:rPr>
              <a:t>Thêm, sửa sản phẩm</a:t>
            </a:r>
            <a:endParaRPr lang="en-US" sz="1700" dirty="0"/>
          </a:p>
          <a:p>
            <a:pPr marL="342900" indent="-342900">
              <a:spcAft>
                <a:spcPts val="900"/>
              </a:spcAft>
              <a:buSzPct val="100000"/>
              <a:buChar char="•"/>
            </a:pPr>
            <a:r>
              <a:rPr lang="en-US" sz="1700" dirty="0">
                <a:solidFill>
                  <a:schemeClr val="bg1"/>
                </a:solidFill>
              </a:rPr>
              <a:t>Đơn vị thùng / lốc</a:t>
            </a:r>
            <a:endParaRPr lang="en-US" sz="1700" dirty="0"/>
          </a:p>
          <a:p>
            <a:pPr marL="342900" indent="-342900">
              <a:spcAft>
                <a:spcPts val="900"/>
              </a:spcAft>
              <a:buSzPct val="100000"/>
              <a:buChar char="•"/>
            </a:pPr>
            <a:r>
              <a:rPr lang="en-US" sz="1700" dirty="0">
                <a:solidFill>
                  <a:schemeClr val="bg1"/>
                </a:solidFill>
              </a:rPr>
              <a:t>Ngừng bán, lịch sử tồn</a:t>
            </a:r>
            <a:endParaRPr lang="en-US" sz="1700" dirty="0"/>
          </a:p>
          <a:p>
            <a:pPr marL="342900" indent="-342900">
              <a:spcAft>
                <a:spcPts val="900"/>
              </a:spcAft>
              <a:buSzPct val="100000"/>
              <a:buChar char="•"/>
            </a:pPr>
            <a:r>
              <a:rPr lang="en-US" sz="1700" dirty="0">
                <a:solidFill>
                  <a:schemeClr val="bg1"/>
                </a:solidFill>
              </a:rPr>
              <a:t>Nhập nhanh, Excel, danh mục</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Danh sách sản phẩm</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5 · Sản phẩm</a:t>
            </a:r>
            <a:endParaRPr lang="en-US" sz="1200" dirty="0"/>
          </a:p>
        </p:txBody>
      </p:sp>
      <p:sp>
        <p:nvSpPr>
          <p:cNvPr id="4" name="products-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products" descr="products">    </p:cNvPr>
          <p:cNvPicPr>
            <a:picLocks noChangeAspect="1"/>
          </p:cNvPicPr>
          <p:nvPr/>
        </p:nvPicPr>
        <p:blipFill>
          <a:blip r:embed="rId1"/>
          <a:stretch>
            <a:fillRect/>
          </a:stretch>
        </p:blipFill>
        <p:spPr>
          <a:xfrm>
            <a:off x="502920" y="1234440"/>
            <a:ext cx="7269480" cy="4089083"/>
          </a:xfrm>
          <a:prstGeom prst="rect">
            <a:avLst/>
          </a:prstGeom>
        </p:spPr>
      </p:pic>
      <p:sp>
        <p:nvSpPr>
          <p:cNvPr id="6" name="so-1"/>
          <p:cNvSpPr txBox="1"/>
          <p:nvPr/>
        </p:nvSpPr>
        <p:spPr>
          <a:xfrm>
            <a:off x="3261265" y="120615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o-2"/>
          <p:cNvSpPr txBox="1"/>
          <p:nvPr/>
        </p:nvSpPr>
        <p:spPr>
          <a:xfrm>
            <a:off x="4033647" y="120615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8" name="so-3"/>
          <p:cNvSpPr txBox="1"/>
          <p:nvPr/>
        </p:nvSpPr>
        <p:spPr>
          <a:xfrm>
            <a:off x="5532977" y="120615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9" name="so-4"/>
          <p:cNvSpPr txBox="1"/>
          <p:nvPr/>
        </p:nvSpPr>
        <p:spPr>
          <a:xfrm>
            <a:off x="1720286" y="1486329"/>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0" name="so-5"/>
          <p:cNvSpPr txBox="1"/>
          <p:nvPr/>
        </p:nvSpPr>
        <p:spPr>
          <a:xfrm>
            <a:off x="7002018" y="2092119"/>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1" name="so-6"/>
          <p:cNvSpPr txBox="1"/>
          <p:nvPr/>
        </p:nvSpPr>
        <p:spPr>
          <a:xfrm>
            <a:off x="6774847" y="2962942"/>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2" name="so-7"/>
          <p:cNvSpPr txBox="1"/>
          <p:nvPr/>
        </p:nvSpPr>
        <p:spPr>
          <a:xfrm>
            <a:off x="7338989" y="2660047"/>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13"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4" name="buoc-1"/>
          <p:cNvSpPr txBox="1"/>
          <p:nvPr/>
        </p:nvSpPr>
        <p:spPr>
          <a:xfrm>
            <a:off x="8567928" y="1280160"/>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Nhập nhanh</a:t>
            </a:r>
            <a:pPr indent="0" marL="0">
              <a:buNone/>
            </a:pPr>
            <a:r>
              <a:rPr lang="en-US" sz="1350" dirty="0">
                <a:solidFill>
                  <a:schemeClr val="tx1"/>
                </a:solidFill>
              </a:rPr>
              <a:t> bằng máy quét.</a:t>
            </a:r>
            <a:endParaRPr lang="en-US" sz="1350" dirty="0"/>
          </a:p>
        </p:txBody>
      </p:sp>
      <p:sp>
        <p:nvSpPr>
          <p:cNvPr id="15" name="so-2"/>
          <p:cNvSpPr txBox="1"/>
          <p:nvPr/>
        </p:nvSpPr>
        <p:spPr>
          <a:xfrm>
            <a:off x="8101584" y="17556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buoc-2"/>
          <p:cNvSpPr txBox="1"/>
          <p:nvPr/>
        </p:nvSpPr>
        <p:spPr>
          <a:xfrm>
            <a:off x="8567928" y="1737360"/>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Nhập từ Excel / Xuất Excel.</a:t>
            </a:r>
            <a:endParaRPr lang="en-US" sz="1350" dirty="0"/>
          </a:p>
        </p:txBody>
      </p:sp>
      <p:sp>
        <p:nvSpPr>
          <p:cNvPr id="17" name="so-3"/>
          <p:cNvSpPr txBox="1"/>
          <p:nvPr/>
        </p:nvSpPr>
        <p:spPr>
          <a:xfrm>
            <a:off x="8101584" y="22128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buoc-3"/>
          <p:cNvSpPr txBox="1"/>
          <p:nvPr/>
        </p:nvSpPr>
        <p:spPr>
          <a:xfrm>
            <a:off x="8567928" y="2194560"/>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Thêm sản phẩm.</a:t>
            </a:r>
            <a:endParaRPr lang="en-US" sz="1350" dirty="0"/>
          </a:p>
        </p:txBody>
      </p:sp>
      <p:sp>
        <p:nvSpPr>
          <p:cNvPr id="19" name="so-4"/>
          <p:cNvSpPr txBox="1"/>
          <p:nvPr/>
        </p:nvSpPr>
        <p:spPr>
          <a:xfrm>
            <a:off x="8101584" y="26700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buoc-4"/>
          <p:cNvSpPr txBox="1"/>
          <p:nvPr/>
        </p:nvSpPr>
        <p:spPr>
          <a:xfrm>
            <a:off x="8567928" y="2651760"/>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Số liệu:</a:t>
            </a:r>
            <a:pPr indent="0" marL="0">
              <a:buNone/>
            </a:pPr>
            <a:r>
              <a:rPr lang="en-US" sz="1350" dirty="0">
                <a:solidFill>
                  <a:schemeClr val="tx1"/>
                </a:solidFill>
              </a:rPr>
              <a:t> mặt hàng đang bán, sắp hết, giá trị tồn kho.</a:t>
            </a:r>
            <a:endParaRPr lang="en-US" sz="1350" dirty="0"/>
          </a:p>
        </p:txBody>
      </p:sp>
      <p:sp>
        <p:nvSpPr>
          <p:cNvPr id="21" name="so-5"/>
          <p:cNvSpPr txBox="1"/>
          <p:nvPr/>
        </p:nvSpPr>
        <p:spPr>
          <a:xfrm>
            <a:off x="8101584" y="328955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buoc-5"/>
          <p:cNvSpPr txBox="1"/>
          <p:nvPr/>
        </p:nvSpPr>
        <p:spPr>
          <a:xfrm>
            <a:off x="8567928" y="3271266"/>
            <a:ext cx="3136392" cy="700659"/>
          </a:xfrm>
          <a:prstGeom prst="rect">
            <a:avLst/>
          </a:prstGeom>
          <a:noFill/>
          <a:ln/>
        </p:spPr>
        <p:txBody>
          <a:bodyPr wrap="square" lIns="25400" tIns="0" rIns="0" bIns="0" rtlCol="0" anchor="t"/>
          <a:lstStyle/>
          <a:p>
            <a:pPr indent="0" marL="0">
              <a:buNone/>
            </a:pPr>
            <a:r>
              <a:rPr lang="en-US" sz="1350" b="1" dirty="0">
                <a:solidFill>
                  <a:schemeClr val="tx1"/>
                </a:solidFill>
              </a:rPr>
              <a:t>Tìm (phím /) và Bộ lọc:</a:t>
            </a:r>
            <a:pPr indent="0" marL="0">
              <a:buNone/>
            </a:pPr>
            <a:r>
              <a:rPr lang="en-US" sz="1350" dirty="0">
                <a:solidFill>
                  <a:schemeClr val="tx1"/>
                </a:solidFill>
              </a:rPr>
              <a:t> danh mục, sắp hết / hết hàng, hàng cân, giá, sắp xếp.</a:t>
            </a:r>
            <a:endParaRPr lang="en-US" sz="1350" dirty="0"/>
          </a:p>
        </p:txBody>
      </p:sp>
      <p:sp>
        <p:nvSpPr>
          <p:cNvPr id="23" name="so-6"/>
          <p:cNvSpPr txBox="1"/>
          <p:nvPr/>
        </p:nvSpPr>
        <p:spPr>
          <a:xfrm>
            <a:off x="8101584" y="4118229"/>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4" name="buoc-6"/>
          <p:cNvSpPr txBox="1"/>
          <p:nvPr/>
        </p:nvSpPr>
        <p:spPr>
          <a:xfrm>
            <a:off x="8567928" y="4099941"/>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Nhãn đỏ "Sắp hết"</a:t>
            </a:r>
            <a:pPr indent="0" marL="0">
              <a:buNone/>
            </a:pPr>
            <a:r>
              <a:rPr lang="en-US" sz="1350" dirty="0">
                <a:solidFill>
                  <a:schemeClr val="tx1"/>
                </a:solidFill>
              </a:rPr>
              <a:t> khi tồn dưới mức tối thiểu.</a:t>
            </a:r>
            <a:endParaRPr lang="en-US" sz="1350" dirty="0"/>
          </a:p>
        </p:txBody>
      </p:sp>
      <p:sp>
        <p:nvSpPr>
          <p:cNvPr id="25" name="so-7"/>
          <p:cNvSpPr txBox="1"/>
          <p:nvPr/>
        </p:nvSpPr>
        <p:spPr>
          <a:xfrm>
            <a:off x="8101584" y="4737735"/>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26" name="buoc-7"/>
          <p:cNvSpPr txBox="1"/>
          <p:nvPr/>
        </p:nvSpPr>
        <p:spPr>
          <a:xfrm>
            <a:off x="8567928" y="4719447"/>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Nút ⋯:</a:t>
            </a:r>
            <a:pPr indent="0" marL="0">
              <a:buNone/>
            </a:pPr>
            <a:r>
              <a:rPr lang="en-US" sz="1350" dirty="0">
                <a:solidFill>
                  <a:schemeClr val="tx1"/>
                </a:solidFill>
              </a:rPr>
              <a:t> Sửa, Lịch sử tồn, In tem, Ngừng bán.</a:t>
            </a:r>
            <a:endParaRPr lang="en-US" sz="135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Thêm và sửa sản phẩm</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5 · Sản phẩm</a:t>
            </a:r>
            <a:endParaRPr lang="en-US" sz="1200" dirty="0"/>
          </a:p>
        </p:txBody>
      </p:sp>
      <p:sp>
        <p:nvSpPr>
          <p:cNvPr id="4" name="product-new-khung"/>
          <p:cNvSpPr/>
          <p:nvPr/>
        </p:nvSpPr>
        <p:spPr>
          <a:xfrm>
            <a:off x="522371" y="1216152"/>
            <a:ext cx="5904697" cy="502005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product-new" descr="product-new">    </p:cNvPr>
          <p:cNvPicPr>
            <a:picLocks noChangeAspect="1"/>
          </p:cNvPicPr>
          <p:nvPr/>
        </p:nvPicPr>
        <p:blipFill>
          <a:blip r:embed="rId1"/>
          <a:stretch>
            <a:fillRect/>
          </a:stretch>
        </p:blipFill>
        <p:spPr>
          <a:xfrm>
            <a:off x="540659" y="1234440"/>
            <a:ext cx="5868121" cy="4983480"/>
          </a:xfrm>
          <a:prstGeom prst="rect">
            <a:avLst/>
          </a:prstGeom>
        </p:spPr>
      </p:pic>
      <p:sp>
        <p:nvSpPr>
          <p:cNvPr id="6" name="so-1"/>
          <p:cNvSpPr txBox="1"/>
          <p:nvPr/>
        </p:nvSpPr>
        <p:spPr>
          <a:xfrm>
            <a:off x="682142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7287768" y="1280160"/>
            <a:ext cx="4416552" cy="329184"/>
          </a:xfrm>
          <a:prstGeom prst="rect">
            <a:avLst/>
          </a:prstGeom>
          <a:noFill/>
          <a:ln/>
        </p:spPr>
        <p:txBody>
          <a:bodyPr wrap="square" lIns="25400" tIns="0" rIns="0" bIns="0" rtlCol="0" anchor="t"/>
          <a:lstStyle/>
          <a:p>
            <a:pPr indent="0" marL="0">
              <a:buNone/>
            </a:pPr>
            <a:r>
              <a:rPr lang="en-US" sz="1350" b="1" dirty="0">
                <a:solidFill>
                  <a:schemeClr val="tx1"/>
                </a:solidFill>
              </a:rPr>
              <a:t>Ảnh:</a:t>
            </a:r>
            <a:pPr indent="0" marL="0">
              <a:buNone/>
            </a:pPr>
            <a:r>
              <a:rPr lang="en-US" sz="1350" dirty="0">
                <a:solidFill>
                  <a:schemeClr val="tx1"/>
                </a:solidFill>
              </a:rPr>
              <a:t> "Chọn ảnh". Trên điện thoại chụp trực tiếp được.</a:t>
            </a:r>
            <a:endParaRPr lang="en-US" sz="1350" dirty="0"/>
          </a:p>
        </p:txBody>
      </p:sp>
      <p:sp>
        <p:nvSpPr>
          <p:cNvPr id="8" name="so-2"/>
          <p:cNvSpPr txBox="1"/>
          <p:nvPr/>
        </p:nvSpPr>
        <p:spPr>
          <a:xfrm>
            <a:off x="6821424" y="177393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7287768" y="1755648"/>
            <a:ext cx="4416552" cy="491490"/>
          </a:xfrm>
          <a:prstGeom prst="rect">
            <a:avLst/>
          </a:prstGeom>
          <a:noFill/>
          <a:ln/>
        </p:spPr>
        <p:txBody>
          <a:bodyPr wrap="square" lIns="25400" tIns="0" rIns="0" bIns="0" rtlCol="0" anchor="t"/>
          <a:lstStyle/>
          <a:p>
            <a:pPr indent="0" marL="0">
              <a:buNone/>
            </a:pPr>
            <a:r>
              <a:rPr lang="en-US" sz="1350" b="1" dirty="0">
                <a:solidFill>
                  <a:schemeClr val="tx1"/>
                </a:solidFill>
              </a:rPr>
              <a:t>Mã vạch:</a:t>
            </a:r>
            <a:pPr indent="0" marL="0">
              <a:buNone/>
            </a:pPr>
            <a:r>
              <a:rPr lang="en-US" sz="1350" dirty="0">
                <a:solidFill>
                  <a:schemeClr val="tx1"/>
                </a:solidFill>
              </a:rPr>
              <a:t> bắn máy quét vào ô. Hàng không có mã thì để trống.</a:t>
            </a:r>
            <a:endParaRPr lang="en-US" sz="1350" dirty="0"/>
          </a:p>
        </p:txBody>
      </p:sp>
      <p:sp>
        <p:nvSpPr>
          <p:cNvPr id="10" name="so-3"/>
          <p:cNvSpPr txBox="1"/>
          <p:nvPr/>
        </p:nvSpPr>
        <p:spPr>
          <a:xfrm>
            <a:off x="6821424" y="241173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7287768" y="2393442"/>
            <a:ext cx="4416552" cy="329184"/>
          </a:xfrm>
          <a:prstGeom prst="rect">
            <a:avLst/>
          </a:prstGeom>
          <a:noFill/>
          <a:ln/>
        </p:spPr>
        <p:txBody>
          <a:bodyPr wrap="square" lIns="25400" tIns="0" rIns="0" bIns="0" rtlCol="0" anchor="t"/>
          <a:lstStyle/>
          <a:p>
            <a:pPr indent="0" marL="0">
              <a:buNone/>
            </a:pPr>
            <a:r>
              <a:rPr lang="en-US" sz="1350" b="1" dirty="0">
                <a:solidFill>
                  <a:schemeClr val="tx1"/>
                </a:solidFill>
              </a:rPr>
              <a:t>Tên, Đơn vị tính</a:t>
            </a:r>
            <a:pPr indent="0" marL="0">
              <a:buNone/>
            </a:pPr>
            <a:r>
              <a:rPr lang="en-US" sz="1350" dirty="0">
                <a:solidFill>
                  <a:schemeClr val="tx1"/>
                </a:solidFill>
              </a:rPr>
              <a:t> (lon, gói, kg…), Danh mục.</a:t>
            </a:r>
            <a:endParaRPr lang="en-US" sz="1350" dirty="0"/>
          </a:p>
        </p:txBody>
      </p:sp>
      <p:sp>
        <p:nvSpPr>
          <p:cNvPr id="12" name="so-4"/>
          <p:cNvSpPr txBox="1"/>
          <p:nvPr/>
        </p:nvSpPr>
        <p:spPr>
          <a:xfrm>
            <a:off x="6821424" y="288721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7287768" y="2868930"/>
            <a:ext cx="4416552" cy="329184"/>
          </a:xfrm>
          <a:prstGeom prst="rect">
            <a:avLst/>
          </a:prstGeom>
          <a:noFill/>
          <a:ln/>
        </p:spPr>
        <p:txBody>
          <a:bodyPr wrap="square" lIns="25400" tIns="0" rIns="0" bIns="0" rtlCol="0" anchor="t"/>
          <a:lstStyle/>
          <a:p>
            <a:pPr indent="0" marL="0">
              <a:buNone/>
            </a:pPr>
            <a:r>
              <a:rPr lang="en-US" sz="1350" b="1" dirty="0">
                <a:solidFill>
                  <a:schemeClr val="tx1"/>
                </a:solidFill>
              </a:rPr>
              <a:t>Giá bán, Giá nhập.</a:t>
            </a:r>
            <a:endParaRPr lang="en-US" sz="1350" dirty="0"/>
          </a:p>
        </p:txBody>
      </p:sp>
      <p:sp>
        <p:nvSpPr>
          <p:cNvPr id="14" name="so-5"/>
          <p:cNvSpPr txBox="1"/>
          <p:nvPr/>
        </p:nvSpPr>
        <p:spPr>
          <a:xfrm>
            <a:off x="6821424" y="336270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5" name="buoc-5"/>
          <p:cNvSpPr txBox="1"/>
          <p:nvPr/>
        </p:nvSpPr>
        <p:spPr>
          <a:xfrm>
            <a:off x="7287768" y="3344418"/>
            <a:ext cx="4416552" cy="491490"/>
          </a:xfrm>
          <a:prstGeom prst="rect">
            <a:avLst/>
          </a:prstGeom>
          <a:noFill/>
          <a:ln/>
        </p:spPr>
        <p:txBody>
          <a:bodyPr wrap="square" lIns="25400" tIns="0" rIns="0" bIns="0" rtlCol="0" anchor="t"/>
          <a:lstStyle/>
          <a:p>
            <a:pPr indent="0" marL="0">
              <a:buNone/>
            </a:pPr>
            <a:r>
              <a:rPr lang="en-US" sz="1350" b="1" dirty="0">
                <a:solidFill>
                  <a:schemeClr val="tx1"/>
                </a:solidFill>
              </a:rPr>
              <a:t>Tồn đầu</a:t>
            </a:r>
            <a:pPr indent="0" marL="0">
              <a:buNone/>
            </a:pPr>
            <a:r>
              <a:rPr lang="en-US" sz="1350" dirty="0">
                <a:solidFill>
                  <a:schemeClr val="tx1"/>
                </a:solidFill>
              </a:rPr>
              <a:t> (số đang có trên kệ) và Tồn tối thiểu (dưới mức này báo đỏ).</a:t>
            </a:r>
            <a:endParaRPr lang="en-US" sz="1350" dirty="0"/>
          </a:p>
        </p:txBody>
      </p:sp>
      <p:sp>
        <p:nvSpPr>
          <p:cNvPr id="16" name="so-6"/>
          <p:cNvSpPr txBox="1"/>
          <p:nvPr/>
        </p:nvSpPr>
        <p:spPr>
          <a:xfrm>
            <a:off x="6821424" y="400050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7" name="buoc-6"/>
          <p:cNvSpPr txBox="1"/>
          <p:nvPr/>
        </p:nvSpPr>
        <p:spPr>
          <a:xfrm>
            <a:off x="7287768" y="3982212"/>
            <a:ext cx="4416552" cy="329184"/>
          </a:xfrm>
          <a:prstGeom prst="rect">
            <a:avLst/>
          </a:prstGeom>
          <a:noFill/>
          <a:ln/>
        </p:spPr>
        <p:txBody>
          <a:bodyPr wrap="square" lIns="25400" tIns="0" rIns="0" bIns="0" rtlCol="0" anchor="t"/>
          <a:lstStyle/>
          <a:p>
            <a:pPr indent="0" marL="0">
              <a:buNone/>
            </a:pPr>
            <a:r>
              <a:rPr lang="en-US" sz="1350" b="1" dirty="0">
                <a:solidFill>
                  <a:schemeClr val="tx1"/>
                </a:solidFill>
              </a:rPr>
              <a:t>Hàng cân:</a:t>
            </a:r>
            <a:pPr indent="0" marL="0">
              <a:buNone/>
            </a:pPr>
            <a:r>
              <a:rPr lang="en-US" sz="1350" dirty="0">
                <a:solidFill>
                  <a:schemeClr val="tx1"/>
                </a:solidFill>
              </a:rPr>
              <a:t> đánh dấu cho hàng bán theo kg.</a:t>
            </a:r>
            <a:endParaRPr lang="en-US" sz="1350" dirty="0"/>
          </a:p>
        </p:txBody>
      </p:sp>
      <p:sp>
        <p:nvSpPr>
          <p:cNvPr id="18" name="so-7"/>
          <p:cNvSpPr txBox="1"/>
          <p:nvPr/>
        </p:nvSpPr>
        <p:spPr>
          <a:xfrm>
            <a:off x="6821424" y="447598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19" name="buoc-7"/>
          <p:cNvSpPr txBox="1"/>
          <p:nvPr/>
        </p:nvSpPr>
        <p:spPr>
          <a:xfrm>
            <a:off x="7287768" y="4457700"/>
            <a:ext cx="4416552" cy="329184"/>
          </a:xfrm>
          <a:prstGeom prst="rect">
            <a:avLst/>
          </a:prstGeom>
          <a:noFill/>
          <a:ln/>
        </p:spPr>
        <p:txBody>
          <a:bodyPr wrap="square" lIns="25400" tIns="0" rIns="0" bIns="0" rtlCol="0" anchor="t"/>
          <a:lstStyle/>
          <a:p>
            <a:pPr indent="0" marL="0">
              <a:buNone/>
            </a:pPr>
            <a:r>
              <a:rPr lang="en-US" sz="1350" b="1" dirty="0">
                <a:solidFill>
                  <a:schemeClr val="tx1"/>
                </a:solidFill>
              </a:rPr>
              <a:t>Bấm Lưu.</a:t>
            </a:r>
            <a:pPr indent="0" marL="0">
              <a:buNone/>
            </a:pPr>
            <a:r>
              <a:rPr lang="en-US" sz="1350" dirty="0">
                <a:solidFill>
                  <a:schemeClr val="tx1"/>
                </a:solidFill>
              </a:rPr>
              <a:t> Click vào dòng sản phẩm để sửa lại.</a:t>
            </a:r>
            <a:endParaRPr lang="en-US" sz="1350" dirty="0"/>
          </a:p>
        </p:txBody>
      </p:sp>
      <p:sp>
        <p:nvSpPr>
          <p:cNvPr id="20" name="meo"/>
          <p:cNvSpPr/>
          <p:nvPr/>
        </p:nvSpPr>
        <p:spPr>
          <a:xfrm>
            <a:off x="6812280" y="5061204"/>
            <a:ext cx="4892040" cy="658876"/>
          </a:xfrm>
          <a:prstGeom prst="roundRect">
            <a:avLst>
              <a:gd name="adj" fmla="val 11103"/>
            </a:avLst>
          </a:prstGeom>
          <a:solidFill>
            <a:schemeClr val="accent1">
              <a:alpha val="10000"/>
            </a:schemeClr>
          </a:solidFill>
          <a:ln w="9525">
            <a:solidFill>
              <a:schemeClr val="accent1">
                <a:alpha val="45000"/>
              </a:schemeClr>
            </a:solidFill>
            <a:prstDash val="solid"/>
          </a:ln>
        </p:spPr>
      </p:sp>
      <p:pic>
        <p:nvPicPr>
          <p:cNvPr id="21" name="Image 1" descr="Mẹo">    </p:cNvPr>
          <p:cNvPicPr>
            <a:picLocks noChangeAspect="1"/>
          </p:cNvPicPr>
          <p:nvPr/>
        </p:nvPicPr>
        <p:blipFill>
          <a:blip r:embed="rId2"/>
          <a:stretch>
            <a:fillRect/>
          </a:stretch>
        </p:blipFill>
        <p:spPr>
          <a:xfrm>
            <a:off x="6976872" y="5207508"/>
            <a:ext cx="274320" cy="274320"/>
          </a:xfrm>
          <a:prstGeom prst="rect">
            <a:avLst/>
          </a:prstGeom>
        </p:spPr>
      </p:pic>
      <p:sp>
        <p:nvSpPr>
          <p:cNvPr id="22" name="Text 18"/>
          <p:cNvSpPr txBox="1"/>
          <p:nvPr/>
        </p:nvSpPr>
        <p:spPr>
          <a:xfrm>
            <a:off x="7360920" y="5134356"/>
            <a:ext cx="4206240" cy="512572"/>
          </a:xfrm>
          <a:prstGeom prst="rect">
            <a:avLst/>
          </a:prstGeom>
          <a:noFill/>
          <a:ln/>
        </p:spPr>
        <p:txBody>
          <a:bodyPr wrap="square" lIns="0" tIns="0" rIns="0" bIns="0" rtlCol="0" anchor="ctr"/>
          <a:lstStyle/>
          <a:p>
            <a:pPr indent="0" marL="0">
              <a:buNone/>
            </a:pPr>
            <a:r>
              <a:rPr lang="en-US" sz="1300" dirty="0">
                <a:solidFill>
                  <a:schemeClr val="tx1"/>
                </a:solidFill>
              </a:rPr>
              <a:t>Sửa ô "Tồn kho" của hàng đã có sẽ ghi một phiếu điều chỉnh. Đếm lại nhiều món thì dùng Kiểm kê.</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Đơn vị quy đổi: thùng, lốc</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5 · Sản phẩm</a:t>
            </a:r>
            <a:endParaRPr lang="en-US" sz="1200" dirty="0"/>
          </a:p>
        </p:txBody>
      </p:sp>
      <p:sp>
        <p:nvSpPr>
          <p:cNvPr id="4" name="product-units-khung"/>
          <p:cNvSpPr/>
          <p:nvPr/>
        </p:nvSpPr>
        <p:spPr>
          <a:xfrm>
            <a:off x="522371" y="1216152"/>
            <a:ext cx="5904697" cy="502005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product-units" descr="product-units">    </p:cNvPr>
          <p:cNvPicPr>
            <a:picLocks noChangeAspect="1"/>
          </p:cNvPicPr>
          <p:nvPr/>
        </p:nvPicPr>
        <p:blipFill>
          <a:blip r:embed="rId1"/>
          <a:stretch>
            <a:fillRect/>
          </a:stretch>
        </p:blipFill>
        <p:spPr>
          <a:xfrm>
            <a:off x="540659" y="1234440"/>
            <a:ext cx="5868121" cy="4983480"/>
          </a:xfrm>
          <a:prstGeom prst="rect">
            <a:avLst/>
          </a:prstGeom>
        </p:spPr>
      </p:pic>
      <p:sp>
        <p:nvSpPr>
          <p:cNvPr id="6" name="so-1"/>
          <p:cNvSpPr txBox="1"/>
          <p:nvPr/>
        </p:nvSpPr>
        <p:spPr>
          <a:xfrm>
            <a:off x="682142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7287768" y="1280160"/>
            <a:ext cx="4416552" cy="329184"/>
          </a:xfrm>
          <a:prstGeom prst="rect">
            <a:avLst/>
          </a:prstGeom>
          <a:noFill/>
          <a:ln/>
        </p:spPr>
        <p:txBody>
          <a:bodyPr wrap="square" lIns="25400" tIns="0" rIns="0" bIns="0" rtlCol="0" anchor="t"/>
          <a:lstStyle/>
          <a:p>
            <a:pPr indent="0" marL="0">
              <a:buNone/>
            </a:pPr>
            <a:r>
              <a:rPr lang="en-US" sz="1400" b="1" dirty="0">
                <a:solidFill>
                  <a:schemeClr val="tx1"/>
                </a:solidFill>
              </a:rPr>
              <a:t>Mở sản phẩm đã có</a:t>
            </a:r>
            <a:pPr indent="0" marL="0">
              <a:buNone/>
            </a:pPr>
            <a:r>
              <a:rPr lang="en-US" sz="1400" dirty="0">
                <a:solidFill>
                  <a:schemeClr val="tx1"/>
                </a:solidFill>
              </a:rPr>
              <a:t> → kéo xuống phần "Đơn vị quy đổi".</a:t>
            </a:r>
            <a:endParaRPr lang="en-US" sz="1400" dirty="0"/>
          </a:p>
        </p:txBody>
      </p:sp>
      <p:sp>
        <p:nvSpPr>
          <p:cNvPr id="8" name="so-2"/>
          <p:cNvSpPr txBox="1"/>
          <p:nvPr/>
        </p:nvSpPr>
        <p:spPr>
          <a:xfrm>
            <a:off x="6821424" y="18105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7287768" y="1792224"/>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Gõ tên</a:t>
            </a:r>
            <a:pPr indent="0" marL="0">
              <a:buNone/>
            </a:pPr>
            <a:r>
              <a:rPr lang="en-US" sz="1400" dirty="0">
                <a:solidFill>
                  <a:schemeClr val="tx1"/>
                </a:solidFill>
              </a:rPr>
              <a:t> (Thùng), bắn mã vạch trên thùng, số lon trong thùng (= 24), giá bán thùng → Thêm.</a:t>
            </a:r>
            <a:endParaRPr lang="en-US" sz="1400" dirty="0"/>
          </a:p>
        </p:txBody>
      </p:sp>
      <p:sp>
        <p:nvSpPr>
          <p:cNvPr id="10" name="so-3"/>
          <p:cNvSpPr txBox="1"/>
          <p:nvPr/>
        </p:nvSpPr>
        <p:spPr>
          <a:xfrm>
            <a:off x="6821424" y="250037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7287768" y="2482088"/>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Khi bán,</a:t>
            </a:r>
            <a:pPr indent="0" marL="0">
              <a:buNone/>
            </a:pPr>
            <a:r>
              <a:rPr lang="en-US" sz="1400" dirty="0">
                <a:solidFill>
                  <a:schemeClr val="tx1"/>
                </a:solidFill>
              </a:rPr>
              <a:t> bắn mã thùng → tính đúng giá thùng và trừ 24 lon trong kho.</a:t>
            </a:r>
            <a:endParaRPr lang="en-US" sz="1400" dirty="0"/>
          </a:p>
        </p:txBody>
      </p:sp>
      <p:sp>
        <p:nvSpPr>
          <p:cNvPr id="12" name="so-4"/>
          <p:cNvSpPr txBox="1"/>
          <p:nvPr/>
        </p:nvSpPr>
        <p:spPr>
          <a:xfrm>
            <a:off x="6821424" y="319024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7287768" y="3171952"/>
            <a:ext cx="4416552" cy="329184"/>
          </a:xfrm>
          <a:prstGeom prst="rect">
            <a:avLst/>
          </a:prstGeom>
          <a:noFill/>
          <a:ln/>
        </p:spPr>
        <p:txBody>
          <a:bodyPr wrap="square" lIns="25400" tIns="0" rIns="0" bIns="0" rtlCol="0" anchor="t"/>
          <a:lstStyle/>
          <a:p>
            <a:pPr indent="0" marL="0">
              <a:buNone/>
            </a:pPr>
            <a:r>
              <a:rPr lang="en-US" sz="1400" b="1" dirty="0">
                <a:solidFill>
                  <a:schemeClr val="tx1"/>
                </a:solidFill>
              </a:rPr>
              <a:t>Khi nhập hàng,</a:t>
            </a:r>
            <a:pPr indent="0" marL="0">
              <a:buNone/>
            </a:pPr>
            <a:r>
              <a:rPr lang="en-US" sz="1400" dirty="0">
                <a:solidFill>
                  <a:schemeClr val="tx1"/>
                </a:solidFill>
              </a:rPr>
              <a:t> chọn đơn vị Thùng ở cột Đơn vị.</a:t>
            </a:r>
            <a:endParaRPr lang="en-US" sz="1400" dirty="0"/>
          </a:p>
        </p:txBody>
      </p:sp>
      <p:sp>
        <p:nvSpPr>
          <p:cNvPr id="14" name="meo"/>
          <p:cNvSpPr/>
          <p:nvPr/>
        </p:nvSpPr>
        <p:spPr>
          <a:xfrm>
            <a:off x="6812280" y="3775456"/>
            <a:ext cx="4892040" cy="658876"/>
          </a:xfrm>
          <a:prstGeom prst="roundRect">
            <a:avLst>
              <a:gd name="adj" fmla="val 11103"/>
            </a:avLst>
          </a:prstGeom>
          <a:solidFill>
            <a:schemeClr val="accent1">
              <a:alpha val="10000"/>
            </a:schemeClr>
          </a:solidFill>
          <a:ln w="9525">
            <a:solidFill>
              <a:schemeClr val="accent1">
                <a:alpha val="45000"/>
              </a:schemeClr>
            </a:solidFill>
            <a:prstDash val="solid"/>
          </a:ln>
        </p:spPr>
      </p:sp>
      <p:pic>
        <p:nvPicPr>
          <p:cNvPr id="15" name="Image 1" descr="Mẹo">    </p:cNvPr>
          <p:cNvPicPr>
            <a:picLocks noChangeAspect="1"/>
          </p:cNvPicPr>
          <p:nvPr/>
        </p:nvPicPr>
        <p:blipFill>
          <a:blip r:embed="rId2"/>
          <a:stretch>
            <a:fillRect/>
          </a:stretch>
        </p:blipFill>
        <p:spPr>
          <a:xfrm>
            <a:off x="6976872" y="3921760"/>
            <a:ext cx="274320" cy="274320"/>
          </a:xfrm>
          <a:prstGeom prst="rect">
            <a:avLst/>
          </a:prstGeom>
        </p:spPr>
      </p:pic>
      <p:sp>
        <p:nvSpPr>
          <p:cNvPr id="16" name="Text 12"/>
          <p:cNvSpPr txBox="1"/>
          <p:nvPr/>
        </p:nvSpPr>
        <p:spPr>
          <a:xfrm>
            <a:off x="7360920" y="3848608"/>
            <a:ext cx="4206240" cy="512572"/>
          </a:xfrm>
          <a:prstGeom prst="rect">
            <a:avLst/>
          </a:prstGeom>
          <a:noFill/>
          <a:ln/>
        </p:spPr>
        <p:txBody>
          <a:bodyPr wrap="square" lIns="0" tIns="0" rIns="0" bIns="0" rtlCol="0" anchor="ctr"/>
          <a:lstStyle/>
          <a:p>
            <a:pPr indent="0" marL="0">
              <a:buNone/>
            </a:pPr>
            <a:r>
              <a:rPr lang="en-US" sz="1300" dirty="0">
                <a:solidFill>
                  <a:schemeClr val="tx1"/>
                </a:solidFill>
              </a:rPr>
              <a:t>Tồn kho luôn tính theo đơn vị gốc (lon, gói, chai, kg).</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Ngừng bán và lịch sử tồn</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5 · Sản phẩm</a:t>
            </a:r>
            <a:endParaRPr lang="en-US" sz="1200" dirty="0"/>
          </a:p>
        </p:txBody>
      </p:sp>
      <p:sp>
        <p:nvSpPr>
          <p:cNvPr id="4" name="product-menu-khung"/>
          <p:cNvSpPr/>
          <p:nvPr/>
        </p:nvSpPr>
        <p:spPr>
          <a:xfrm>
            <a:off x="792128" y="1216152"/>
            <a:ext cx="5807456" cy="328269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product-menu" descr="product-menu">    </p:cNvPr>
          <p:cNvPicPr>
            <a:picLocks noChangeAspect="1"/>
          </p:cNvPicPr>
          <p:nvPr/>
        </p:nvPicPr>
        <p:blipFill>
          <a:blip r:embed="rId1"/>
          <a:stretch>
            <a:fillRect/>
          </a:stretch>
        </p:blipFill>
        <p:spPr>
          <a:xfrm>
            <a:off x="810416" y="1234440"/>
            <a:ext cx="5770880" cy="3246120"/>
          </a:xfrm>
          <a:prstGeom prst="rect">
            <a:avLst/>
          </a:prstGeom>
        </p:spPr>
      </p:pic>
      <p:sp>
        <p:nvSpPr>
          <p:cNvPr id="6" name="so-1"/>
          <p:cNvSpPr txBox="1"/>
          <p:nvPr/>
        </p:nvSpPr>
        <p:spPr>
          <a:xfrm>
            <a:off x="512064" y="4727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4"/>
          <p:cNvSpPr txBox="1"/>
          <p:nvPr/>
        </p:nvSpPr>
        <p:spPr>
          <a:xfrm>
            <a:off x="978408" y="4709160"/>
            <a:ext cx="5910383" cy="769620"/>
          </a:xfrm>
          <a:prstGeom prst="rect">
            <a:avLst/>
          </a:prstGeom>
          <a:noFill/>
          <a:ln/>
        </p:spPr>
        <p:txBody>
          <a:bodyPr wrap="square" lIns="25400" tIns="0" rIns="0" bIns="0" rtlCol="0" anchor="t"/>
          <a:lstStyle/>
          <a:p>
            <a:pPr indent="0" marL="0">
              <a:buNone/>
            </a:pPr>
            <a:r>
              <a:rPr lang="en-US" sz="1400" b="1" dirty="0">
                <a:solidFill>
                  <a:schemeClr val="tx1"/>
                </a:solidFill>
              </a:rPr>
              <a:t>Nút ⋯ trên mỗi dòng:</a:t>
            </a:r>
            <a:pPr indent="0" marL="0">
              <a:buNone/>
            </a:pPr>
            <a:r>
              <a:rPr lang="en-US" sz="1400" dirty="0">
                <a:solidFill>
                  <a:schemeClr val="tx1"/>
                </a:solidFill>
              </a:rPr>
              <a:t> Sửa sản phẩm, Lịch sử tồn, In tem, Ngừng bán. Hàng ngừng bán ẩn khỏi màn bán hàng nhưng vẫn nhập, kiểm kê được. Không có nút xóa để giữ lịch sử.</a:t>
            </a:r>
            <a:endParaRPr lang="en-US" sz="1400" dirty="0"/>
          </a:p>
        </p:txBody>
      </p:sp>
      <p:sp>
        <p:nvSpPr>
          <p:cNvPr id="8" name="stock-history-khung"/>
          <p:cNvSpPr/>
          <p:nvPr/>
        </p:nvSpPr>
        <p:spPr>
          <a:xfrm>
            <a:off x="7423290" y="1216152"/>
            <a:ext cx="4158010" cy="328269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9" name="stock-history" descr="stock-history">    </p:cNvPr>
          <p:cNvPicPr>
            <a:picLocks noChangeAspect="1"/>
          </p:cNvPicPr>
          <p:nvPr/>
        </p:nvPicPr>
        <p:blipFill>
          <a:blip r:embed="rId2"/>
          <a:stretch>
            <a:fillRect/>
          </a:stretch>
        </p:blipFill>
        <p:spPr>
          <a:xfrm>
            <a:off x="7441578" y="1234440"/>
            <a:ext cx="4121434" cy="3246120"/>
          </a:xfrm>
          <a:prstGeom prst="rect">
            <a:avLst/>
          </a:prstGeom>
        </p:spPr>
      </p:pic>
      <p:sp>
        <p:nvSpPr>
          <p:cNvPr id="10" name="so-2"/>
          <p:cNvSpPr txBox="1"/>
          <p:nvPr/>
        </p:nvSpPr>
        <p:spPr>
          <a:xfrm>
            <a:off x="7309415" y="4727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7"/>
          <p:cNvSpPr txBox="1"/>
          <p:nvPr/>
        </p:nvSpPr>
        <p:spPr>
          <a:xfrm>
            <a:off x="7775759" y="4709160"/>
            <a:ext cx="3928561" cy="769620"/>
          </a:xfrm>
          <a:prstGeom prst="rect">
            <a:avLst/>
          </a:prstGeom>
          <a:noFill/>
          <a:ln/>
        </p:spPr>
        <p:txBody>
          <a:bodyPr wrap="square" lIns="25400" tIns="0" rIns="0" bIns="0" rtlCol="0" anchor="t"/>
          <a:lstStyle/>
          <a:p>
            <a:pPr indent="0" marL="0">
              <a:buNone/>
            </a:pPr>
            <a:r>
              <a:rPr lang="en-US" sz="1400" b="1" dirty="0">
                <a:solidFill>
                  <a:schemeClr val="tx1"/>
                </a:solidFill>
              </a:rPr>
              <a:t>Lịch sử tồn:</a:t>
            </a:r>
            <a:pPr indent="0" marL="0">
              <a:buNone/>
            </a:pPr>
            <a:r>
              <a:rPr lang="en-US" sz="1400" dirty="0">
                <a:solidFill>
                  <a:schemeClr val="tx1"/>
                </a:solidFill>
              </a:rPr>
              <a:t> 100 lần tồn thay đổi gần nhất (Bán, Trả, Nhập, Điều chỉnh, Trả NCC) kèm mã chứng từ.</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Nhập nhanh bằng máy quét</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5 · Sản phẩm</a:t>
            </a:r>
            <a:endParaRPr lang="en-US" sz="1200" dirty="0"/>
          </a:p>
        </p:txBody>
      </p:sp>
      <p:sp>
        <p:nvSpPr>
          <p:cNvPr id="4" name="quick-add-known-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quick-add-known" descr="quick-add-known">    </p:cNvPr>
          <p:cNvPicPr>
            <a:picLocks noChangeAspect="1"/>
          </p:cNvPicPr>
          <p:nvPr/>
        </p:nvPicPr>
        <p:blipFill>
          <a:blip r:embed="rId1"/>
          <a:stretch>
            <a:fillRect/>
          </a:stretch>
        </p:blipFill>
        <p:spPr>
          <a:xfrm>
            <a:off x="502920" y="1234440"/>
            <a:ext cx="7269480" cy="4089083"/>
          </a:xfrm>
          <a:prstGeom prst="rect">
            <a:avLst/>
          </a:prstGeom>
        </p:spPr>
      </p:pic>
      <p:sp>
        <p:nvSpPr>
          <p:cNvPr id="6" name="Text 3"/>
          <p:cNvSpPr txBox="1"/>
          <p:nvPr/>
        </p:nvSpPr>
        <p:spPr>
          <a:xfrm>
            <a:off x="8092440" y="1280160"/>
            <a:ext cx="3611880" cy="506984"/>
          </a:xfrm>
          <a:prstGeom prst="rect">
            <a:avLst/>
          </a:prstGeom>
          <a:noFill/>
          <a:ln/>
        </p:spPr>
        <p:txBody>
          <a:bodyPr wrap="square" lIns="0" tIns="0" rIns="0" bIns="0" rtlCol="0" anchor="ctr"/>
          <a:lstStyle/>
          <a:p>
            <a:pPr indent="0" marL="0">
              <a:buNone/>
            </a:pPr>
            <a:r>
              <a:rPr lang="en-US" sz="1400" i="1" dirty="0">
                <a:solidFill>
                  <a:schemeClr val="accent6"/>
                </a:solidFill>
              </a:rPr>
              <a:t>Hợp để nhập hàng loạt lúc mới dùng phần mềm: cầm máy quét đi dọc kệ.</a:t>
            </a:r>
            <a:endParaRPr lang="en-US" sz="1400" dirty="0"/>
          </a:p>
        </p:txBody>
      </p:sp>
      <p:sp>
        <p:nvSpPr>
          <p:cNvPr id="7" name="so-1"/>
          <p:cNvSpPr txBox="1"/>
          <p:nvPr/>
        </p:nvSpPr>
        <p:spPr>
          <a:xfrm>
            <a:off x="8101584" y="194259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buoc-1"/>
          <p:cNvSpPr txBox="1"/>
          <p:nvPr/>
        </p:nvSpPr>
        <p:spPr>
          <a:xfrm>
            <a:off x="8567928" y="1924304"/>
            <a:ext cx="3136392" cy="329184"/>
          </a:xfrm>
          <a:prstGeom prst="rect">
            <a:avLst/>
          </a:prstGeom>
          <a:noFill/>
          <a:ln/>
        </p:spPr>
        <p:txBody>
          <a:bodyPr wrap="square" lIns="25400" tIns="0" rIns="0" bIns="0" rtlCol="0" anchor="t"/>
          <a:lstStyle/>
          <a:p>
            <a:pPr indent="0" marL="0">
              <a:buNone/>
            </a:pPr>
            <a:r>
              <a:rPr lang="en-US" sz="1400" b="1" dirty="0">
                <a:solidFill>
                  <a:schemeClr val="tx1"/>
                </a:solidFill>
              </a:rPr>
              <a:t>Sản phẩm → "Nhập nhanh".</a:t>
            </a:r>
            <a:endParaRPr lang="en-US" sz="1400" dirty="0"/>
          </a:p>
        </p:txBody>
      </p:sp>
      <p:sp>
        <p:nvSpPr>
          <p:cNvPr id="9" name="so-2"/>
          <p:cNvSpPr txBox="1"/>
          <p:nvPr/>
        </p:nvSpPr>
        <p:spPr>
          <a:xfrm>
            <a:off x="8101584" y="245465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buoc-2"/>
          <p:cNvSpPr txBox="1"/>
          <p:nvPr/>
        </p:nvSpPr>
        <p:spPr>
          <a:xfrm>
            <a:off x="8567928" y="2436368"/>
            <a:ext cx="3136392" cy="329184"/>
          </a:xfrm>
          <a:prstGeom prst="rect">
            <a:avLst/>
          </a:prstGeom>
          <a:noFill/>
          <a:ln/>
        </p:spPr>
        <p:txBody>
          <a:bodyPr wrap="square" lIns="25400" tIns="0" rIns="0" bIns="0" rtlCol="0" anchor="t"/>
          <a:lstStyle/>
          <a:p>
            <a:pPr indent="0" marL="0">
              <a:buNone/>
            </a:pPr>
            <a:r>
              <a:rPr lang="en-US" sz="1400" b="1" dirty="0">
                <a:solidFill>
                  <a:schemeClr val="tx1"/>
                </a:solidFill>
              </a:rPr>
              <a:t>Bắn mã từng món</a:t>
            </a:r>
            <a:pPr indent="0" marL="0">
              <a:buNone/>
            </a:pPr>
            <a:r>
              <a:rPr lang="en-US" sz="1400" dirty="0">
                <a:solidFill>
                  <a:schemeClr val="tx1"/>
                </a:solidFill>
              </a:rPr>
              <a:t> trên kệ.</a:t>
            </a:r>
            <a:endParaRPr lang="en-US" sz="1400" dirty="0"/>
          </a:p>
        </p:txBody>
      </p:sp>
      <p:sp>
        <p:nvSpPr>
          <p:cNvPr id="11" name="so-3"/>
          <p:cNvSpPr txBox="1"/>
          <p:nvPr/>
        </p:nvSpPr>
        <p:spPr>
          <a:xfrm>
            <a:off x="8101584" y="296672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buoc-3"/>
          <p:cNvSpPr txBox="1"/>
          <p:nvPr/>
        </p:nvSpPr>
        <p:spPr>
          <a:xfrm>
            <a:off x="8567928" y="2948432"/>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Mã đã có:</a:t>
            </a:r>
            <a:pPr indent="0" marL="0">
              <a:buNone/>
            </a:pPr>
            <a:r>
              <a:rPr lang="en-US" sz="1400" dirty="0">
                <a:solidFill>
                  <a:schemeClr val="tx1"/>
                </a:solidFill>
              </a:rPr>
              <a:t> hiện giá bán, tồn kho. Bấm Sửa nếu cần đổi.</a:t>
            </a:r>
            <a:endParaRPr lang="en-US" sz="1400" dirty="0"/>
          </a:p>
        </p:txBody>
      </p:sp>
      <p:sp>
        <p:nvSpPr>
          <p:cNvPr id="13" name="so-4"/>
          <p:cNvSpPr txBox="1"/>
          <p:nvPr/>
        </p:nvSpPr>
        <p:spPr>
          <a:xfrm>
            <a:off x="8101584" y="365658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4" name="buoc-4"/>
          <p:cNvSpPr txBox="1"/>
          <p:nvPr/>
        </p:nvSpPr>
        <p:spPr>
          <a:xfrm>
            <a:off x="8567928" y="3638296"/>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Mã chưa có:</a:t>
            </a:r>
            <a:pPr indent="0" marL="0">
              <a:buNone/>
            </a:pPr>
            <a:r>
              <a:rPr lang="en-US" sz="1400" dirty="0">
                <a:solidFill>
                  <a:schemeClr val="tx1"/>
                </a:solidFill>
              </a:rPr>
              <a:t> form Thêm sản phẩm mở sẵn mã vạch, chỉ cần gõ tên và giá.</a:t>
            </a:r>
            <a:endParaRPr lang="en-US" sz="1400" dirty="0"/>
          </a:p>
        </p:txBody>
      </p:sp>
      <p:sp>
        <p:nvSpPr>
          <p:cNvPr id="15" name="so-5"/>
          <p:cNvSpPr txBox="1"/>
          <p:nvPr/>
        </p:nvSpPr>
        <p:spPr>
          <a:xfrm>
            <a:off x="8101584" y="4346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6" name="buoc-5"/>
          <p:cNvSpPr txBox="1"/>
          <p:nvPr/>
        </p:nvSpPr>
        <p:spPr>
          <a:xfrm>
            <a:off x="8567928" y="4328160"/>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"Vừa quét"</a:t>
            </a:r>
            <a:pPr indent="0" marL="0">
              <a:buNone/>
            </a:pPr>
            <a:r>
              <a:rPr lang="en-US" sz="1400" dirty="0">
                <a:solidFill>
                  <a:schemeClr val="tx1"/>
                </a:solidFill>
              </a:rPr>
              <a:t> giữ 10 mã gần nhất để xem lại.</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Nhập và xuất sản phẩm bằng Excel</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5 · Sản phẩm</a:t>
            </a:r>
            <a:endParaRPr lang="en-US" sz="1200" dirty="0"/>
          </a:p>
        </p:txBody>
      </p:sp>
      <p:sp>
        <p:nvSpPr>
          <p:cNvPr id="4" name="excel-import-khung"/>
          <p:cNvSpPr/>
          <p:nvPr/>
        </p:nvSpPr>
        <p:spPr>
          <a:xfrm>
            <a:off x="490075" y="1216152"/>
            <a:ext cx="5969290" cy="502005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excel-import" descr="excel-import">    </p:cNvPr>
          <p:cNvPicPr>
            <a:picLocks noChangeAspect="1"/>
          </p:cNvPicPr>
          <p:nvPr/>
        </p:nvPicPr>
        <p:blipFill>
          <a:blip r:embed="rId1"/>
          <a:stretch>
            <a:fillRect/>
          </a:stretch>
        </p:blipFill>
        <p:spPr>
          <a:xfrm>
            <a:off x="508363" y="1234440"/>
            <a:ext cx="5932714" cy="4983480"/>
          </a:xfrm>
          <a:prstGeom prst="rect">
            <a:avLst/>
          </a:prstGeom>
        </p:spPr>
      </p:pic>
      <p:sp>
        <p:nvSpPr>
          <p:cNvPr id="6" name="so-1"/>
          <p:cNvSpPr txBox="1"/>
          <p:nvPr/>
        </p:nvSpPr>
        <p:spPr>
          <a:xfrm>
            <a:off x="682142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7287768" y="1280160"/>
            <a:ext cx="4416552" cy="329184"/>
          </a:xfrm>
          <a:prstGeom prst="rect">
            <a:avLst/>
          </a:prstGeom>
          <a:noFill/>
          <a:ln/>
        </p:spPr>
        <p:txBody>
          <a:bodyPr wrap="square" lIns="25400" tIns="0" rIns="0" bIns="0" rtlCol="0" anchor="t"/>
          <a:lstStyle/>
          <a:p>
            <a:pPr indent="0" marL="0">
              <a:buNone/>
            </a:pPr>
            <a:r>
              <a:rPr lang="en-US" sz="1400" b="1" dirty="0">
                <a:solidFill>
                  <a:schemeClr val="tx1"/>
                </a:solidFill>
              </a:rPr>
              <a:t>Tải file mẫu,</a:t>
            </a:r>
            <a:pPr indent="0" marL="0">
              <a:buNone/>
            </a:pPr>
            <a:r>
              <a:rPr lang="en-US" sz="1400" dirty="0">
                <a:solidFill>
                  <a:schemeClr val="tx1"/>
                </a:solidFill>
              </a:rPr>
              <a:t> hoặc Xuất Excel danh sách đang có.</a:t>
            </a:r>
            <a:endParaRPr lang="en-US" sz="1400" dirty="0"/>
          </a:p>
        </p:txBody>
      </p:sp>
      <p:sp>
        <p:nvSpPr>
          <p:cNvPr id="8" name="so-2"/>
          <p:cNvSpPr txBox="1"/>
          <p:nvPr/>
        </p:nvSpPr>
        <p:spPr>
          <a:xfrm>
            <a:off x="6821424" y="18105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7287768" y="1792224"/>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Sửa trong Excel:</a:t>
            </a:r>
            <a:pPr indent="0" marL="0">
              <a:buNone/>
            </a:pPr>
            <a:r>
              <a:rPr lang="en-US" sz="1400" dirty="0">
                <a:solidFill>
                  <a:schemeClr val="tx1"/>
                </a:solidFill>
              </a:rPr>
              <a:t> Mã vạch, Tên, Đơn vị, Giá nhập, Giá bán, Tồn, Hàng cân, Danh mục, Tồn tối thiểu.</a:t>
            </a:r>
            <a:endParaRPr lang="en-US" sz="1400" dirty="0"/>
          </a:p>
        </p:txBody>
      </p:sp>
      <p:sp>
        <p:nvSpPr>
          <p:cNvPr id="10" name="so-3"/>
          <p:cNvSpPr txBox="1"/>
          <p:nvPr/>
        </p:nvSpPr>
        <p:spPr>
          <a:xfrm>
            <a:off x="6821424" y="250037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7287768" y="2482088"/>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"Nhập từ Excel"</a:t>
            </a:r>
            <a:pPr indent="0" marL="0">
              <a:buNone/>
            </a:pPr>
            <a:r>
              <a:rPr lang="en-US" sz="1400" dirty="0">
                <a:solidFill>
                  <a:schemeClr val="tx1"/>
                </a:solidFill>
              </a:rPr>
              <a:t> → chọn hoặc kéo thả file .xlsx / .csv.</a:t>
            </a:r>
            <a:endParaRPr lang="en-US" sz="1400" dirty="0"/>
          </a:p>
        </p:txBody>
      </p:sp>
      <p:sp>
        <p:nvSpPr>
          <p:cNvPr id="12" name="so-4"/>
          <p:cNvSpPr txBox="1"/>
          <p:nvPr/>
        </p:nvSpPr>
        <p:spPr>
          <a:xfrm>
            <a:off x="6821424" y="319024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7287768" y="3171952"/>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Trùng mã vạch:</a:t>
            </a:r>
            <a:pPr indent="0" marL="0">
              <a:buNone/>
            </a:pPr>
            <a:r>
              <a:rPr lang="en-US" sz="1400" dirty="0">
                <a:solidFill>
                  <a:schemeClr val="tx1"/>
                </a:solidFill>
              </a:rPr>
              <a:t> cập nhật (không đổi tồn). Không có mã: khớp theo tên. Còn lại: tạo mới.</a:t>
            </a:r>
            <a:endParaRPr lang="en-US" sz="1400" dirty="0"/>
          </a:p>
        </p:txBody>
      </p:sp>
      <p:sp>
        <p:nvSpPr>
          <p:cNvPr id="14" name="so-5"/>
          <p:cNvSpPr txBox="1"/>
          <p:nvPr/>
        </p:nvSpPr>
        <p:spPr>
          <a:xfrm>
            <a:off x="6821424" y="388010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5" name="buoc-5"/>
          <p:cNvSpPr txBox="1"/>
          <p:nvPr/>
        </p:nvSpPr>
        <p:spPr>
          <a:xfrm>
            <a:off x="7287768" y="3861816"/>
            <a:ext cx="4416552" cy="329184"/>
          </a:xfrm>
          <a:prstGeom prst="rect">
            <a:avLst/>
          </a:prstGeom>
          <a:noFill/>
          <a:ln/>
        </p:spPr>
        <p:txBody>
          <a:bodyPr wrap="square" lIns="25400" tIns="0" rIns="0" bIns="0" rtlCol="0" anchor="t"/>
          <a:lstStyle/>
          <a:p>
            <a:pPr indent="0" marL="0">
              <a:buNone/>
            </a:pPr>
            <a:r>
              <a:rPr lang="en-US" sz="1400" b="1" dirty="0">
                <a:solidFill>
                  <a:schemeClr val="tx1"/>
                </a:solidFill>
              </a:rPr>
              <a:t>Kết quả</a:t>
            </a:r>
            <a:pPr indent="0" marL="0">
              <a:buNone/>
            </a:pPr>
            <a:r>
              <a:rPr lang="en-US" sz="1400" dirty="0">
                <a:solidFill>
                  <a:schemeClr val="tx1"/>
                </a:solidFill>
              </a:rPr>
              <a:t> báo số tạo mới, cập nhật và dòng lỗi.</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Danh mục hàng</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5 · Sản phẩm</a:t>
            </a:r>
            <a:endParaRPr lang="en-US" sz="1200" dirty="0"/>
          </a:p>
        </p:txBody>
      </p:sp>
      <p:sp>
        <p:nvSpPr>
          <p:cNvPr id="4" name="categories-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categories" descr="categories">    </p:cNvPr>
          <p:cNvPicPr>
            <a:picLocks noChangeAspect="1"/>
          </p:cNvPicPr>
          <p:nvPr/>
        </p:nvPicPr>
        <p:blipFill>
          <a:blip r:embed="rId1"/>
          <a:stretch>
            <a:fillRect/>
          </a:stretch>
        </p:blipFill>
        <p:spPr>
          <a:xfrm>
            <a:off x="502920" y="1234440"/>
            <a:ext cx="7269480" cy="4089083"/>
          </a:xfrm>
          <a:prstGeom prst="rect">
            <a:avLst/>
          </a:prstGeom>
        </p:spPr>
      </p:pic>
      <p:sp>
        <p:nvSpPr>
          <p:cNvPr id="6"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8567928" y="1280160"/>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"Thêm danh mục":</a:t>
            </a:r>
            <a:pPr indent="0" marL="0">
              <a:buNone/>
            </a:pPr>
            <a:r>
              <a:rPr lang="en-US" sz="1400" dirty="0">
                <a:solidFill>
                  <a:schemeClr val="tx1"/>
                </a:solidFill>
              </a:rPr>
              <a:t> nhóm hàng như Đồ uống, Bánh kẹo, Gia vị…</a:t>
            </a:r>
            <a:endParaRPr lang="en-US" sz="1400" dirty="0"/>
          </a:p>
        </p:txBody>
      </p:sp>
      <p:sp>
        <p:nvSpPr>
          <p:cNvPr id="8" name="so-2"/>
          <p:cNvSpPr txBox="1"/>
          <p:nvPr/>
        </p:nvSpPr>
        <p:spPr>
          <a:xfrm>
            <a:off x="8101584" y="19883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8567928" y="1970024"/>
            <a:ext cx="3136392" cy="723900"/>
          </a:xfrm>
          <a:prstGeom prst="rect">
            <a:avLst/>
          </a:prstGeom>
          <a:noFill/>
          <a:ln/>
        </p:spPr>
        <p:txBody>
          <a:bodyPr wrap="square" lIns="25400" tIns="0" rIns="0" bIns="0" rtlCol="0" anchor="t"/>
          <a:lstStyle/>
          <a:p>
            <a:pPr indent="0" marL="0">
              <a:buNone/>
            </a:pPr>
            <a:r>
              <a:rPr lang="en-US" sz="1400" b="1" dirty="0">
                <a:solidFill>
                  <a:schemeClr val="tx1"/>
                </a:solidFill>
              </a:rPr>
              <a:t>Nút ⋯:</a:t>
            </a:r>
            <a:pPr indent="0" marL="0">
              <a:buNone/>
            </a:pPr>
            <a:r>
              <a:rPr lang="en-US" sz="1400" dirty="0">
                <a:solidFill>
                  <a:schemeClr val="tx1"/>
                </a:solidFill>
              </a:rPr>
              <a:t> Xem sản phẩm, Đổi tên, Xóa danh mục. Xóa thì hàng chuyển sang "Không danh mục", không mất hàng.</a:t>
            </a:r>
            <a:endParaRPr lang="en-US" sz="1400" dirty="0"/>
          </a:p>
        </p:txBody>
      </p:sp>
      <p:sp>
        <p:nvSpPr>
          <p:cNvPr id="10" name="so-3"/>
          <p:cNvSpPr txBox="1"/>
          <p:nvPr/>
        </p:nvSpPr>
        <p:spPr>
          <a:xfrm>
            <a:off x="8101584" y="289509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8567928" y="2876804"/>
            <a:ext cx="3136392" cy="329184"/>
          </a:xfrm>
          <a:prstGeom prst="rect">
            <a:avLst/>
          </a:prstGeom>
          <a:noFill/>
          <a:ln/>
        </p:spPr>
        <p:txBody>
          <a:bodyPr wrap="square" lIns="25400" tIns="0" rIns="0" bIns="0" rtlCol="0" anchor="t"/>
          <a:lstStyle/>
          <a:p>
            <a:pPr indent="0" marL="0">
              <a:buNone/>
            </a:pPr>
            <a:r>
              <a:rPr lang="en-US" sz="1400" b="1" dirty="0">
                <a:solidFill>
                  <a:schemeClr val="tx1"/>
                </a:solidFill>
              </a:rPr>
              <a:t>Mũi tên ↑ ↓</a:t>
            </a:r>
            <a:pPr indent="0" marL="0">
              <a:buNone/>
            </a:pPr>
            <a:r>
              <a:rPr lang="en-US" sz="1400" dirty="0">
                <a:solidFill>
                  <a:schemeClr val="tx1"/>
                </a:solidFill>
              </a:rPr>
              <a:t> đổi thứ tự danh mục.</a:t>
            </a:r>
            <a:endParaRPr lang="en-US" sz="1400" dirty="0"/>
          </a:p>
        </p:txBody>
      </p:sp>
      <p:sp>
        <p:nvSpPr>
          <p:cNvPr id="12" name="so-4"/>
          <p:cNvSpPr txBox="1"/>
          <p:nvPr/>
        </p:nvSpPr>
        <p:spPr>
          <a:xfrm>
            <a:off x="8101584" y="340715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8567928" y="3388868"/>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Dùng danh mục để lọc</a:t>
            </a:r>
            <a:pPr indent="0" marL="0">
              <a:buNone/>
            </a:pPr>
            <a:r>
              <a:rPr lang="en-US" sz="1400" dirty="0">
                <a:solidFill>
                  <a:schemeClr val="tx1"/>
                </a:solidFill>
              </a:rPr>
              <a:t> ở trang Sản phẩm.</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731520" y="1097280"/>
            <a:ext cx="2743200" cy="1188720"/>
          </a:xfrm>
          <a:prstGeom prst="rect">
            <a:avLst/>
          </a:prstGeom>
          <a:noFill/>
          <a:ln/>
        </p:spPr>
        <p:txBody>
          <a:bodyPr wrap="square" lIns="0" tIns="0" rIns="0" bIns="0" rtlCol="0" anchor="ctr"/>
          <a:lstStyle/>
          <a:p>
            <a:pPr indent="0" marL="0">
              <a:buNone/>
            </a:pPr>
            <a:r>
              <a:rPr lang="en-US" sz="8000" b="1" dirty="0">
                <a:solidFill>
                  <a:srgbClr val="FDBA74"/>
                </a:solidFill>
              </a:rPr>
              <a:t>06</a:t>
            </a:r>
            <a:endParaRPr lang="en-US" sz="8000" dirty="0"/>
          </a:p>
        </p:txBody>
      </p:sp>
      <p:sp>
        <p:nvSpPr>
          <p:cNvPr id="3" name="Text 0"/>
          <p:cNvSpPr/>
          <p:nvPr>
            <p:ph idx="100" type="title" hasCustomPrompt="1"/>
          </p:nvPr>
        </p:nvSpPr>
        <p:spPr>
          <a:xfrm>
            <a:off x="731520" y="2331720"/>
            <a:ext cx="5669280" cy="1463040"/>
          </a:xfrm>
          <a:prstGeom prst="rect">
            <a:avLst/>
          </a:prstGeom>
          <a:noFill/>
          <a:ln/>
        </p:spPr>
        <p:txBody>
          <a:bodyPr wrap="square" lIns="0" tIns="0" rIns="0" bIns="0" rtlCol="0" anchor="t"/>
          <a:lstStyle/>
          <a:p>
            <a:pPr algn="l" indent="0" marL="0">
              <a:buNone/>
            </a:pPr>
            <a:r>
              <a:rPr lang="en-US" sz="4400" b="1" dirty="0">
                <a:solidFill>
                  <a:schemeClr val="bg1"/>
                </a:solidFill>
              </a:rPr>
              <a:t>Nhập hàng và kho</a:t>
            </a:r>
            <a:endParaRPr lang="en-US" sz="4400" dirty="0"/>
          </a:p>
        </p:txBody>
      </p:sp>
      <p:sp>
        <p:nvSpPr>
          <p:cNvPr id="4" name="Shape 2"/>
          <p:cNvSpPr/>
          <p:nvPr/>
        </p:nvSpPr>
        <p:spPr>
          <a:xfrm>
            <a:off x="6903720" y="1051560"/>
            <a:ext cx="4754880" cy="4754880"/>
          </a:xfrm>
          <a:prstGeom prst="roundRect">
            <a:avLst>
              <a:gd name="adj" fmla="val 3846"/>
            </a:avLst>
          </a:prstGeom>
          <a:solidFill>
            <a:schemeClr val="bg1">
              <a:alpha val="8000"/>
            </a:schemeClr>
          </a:solidFill>
          <a:ln w="9525">
            <a:solidFill>
              <a:schemeClr val="bg1">
                <a:alpha val="20000"/>
              </a:schemeClr>
            </a:solidFill>
            <a:prstDash val="solid"/>
          </a:ln>
        </p:spPr>
      </p:sp>
      <p:pic>
        <p:nvPicPr>
          <p:cNvPr id="5" name="Image 0" descr="Nhập hàng và kho">    </p:cNvPr>
          <p:cNvPicPr>
            <a:picLocks noChangeAspect="1"/>
          </p:cNvPicPr>
          <p:nvPr/>
        </p:nvPicPr>
        <p:blipFill>
          <a:blip r:embed="rId1"/>
          <a:stretch>
            <a:fillRect/>
          </a:stretch>
        </p:blipFill>
        <p:spPr>
          <a:xfrm>
            <a:off x="7269480" y="1371600"/>
            <a:ext cx="548640" cy="548640"/>
          </a:xfrm>
          <a:prstGeom prst="rect">
            <a:avLst/>
          </a:prstGeom>
        </p:spPr>
      </p:pic>
      <p:sp>
        <p:nvSpPr>
          <p:cNvPr id="6" name="Text 3"/>
          <p:cNvSpPr txBox="1"/>
          <p:nvPr/>
        </p:nvSpPr>
        <p:spPr>
          <a:xfrm>
            <a:off x="8001000" y="1417320"/>
            <a:ext cx="3474720" cy="457200"/>
          </a:xfrm>
          <a:prstGeom prst="rect">
            <a:avLst/>
          </a:prstGeom>
          <a:noFill/>
          <a:ln/>
        </p:spPr>
        <p:txBody>
          <a:bodyPr wrap="square" lIns="0" tIns="0" rIns="0" bIns="0" rtlCol="0" anchor="ctr"/>
          <a:lstStyle/>
          <a:p>
            <a:pPr indent="0" marL="0">
              <a:buNone/>
            </a:pPr>
            <a:r>
              <a:rPr lang="en-US" sz="1600" b="1" dirty="0">
                <a:solidFill>
                  <a:schemeClr val="bg1"/>
                </a:solidFill>
              </a:rPr>
              <a:t>Trong phần này</a:t>
            </a:r>
            <a:endParaRPr lang="en-US" sz="1600" dirty="0"/>
          </a:p>
        </p:txBody>
      </p:sp>
      <p:sp>
        <p:nvSpPr>
          <p:cNvPr id="7" name="Text 4"/>
          <p:cNvSpPr txBox="1"/>
          <p:nvPr/>
        </p:nvSpPr>
        <p:spPr>
          <a:xfrm>
            <a:off x="7269480" y="2148840"/>
            <a:ext cx="4114800" cy="347472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chemeClr val="bg1"/>
                </a:solidFill>
              </a:rPr>
              <a:t>Tạo phiếu nhập</a:t>
            </a:r>
            <a:endParaRPr lang="en-US" sz="1700" dirty="0"/>
          </a:p>
          <a:p>
            <a:pPr marL="342900" indent="-342900">
              <a:spcAft>
                <a:spcPts val="900"/>
              </a:spcAft>
              <a:buSzPct val="100000"/>
              <a:buChar char="•"/>
            </a:pPr>
            <a:r>
              <a:rPr lang="en-US" sz="1700" dirty="0">
                <a:solidFill>
                  <a:schemeClr val="bg1"/>
                </a:solidFill>
              </a:rPr>
              <a:t>Nhà cung cấp và trả nợ</a:t>
            </a:r>
            <a:endParaRPr lang="en-US" sz="1700" dirty="0"/>
          </a:p>
          <a:p>
            <a:pPr marL="342900" indent="-342900">
              <a:spcAft>
                <a:spcPts val="900"/>
              </a:spcAft>
              <a:buSzPct val="100000"/>
              <a:buChar char="•"/>
            </a:pPr>
            <a:r>
              <a:rPr lang="en-US" sz="1700" dirty="0">
                <a:solidFill>
                  <a:schemeClr val="bg1"/>
                </a:solidFill>
              </a:rPr>
              <a:t>Trả hàng cho nhà cung cấp</a:t>
            </a:r>
            <a:endParaRPr lang="en-US" sz="1700" dirty="0"/>
          </a:p>
          <a:p>
            <a:pPr marL="342900" indent="-342900">
              <a:spcAft>
                <a:spcPts val="900"/>
              </a:spcAft>
              <a:buSzPct val="100000"/>
              <a:buChar char="•"/>
            </a:pPr>
            <a:r>
              <a:rPr lang="en-US" sz="1700" dirty="0">
                <a:solidFill>
                  <a:schemeClr val="bg1"/>
                </a:solidFill>
              </a:rPr>
              <a:t>Kiểm kê kho</a:t>
            </a:r>
            <a:endParaRPr lang="en-US" sz="1700" dirty="0"/>
          </a:p>
          <a:p>
            <a:pPr marL="342900" indent="-342900">
              <a:spcAft>
                <a:spcPts val="900"/>
              </a:spcAft>
              <a:buSzPct val="100000"/>
              <a:buChar char="•"/>
            </a:pPr>
            <a:r>
              <a:rPr lang="en-US" sz="1700" dirty="0">
                <a:solidFill>
                  <a:schemeClr val="bg1"/>
                </a:solidFill>
              </a:rPr>
              <a:t>In tem mã vạch</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Tạo phiếu nhập hàng</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6 · Kho hàng</a:t>
            </a:r>
            <a:endParaRPr lang="en-US" sz="1200" dirty="0"/>
          </a:p>
        </p:txBody>
      </p:sp>
      <p:sp>
        <p:nvSpPr>
          <p:cNvPr id="4" name="import-form-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import-form" descr="import-form">    </p:cNvPr>
          <p:cNvPicPr>
            <a:picLocks noChangeAspect="1"/>
          </p:cNvPicPr>
          <p:nvPr/>
        </p:nvPicPr>
        <p:blipFill>
          <a:blip r:embed="rId1"/>
          <a:stretch>
            <a:fillRect/>
          </a:stretch>
        </p:blipFill>
        <p:spPr>
          <a:xfrm>
            <a:off x="502920" y="1234440"/>
            <a:ext cx="7269480" cy="4089083"/>
          </a:xfrm>
          <a:prstGeom prst="rect">
            <a:avLst/>
          </a:prstGeom>
        </p:spPr>
      </p:pic>
      <p:sp>
        <p:nvSpPr>
          <p:cNvPr id="6" name="so-1"/>
          <p:cNvSpPr txBox="1"/>
          <p:nvPr/>
        </p:nvSpPr>
        <p:spPr>
          <a:xfrm>
            <a:off x="1739217" y="1637776"/>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o-2"/>
          <p:cNvSpPr txBox="1"/>
          <p:nvPr/>
        </p:nvSpPr>
        <p:spPr>
          <a:xfrm>
            <a:off x="1739217" y="1978533"/>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8" name="so-3"/>
          <p:cNvSpPr txBox="1"/>
          <p:nvPr/>
        </p:nvSpPr>
        <p:spPr>
          <a:xfrm>
            <a:off x="3386209" y="2660047"/>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9" name="so-4"/>
          <p:cNvSpPr txBox="1"/>
          <p:nvPr/>
        </p:nvSpPr>
        <p:spPr>
          <a:xfrm>
            <a:off x="4294894" y="2660047"/>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0" name="so-5"/>
          <p:cNvSpPr txBox="1"/>
          <p:nvPr/>
        </p:nvSpPr>
        <p:spPr>
          <a:xfrm>
            <a:off x="6396228" y="2603254"/>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1" name="so-6"/>
          <p:cNvSpPr txBox="1"/>
          <p:nvPr/>
        </p:nvSpPr>
        <p:spPr>
          <a:xfrm>
            <a:off x="3973068" y="4193453"/>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2" name="so-7"/>
          <p:cNvSpPr txBox="1"/>
          <p:nvPr/>
        </p:nvSpPr>
        <p:spPr>
          <a:xfrm>
            <a:off x="6396228" y="4288107"/>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13"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4" name="buoc-1"/>
          <p:cNvSpPr txBox="1"/>
          <p:nvPr/>
        </p:nvSpPr>
        <p:spPr>
          <a:xfrm>
            <a:off x="8567928" y="1280160"/>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Chọn nhà cung cấp</a:t>
            </a:r>
            <a:pPr indent="0" marL="0">
              <a:buNone/>
            </a:pPr>
            <a:r>
              <a:rPr lang="en-US" sz="1350" dirty="0">
                <a:solidFill>
                  <a:schemeClr val="tx1"/>
                </a:solidFill>
              </a:rPr>
              <a:t> (hoặc Không ghi NCC).</a:t>
            </a:r>
            <a:endParaRPr lang="en-US" sz="1350" dirty="0"/>
          </a:p>
        </p:txBody>
      </p:sp>
      <p:sp>
        <p:nvSpPr>
          <p:cNvPr id="15" name="so-2"/>
          <p:cNvSpPr txBox="1"/>
          <p:nvPr/>
        </p:nvSpPr>
        <p:spPr>
          <a:xfrm>
            <a:off x="8101584" y="190881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buoc-2"/>
          <p:cNvSpPr txBox="1"/>
          <p:nvPr/>
        </p:nvSpPr>
        <p:spPr>
          <a:xfrm>
            <a:off x="8567928" y="1890522"/>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Bắn mã / gõ tên hàng về.</a:t>
            </a:r>
            <a:pPr indent="0" marL="0">
              <a:buNone/>
            </a:pPr>
            <a:r>
              <a:rPr lang="en-US" sz="1350" dirty="0">
                <a:solidFill>
                  <a:schemeClr val="tx1"/>
                </a:solidFill>
              </a:rPr>
              <a:t> Mã lạ mở form thêm sản phẩm.</a:t>
            </a:r>
            <a:endParaRPr lang="en-US" sz="1350" dirty="0"/>
          </a:p>
        </p:txBody>
      </p:sp>
      <p:sp>
        <p:nvSpPr>
          <p:cNvPr id="17" name="so-3"/>
          <p:cNvSpPr txBox="1"/>
          <p:nvPr/>
        </p:nvSpPr>
        <p:spPr>
          <a:xfrm>
            <a:off x="8101584" y="251917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buoc-3"/>
          <p:cNvSpPr txBox="1"/>
          <p:nvPr/>
        </p:nvSpPr>
        <p:spPr>
          <a:xfrm>
            <a:off x="8567928" y="2500884"/>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Đơn vị:</a:t>
            </a:r>
            <a:pPr indent="0" marL="0">
              <a:buNone/>
            </a:pPr>
            <a:r>
              <a:rPr lang="en-US" sz="1350" dirty="0">
                <a:solidFill>
                  <a:schemeClr val="tx1"/>
                </a:solidFill>
              </a:rPr>
              <a:t> lon hay Thùng.</a:t>
            </a:r>
            <a:endParaRPr lang="en-US" sz="1350" dirty="0"/>
          </a:p>
        </p:txBody>
      </p:sp>
      <p:sp>
        <p:nvSpPr>
          <p:cNvPr id="19" name="so-4"/>
          <p:cNvSpPr txBox="1"/>
          <p:nvPr/>
        </p:nvSpPr>
        <p:spPr>
          <a:xfrm>
            <a:off x="8101584" y="296722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buoc-4"/>
          <p:cNvSpPr txBox="1"/>
          <p:nvPr/>
        </p:nvSpPr>
        <p:spPr>
          <a:xfrm>
            <a:off x="8567928" y="2948940"/>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Số lượng, Giá nhập</a:t>
            </a:r>
            <a:pPr indent="0" marL="0">
              <a:buNone/>
            </a:pPr>
            <a:r>
              <a:rPr lang="en-US" sz="1350" dirty="0">
                <a:solidFill>
                  <a:schemeClr val="tx1"/>
                </a:solidFill>
              </a:rPr>
              <a:t> theo hóa đơn NCC.</a:t>
            </a:r>
            <a:endParaRPr lang="en-US" sz="1350" dirty="0"/>
          </a:p>
        </p:txBody>
      </p:sp>
      <p:sp>
        <p:nvSpPr>
          <p:cNvPr id="21" name="so-5"/>
          <p:cNvSpPr txBox="1"/>
          <p:nvPr/>
        </p:nvSpPr>
        <p:spPr>
          <a:xfrm>
            <a:off x="8101584" y="341528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buoc-5"/>
          <p:cNvSpPr txBox="1"/>
          <p:nvPr/>
        </p:nvSpPr>
        <p:spPr>
          <a:xfrm>
            <a:off x="8567928" y="3396996"/>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Giá bán:</a:t>
            </a:r>
            <a:pPr indent="0" marL="0">
              <a:buNone/>
            </a:pPr>
            <a:r>
              <a:rPr lang="en-US" sz="1350" dirty="0">
                <a:solidFill>
                  <a:schemeClr val="tx1"/>
                </a:solidFill>
              </a:rPr>
              <a:t> sửa nếu muốn đổi giá; xem % lãi.</a:t>
            </a:r>
            <a:endParaRPr lang="en-US" sz="1350" dirty="0"/>
          </a:p>
        </p:txBody>
      </p:sp>
      <p:sp>
        <p:nvSpPr>
          <p:cNvPr id="23" name="so-6"/>
          <p:cNvSpPr txBox="1"/>
          <p:nvPr/>
        </p:nvSpPr>
        <p:spPr>
          <a:xfrm>
            <a:off x="8101584" y="402564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4" name="buoc-6"/>
          <p:cNvSpPr txBox="1"/>
          <p:nvPr/>
        </p:nvSpPr>
        <p:spPr>
          <a:xfrm>
            <a:off x="8567928" y="4007358"/>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Đã trả:</a:t>
            </a:r>
            <a:pPr indent="0" marL="0">
              <a:buNone/>
            </a:pPr>
            <a:r>
              <a:rPr lang="en-US" sz="1350" dirty="0">
                <a:solidFill>
                  <a:schemeClr val="tx1"/>
                </a:solidFill>
              </a:rPr>
              <a:t> số tiền trả NCC, phần còn lại ghi nợ NCC.</a:t>
            </a:r>
            <a:endParaRPr lang="en-US" sz="1350" dirty="0"/>
          </a:p>
        </p:txBody>
      </p:sp>
      <p:sp>
        <p:nvSpPr>
          <p:cNvPr id="25" name="so-7"/>
          <p:cNvSpPr txBox="1"/>
          <p:nvPr/>
        </p:nvSpPr>
        <p:spPr>
          <a:xfrm>
            <a:off x="8101584" y="463600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26" name="buoc-7"/>
          <p:cNvSpPr txBox="1"/>
          <p:nvPr/>
        </p:nvSpPr>
        <p:spPr>
          <a:xfrm>
            <a:off x="8567928" y="4617720"/>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Lưu phiếu (F9):</a:t>
            </a:r>
            <a:pPr indent="0" marL="0">
              <a:buNone/>
            </a:pPr>
            <a:r>
              <a:rPr lang="en-US" sz="1350" dirty="0">
                <a:solidFill>
                  <a:schemeClr val="tx1"/>
                </a:solidFill>
              </a:rPr>
              <a:t> tồn tăng, giá nhập được cập nhật.</a:t>
            </a:r>
            <a:endParaRPr lang="en-US" sz="1350" dirty="0"/>
          </a:p>
        </p:txBody>
      </p:sp>
      <p:sp>
        <p:nvSpPr>
          <p:cNvPr id="27" name="meo"/>
          <p:cNvSpPr/>
          <p:nvPr/>
        </p:nvSpPr>
        <p:spPr>
          <a:xfrm>
            <a:off x="8092440" y="5383530"/>
            <a:ext cx="3611880" cy="658876"/>
          </a:xfrm>
          <a:prstGeom prst="roundRect">
            <a:avLst>
              <a:gd name="adj" fmla="val 11103"/>
            </a:avLst>
          </a:prstGeom>
          <a:solidFill>
            <a:schemeClr val="accent1">
              <a:alpha val="10000"/>
            </a:schemeClr>
          </a:solidFill>
          <a:ln w="9525">
            <a:solidFill>
              <a:schemeClr val="accent1">
                <a:alpha val="45000"/>
              </a:schemeClr>
            </a:solidFill>
            <a:prstDash val="solid"/>
          </a:ln>
        </p:spPr>
      </p:sp>
      <p:pic>
        <p:nvPicPr>
          <p:cNvPr id="28" name="Image 1" descr="Mẹo">    </p:cNvPr>
          <p:cNvPicPr>
            <a:picLocks noChangeAspect="1"/>
          </p:cNvPicPr>
          <p:nvPr/>
        </p:nvPicPr>
        <p:blipFill>
          <a:blip r:embed="rId2"/>
          <a:stretch>
            <a:fillRect/>
          </a:stretch>
        </p:blipFill>
        <p:spPr>
          <a:xfrm>
            <a:off x="8257032" y="5529834"/>
            <a:ext cx="274320" cy="274320"/>
          </a:xfrm>
          <a:prstGeom prst="rect">
            <a:avLst/>
          </a:prstGeom>
        </p:spPr>
      </p:pic>
      <p:sp>
        <p:nvSpPr>
          <p:cNvPr id="29" name="Text 25"/>
          <p:cNvSpPr txBox="1"/>
          <p:nvPr/>
        </p:nvSpPr>
        <p:spPr>
          <a:xfrm>
            <a:off x="8641080" y="5456682"/>
            <a:ext cx="2926080" cy="512572"/>
          </a:xfrm>
          <a:prstGeom prst="rect">
            <a:avLst/>
          </a:prstGeom>
          <a:noFill/>
          <a:ln/>
        </p:spPr>
        <p:txBody>
          <a:bodyPr wrap="square" lIns="0" tIns="0" rIns="0" bIns="0" rtlCol="0" anchor="ctr"/>
          <a:lstStyle/>
          <a:p>
            <a:pPr indent="0" marL="0">
              <a:buNone/>
            </a:pPr>
            <a:r>
              <a:rPr lang="en-US" sz="1300" dirty="0">
                <a:solidFill>
                  <a:schemeClr val="tx1"/>
                </a:solidFill>
              </a:rPr>
              <a:t>Phiếu đang nhập dở tự lưu nháp trên máy, lỡ tắt trang vẫn còn.</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Danh sách phiếu nhập</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6 · Kho hàng</a:t>
            </a:r>
            <a:endParaRPr lang="en-US" sz="1200" dirty="0"/>
          </a:p>
        </p:txBody>
      </p:sp>
      <p:sp>
        <p:nvSpPr>
          <p:cNvPr id="4" name="imports-khung"/>
          <p:cNvSpPr/>
          <p:nvPr/>
        </p:nvSpPr>
        <p:spPr>
          <a:xfrm>
            <a:off x="797247" y="1216152"/>
            <a:ext cx="6051296" cy="341985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imports" descr="imports">    </p:cNvPr>
          <p:cNvPicPr>
            <a:picLocks noChangeAspect="1"/>
          </p:cNvPicPr>
          <p:nvPr/>
        </p:nvPicPr>
        <p:blipFill>
          <a:blip r:embed="rId1"/>
          <a:stretch>
            <a:fillRect/>
          </a:stretch>
        </p:blipFill>
        <p:spPr>
          <a:xfrm>
            <a:off x="815535" y="1234440"/>
            <a:ext cx="6014720" cy="3383280"/>
          </a:xfrm>
          <a:prstGeom prst="rect">
            <a:avLst/>
          </a:prstGeom>
        </p:spPr>
      </p:pic>
      <p:sp>
        <p:nvSpPr>
          <p:cNvPr id="6" name="so-1"/>
          <p:cNvSpPr txBox="1"/>
          <p:nvPr/>
        </p:nvSpPr>
        <p:spPr>
          <a:xfrm>
            <a:off x="512064" y="486460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4"/>
          <p:cNvSpPr txBox="1"/>
          <p:nvPr/>
        </p:nvSpPr>
        <p:spPr>
          <a:xfrm>
            <a:off x="978408" y="4846320"/>
            <a:ext cx="6164463" cy="552704"/>
          </a:xfrm>
          <a:prstGeom prst="rect">
            <a:avLst/>
          </a:prstGeom>
          <a:noFill/>
          <a:ln/>
        </p:spPr>
        <p:txBody>
          <a:bodyPr wrap="square" lIns="25400" tIns="0" rIns="0" bIns="0" rtlCol="0" anchor="t"/>
          <a:lstStyle/>
          <a:p>
            <a:pPr indent="0" marL="0">
              <a:buNone/>
            </a:pPr>
            <a:r>
              <a:rPr lang="en-US" sz="1400" b="1" dirty="0">
                <a:solidFill>
                  <a:schemeClr val="tx1"/>
                </a:solidFill>
              </a:rPr>
              <a:t>Menu Nhập hàng:</a:t>
            </a:r>
            <a:pPr indent="0" marL="0">
              <a:buNone/>
            </a:pPr>
            <a:r>
              <a:rPr lang="en-US" sz="1400" dirty="0">
                <a:solidFill>
                  <a:schemeClr val="tx1"/>
                </a:solidFill>
              </a:rPr>
              <a:t> tổng nhập, đã trả. Lọc theo nhà cung cấp, thời gian, "Chỉ phiếu còn nợ".</a:t>
            </a:r>
            <a:endParaRPr lang="en-US" sz="1400" dirty="0"/>
          </a:p>
        </p:txBody>
      </p:sp>
      <p:sp>
        <p:nvSpPr>
          <p:cNvPr id="8" name="import-detail-khung"/>
          <p:cNvSpPr/>
          <p:nvPr/>
        </p:nvSpPr>
        <p:spPr>
          <a:xfrm>
            <a:off x="7744251" y="1216152"/>
            <a:ext cx="3770168" cy="341985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9" name="import-detail" descr="import-detail">    </p:cNvPr>
          <p:cNvPicPr>
            <a:picLocks noChangeAspect="1"/>
          </p:cNvPicPr>
          <p:nvPr/>
        </p:nvPicPr>
        <p:blipFill>
          <a:blip r:embed="rId2"/>
          <a:stretch>
            <a:fillRect/>
          </a:stretch>
        </p:blipFill>
        <p:spPr>
          <a:xfrm>
            <a:off x="7762539" y="1234440"/>
            <a:ext cx="3733592" cy="3383280"/>
          </a:xfrm>
          <a:prstGeom prst="rect">
            <a:avLst/>
          </a:prstGeom>
        </p:spPr>
      </p:pic>
      <p:sp>
        <p:nvSpPr>
          <p:cNvPr id="10" name="so-2"/>
          <p:cNvSpPr txBox="1"/>
          <p:nvPr/>
        </p:nvSpPr>
        <p:spPr>
          <a:xfrm>
            <a:off x="7563495" y="486460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7"/>
          <p:cNvSpPr txBox="1"/>
          <p:nvPr/>
        </p:nvSpPr>
        <p:spPr>
          <a:xfrm>
            <a:off x="8029839" y="4846320"/>
            <a:ext cx="3674481" cy="769620"/>
          </a:xfrm>
          <a:prstGeom prst="rect">
            <a:avLst/>
          </a:prstGeom>
          <a:noFill/>
          <a:ln/>
        </p:spPr>
        <p:txBody>
          <a:bodyPr wrap="square" lIns="25400" tIns="0" rIns="0" bIns="0" rtlCol="0" anchor="t"/>
          <a:lstStyle/>
          <a:p>
            <a:pPr indent="0" marL="0">
              <a:buNone/>
            </a:pPr>
            <a:r>
              <a:rPr lang="en-US" sz="1400" b="1" dirty="0">
                <a:solidFill>
                  <a:schemeClr val="tx1"/>
                </a:solidFill>
              </a:rPr>
              <a:t>Bấm một phiếu:</a:t>
            </a:r>
            <a:pPr indent="0" marL="0">
              <a:buNone/>
            </a:pPr>
            <a:r>
              <a:rPr lang="en-US" sz="1400" dirty="0">
                <a:solidFill>
                  <a:schemeClr val="tx1"/>
                </a:solidFill>
              </a:rPr>
              <a:t> "In tem" cho cả phiếu, hoặc "Hủy phiếu" (tồn và nợ NCC trừ lại, giá giữ nguyên).</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Nhà cung cấp và trả nợ</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6 · Kho hàng</a:t>
            </a:r>
            <a:endParaRPr lang="en-US" sz="1200" dirty="0"/>
          </a:p>
        </p:txBody>
      </p:sp>
      <p:sp>
        <p:nvSpPr>
          <p:cNvPr id="4" name="supplier-detail-khung"/>
          <p:cNvSpPr/>
          <p:nvPr/>
        </p:nvSpPr>
        <p:spPr>
          <a:xfrm>
            <a:off x="1612549" y="1216152"/>
            <a:ext cx="3175702" cy="341985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supplier-detail" descr="supplier-detail">    </p:cNvPr>
          <p:cNvPicPr>
            <a:picLocks noChangeAspect="1"/>
          </p:cNvPicPr>
          <p:nvPr/>
        </p:nvPicPr>
        <p:blipFill>
          <a:blip r:embed="rId1"/>
          <a:stretch>
            <a:fillRect/>
          </a:stretch>
        </p:blipFill>
        <p:spPr>
          <a:xfrm>
            <a:off x="1630837" y="1234440"/>
            <a:ext cx="3139126" cy="3383280"/>
          </a:xfrm>
          <a:prstGeom prst="rect">
            <a:avLst/>
          </a:prstGeom>
        </p:spPr>
      </p:pic>
      <p:sp>
        <p:nvSpPr>
          <p:cNvPr id="6" name="so-1"/>
          <p:cNvSpPr txBox="1"/>
          <p:nvPr/>
        </p:nvSpPr>
        <p:spPr>
          <a:xfrm>
            <a:off x="512064" y="486460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4"/>
          <p:cNvSpPr txBox="1"/>
          <p:nvPr/>
        </p:nvSpPr>
        <p:spPr>
          <a:xfrm>
            <a:off x="978408" y="4846320"/>
            <a:ext cx="4919472" cy="769620"/>
          </a:xfrm>
          <a:prstGeom prst="rect">
            <a:avLst/>
          </a:prstGeom>
          <a:noFill/>
          <a:ln/>
        </p:spPr>
        <p:txBody>
          <a:bodyPr wrap="square" lIns="25400" tIns="0" rIns="0" bIns="0" rtlCol="0" anchor="t"/>
          <a:lstStyle/>
          <a:p>
            <a:pPr indent="0" marL="0">
              <a:buNone/>
            </a:pPr>
            <a:r>
              <a:rPr lang="en-US" sz="1400" b="1" dirty="0">
                <a:solidFill>
                  <a:schemeClr val="tx1"/>
                </a:solidFill>
              </a:rPr>
              <a:t>Mở nhà cung cấp:</a:t>
            </a:r>
            <a:pPr indent="0" marL="0">
              <a:buNone/>
            </a:pPr>
            <a:r>
              <a:rPr lang="en-US" sz="1400" dirty="0">
                <a:solidFill>
                  <a:schemeClr val="tx1"/>
                </a:solidFill>
              </a:rPr>
              <a:t> số tiệm đang nợ và sổ nợ (nhập hàng +, trả nợ −, trả hàng −). Nút "Trả hàng" lập phiếu trả cho NCC này.</a:t>
            </a:r>
            <a:endParaRPr lang="en-US" sz="1400" dirty="0"/>
          </a:p>
        </p:txBody>
      </p:sp>
      <p:sp>
        <p:nvSpPr>
          <p:cNvPr id="8" name="supplier-pay-khung"/>
          <p:cNvSpPr/>
          <p:nvPr/>
        </p:nvSpPr>
        <p:spPr>
          <a:xfrm>
            <a:off x="6713917" y="1216152"/>
            <a:ext cx="4585845" cy="341985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9" name="supplier-pay" descr="supplier-pay">    </p:cNvPr>
          <p:cNvPicPr>
            <a:picLocks noChangeAspect="1"/>
          </p:cNvPicPr>
          <p:nvPr/>
        </p:nvPicPr>
        <p:blipFill>
          <a:blip r:embed="rId2"/>
          <a:stretch>
            <a:fillRect/>
          </a:stretch>
        </p:blipFill>
        <p:spPr>
          <a:xfrm>
            <a:off x="6732205" y="1234440"/>
            <a:ext cx="4549269" cy="3383280"/>
          </a:xfrm>
          <a:prstGeom prst="rect">
            <a:avLst/>
          </a:prstGeom>
        </p:spPr>
      </p:pic>
      <p:sp>
        <p:nvSpPr>
          <p:cNvPr id="10" name="so-2"/>
          <p:cNvSpPr txBox="1"/>
          <p:nvPr/>
        </p:nvSpPr>
        <p:spPr>
          <a:xfrm>
            <a:off x="6318504" y="486460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7"/>
          <p:cNvSpPr txBox="1"/>
          <p:nvPr/>
        </p:nvSpPr>
        <p:spPr>
          <a:xfrm>
            <a:off x="6784848" y="4846320"/>
            <a:ext cx="4919472" cy="552704"/>
          </a:xfrm>
          <a:prstGeom prst="rect">
            <a:avLst/>
          </a:prstGeom>
          <a:noFill/>
          <a:ln/>
        </p:spPr>
        <p:txBody>
          <a:bodyPr wrap="square" lIns="25400" tIns="0" rIns="0" bIns="0" rtlCol="0" anchor="t"/>
          <a:lstStyle/>
          <a:p>
            <a:pPr indent="0" marL="0">
              <a:buNone/>
            </a:pPr>
            <a:r>
              <a:rPr lang="en-US" sz="1400" b="1" dirty="0">
                <a:solidFill>
                  <a:schemeClr val="tx1"/>
                </a:solidFill>
              </a:rPr>
              <a:t>Trả nợ:</a:t>
            </a:r>
            <a:pPr indent="0" marL="0">
              <a:buNone/>
            </a:pPr>
            <a:r>
              <a:rPr lang="en-US" sz="1400" dirty="0">
                <a:solidFill>
                  <a:schemeClr val="tx1"/>
                </a:solidFill>
              </a:rPr>
              <a:t> số tiền điền sẵn toàn bộ nợ, sửa nếu trả một phần, ghi chú → "Xác nhận trả".</a:t>
            </a:r>
            <a:endParaRPr lang="en-US" sz="1400" dirty="0"/>
          </a:p>
        </p:txBody>
      </p:sp>
      <p:sp>
        <p:nvSpPr>
          <p:cNvPr id="12" name="meo"/>
          <p:cNvSpPr/>
          <p:nvPr/>
        </p:nvSpPr>
        <p:spPr>
          <a:xfrm>
            <a:off x="502920" y="5715000"/>
            <a:ext cx="11201400" cy="566928"/>
          </a:xfrm>
          <a:prstGeom prst="roundRect">
            <a:avLst>
              <a:gd name="adj" fmla="val 12903"/>
            </a:avLst>
          </a:prstGeom>
          <a:solidFill>
            <a:schemeClr val="accent1">
              <a:alpha val="10000"/>
            </a:schemeClr>
          </a:solidFill>
          <a:ln w="9525">
            <a:solidFill>
              <a:schemeClr val="accent1">
                <a:alpha val="45000"/>
              </a:schemeClr>
            </a:solidFill>
            <a:prstDash val="solid"/>
          </a:ln>
        </p:spPr>
      </p:sp>
      <p:pic>
        <p:nvPicPr>
          <p:cNvPr id="13" name="Image 2" descr="Mẹo">    </p:cNvPr>
          <p:cNvPicPr>
            <a:picLocks noChangeAspect="1"/>
          </p:cNvPicPr>
          <p:nvPr/>
        </p:nvPicPr>
        <p:blipFill>
          <a:blip r:embed="rId3"/>
          <a:stretch>
            <a:fillRect/>
          </a:stretch>
        </p:blipFill>
        <p:spPr>
          <a:xfrm>
            <a:off x="667512" y="5861304"/>
            <a:ext cx="274320" cy="274320"/>
          </a:xfrm>
          <a:prstGeom prst="rect">
            <a:avLst/>
          </a:prstGeom>
        </p:spPr>
      </p:pic>
      <p:sp>
        <p:nvSpPr>
          <p:cNvPr id="14" name="Text 9"/>
          <p:cNvSpPr txBox="1"/>
          <p:nvPr/>
        </p:nvSpPr>
        <p:spPr>
          <a:xfrm>
            <a:off x="1051560" y="5788152"/>
            <a:ext cx="10515600" cy="420624"/>
          </a:xfrm>
          <a:prstGeom prst="rect">
            <a:avLst/>
          </a:prstGeom>
          <a:noFill/>
          <a:ln/>
        </p:spPr>
        <p:txBody>
          <a:bodyPr wrap="square" lIns="0" tIns="0" rIns="0" bIns="0" rtlCol="0" anchor="ctr"/>
          <a:lstStyle/>
          <a:p>
            <a:pPr indent="0" marL="0">
              <a:buNone/>
            </a:pPr>
            <a:r>
              <a:rPr lang="en-US" sz="1300" dirty="0">
                <a:solidFill>
                  <a:schemeClr val="tx1"/>
                </a:solidFill>
              </a:rPr>
              <a:t>Thêm NCC mới: Nhà cung cấp → "Thêm nhà cung cấp", hoặc ngay trong ô chọn NCC của phiếu nhập.</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Trả hàng cho nhà cung cấp</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6 · Kho hàng</a:t>
            </a:r>
            <a:endParaRPr lang="en-US" sz="1200" dirty="0"/>
          </a:p>
        </p:txBody>
      </p:sp>
      <p:sp>
        <p:nvSpPr>
          <p:cNvPr id="4" name="supplier-return-form-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supplier-return-form" descr="supplier-return-form">    </p:cNvPr>
          <p:cNvPicPr>
            <a:picLocks noChangeAspect="1"/>
          </p:cNvPicPr>
          <p:nvPr/>
        </p:nvPicPr>
        <p:blipFill>
          <a:blip r:embed="rId1"/>
          <a:stretch>
            <a:fillRect/>
          </a:stretch>
        </p:blipFill>
        <p:spPr>
          <a:xfrm>
            <a:off x="502920" y="1234440"/>
            <a:ext cx="7269480" cy="4089083"/>
          </a:xfrm>
          <a:prstGeom prst="rect">
            <a:avLst/>
          </a:prstGeom>
        </p:spPr>
      </p:pic>
      <p:sp>
        <p:nvSpPr>
          <p:cNvPr id="6"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8567928" y="1280160"/>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Trả NCC → "Lập phiếu trả"</a:t>
            </a:r>
            <a:pPr indent="0" marL="0">
              <a:buNone/>
            </a:pPr>
            <a:r>
              <a:rPr lang="en-US" sz="1400" dirty="0">
                <a:solidFill>
                  <a:schemeClr val="tx1"/>
                </a:solidFill>
              </a:rPr>
              <a:t> (hoặc từ Nhà cung cấp → Trả hàng).</a:t>
            </a:r>
            <a:endParaRPr lang="en-US" sz="1400" dirty="0"/>
          </a:p>
        </p:txBody>
      </p:sp>
      <p:sp>
        <p:nvSpPr>
          <p:cNvPr id="8" name="so-2"/>
          <p:cNvSpPr txBox="1"/>
          <p:nvPr/>
        </p:nvSpPr>
        <p:spPr>
          <a:xfrm>
            <a:off x="8101584" y="19883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8567928" y="1970024"/>
            <a:ext cx="3136392" cy="329184"/>
          </a:xfrm>
          <a:prstGeom prst="rect">
            <a:avLst/>
          </a:prstGeom>
          <a:noFill/>
          <a:ln/>
        </p:spPr>
        <p:txBody>
          <a:bodyPr wrap="square" lIns="25400" tIns="0" rIns="0" bIns="0" rtlCol="0" anchor="t"/>
          <a:lstStyle/>
          <a:p>
            <a:pPr indent="0" marL="0">
              <a:buNone/>
            </a:pPr>
            <a:r>
              <a:rPr lang="en-US" sz="1400" b="1" dirty="0">
                <a:solidFill>
                  <a:schemeClr val="tx1"/>
                </a:solidFill>
              </a:rPr>
              <a:t>Bắt buộc chọn nhà cung cấp.</a:t>
            </a:r>
            <a:endParaRPr lang="en-US" sz="1400" dirty="0"/>
          </a:p>
        </p:txBody>
      </p:sp>
      <p:sp>
        <p:nvSpPr>
          <p:cNvPr id="10" name="so-3"/>
          <p:cNvSpPr txBox="1"/>
          <p:nvPr/>
        </p:nvSpPr>
        <p:spPr>
          <a:xfrm>
            <a:off x="8101584" y="250037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8567928" y="2482088"/>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Quét hàng cần trả.</a:t>
            </a:r>
            <a:pPr indent="0" marL="0">
              <a:buNone/>
            </a:pPr>
            <a:r>
              <a:rPr lang="en-US" sz="1400" dirty="0">
                <a:solidFill>
                  <a:schemeClr val="tx1"/>
                </a:solidFill>
              </a:rPr>
              <a:t> Giá trả mặc định là giá nhập gần nhất, sửa được.</a:t>
            </a:r>
            <a:endParaRPr lang="en-US" sz="1400" dirty="0"/>
          </a:p>
        </p:txBody>
      </p:sp>
      <p:sp>
        <p:nvSpPr>
          <p:cNvPr id="12" name="so-4"/>
          <p:cNvSpPr txBox="1"/>
          <p:nvPr/>
        </p:nvSpPr>
        <p:spPr>
          <a:xfrm>
            <a:off x="8101584" y="319024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8567928" y="3171952"/>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Ghi lý do</a:t>
            </a:r>
            <a:pPr indent="0" marL="0">
              <a:buNone/>
            </a:pPr>
            <a:r>
              <a:rPr lang="en-US" sz="1400" dirty="0">
                <a:solidFill>
                  <a:schemeClr val="tx1"/>
                </a:solidFill>
              </a:rPr>
              <a:t> (hết hạn, móp…) → "Lưu phiếu trả".</a:t>
            </a:r>
            <a:endParaRPr lang="en-US" sz="1400" dirty="0"/>
          </a:p>
        </p:txBody>
      </p:sp>
      <p:sp>
        <p:nvSpPr>
          <p:cNvPr id="14" name="so-5"/>
          <p:cNvSpPr txBox="1"/>
          <p:nvPr/>
        </p:nvSpPr>
        <p:spPr>
          <a:xfrm>
            <a:off x="8101584" y="388010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5" name="buoc-5"/>
          <p:cNvSpPr txBox="1"/>
          <p:nvPr/>
        </p:nvSpPr>
        <p:spPr>
          <a:xfrm>
            <a:off x="8567928" y="3861816"/>
            <a:ext cx="3136392" cy="723900"/>
          </a:xfrm>
          <a:prstGeom prst="rect">
            <a:avLst/>
          </a:prstGeom>
          <a:noFill/>
          <a:ln/>
        </p:spPr>
        <p:txBody>
          <a:bodyPr wrap="square" lIns="25400" tIns="0" rIns="0" bIns="0" rtlCol="0" anchor="t"/>
          <a:lstStyle/>
          <a:p>
            <a:pPr indent="0" marL="0">
              <a:buNone/>
            </a:pPr>
            <a:r>
              <a:rPr lang="en-US" sz="1400" b="1" dirty="0">
                <a:solidFill>
                  <a:schemeClr val="tx1"/>
                </a:solidFill>
              </a:rPr>
              <a:t>Tồn kho giảm;</a:t>
            </a:r>
            <a:pPr indent="0" marL="0">
              <a:buNone/>
            </a:pPr>
            <a:r>
              <a:rPr lang="en-US" sz="1400" dirty="0">
                <a:solidFill>
                  <a:schemeClr val="tx1"/>
                </a:solidFill>
              </a:rPr>
              <a:t> trừ nợ NCC trước, phần dư ghi là NCC trả tiền mặt. In phiếu có chỗ ký Bên giao / Bên nhận.</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Kiểm kê kho</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6 · Kho hàng</a:t>
            </a:r>
            <a:endParaRPr lang="en-US" sz="1200" dirty="0"/>
          </a:p>
        </p:txBody>
      </p:sp>
      <p:sp>
        <p:nvSpPr>
          <p:cNvPr id="4" name="stocktake-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stocktake" descr="stocktake">    </p:cNvPr>
          <p:cNvPicPr>
            <a:picLocks noChangeAspect="1"/>
          </p:cNvPicPr>
          <p:nvPr/>
        </p:nvPicPr>
        <p:blipFill>
          <a:blip r:embed="rId1"/>
          <a:stretch>
            <a:fillRect/>
          </a:stretch>
        </p:blipFill>
        <p:spPr>
          <a:xfrm>
            <a:off x="502920" y="1234440"/>
            <a:ext cx="7269480" cy="4089083"/>
          </a:xfrm>
          <a:prstGeom prst="rect">
            <a:avLst/>
          </a:prstGeom>
        </p:spPr>
      </p:pic>
      <p:sp>
        <p:nvSpPr>
          <p:cNvPr id="6" name="so-2"/>
          <p:cNvSpPr txBox="1"/>
          <p:nvPr/>
        </p:nvSpPr>
        <p:spPr>
          <a:xfrm>
            <a:off x="1777079" y="1675638"/>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7" name="so-3"/>
          <p:cNvSpPr txBox="1"/>
          <p:nvPr/>
        </p:nvSpPr>
        <p:spPr>
          <a:xfrm>
            <a:off x="6434090" y="2603254"/>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8" name="so-4"/>
          <p:cNvSpPr txBox="1"/>
          <p:nvPr/>
        </p:nvSpPr>
        <p:spPr>
          <a:xfrm>
            <a:off x="1833872" y="2092119"/>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9" name="so-5"/>
          <p:cNvSpPr txBox="1"/>
          <p:nvPr/>
        </p:nvSpPr>
        <p:spPr>
          <a:xfrm>
            <a:off x="7191327" y="2603254"/>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0" name="so-6"/>
          <p:cNvSpPr txBox="1"/>
          <p:nvPr/>
        </p:nvSpPr>
        <p:spPr>
          <a:xfrm>
            <a:off x="5631418" y="120615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1" name="so-7"/>
          <p:cNvSpPr txBox="1"/>
          <p:nvPr/>
        </p:nvSpPr>
        <p:spPr>
          <a:xfrm>
            <a:off x="4949904" y="120615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12"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3" name="buoc-1"/>
          <p:cNvSpPr txBox="1"/>
          <p:nvPr/>
        </p:nvSpPr>
        <p:spPr>
          <a:xfrm>
            <a:off x="8567928" y="1280160"/>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Kiểm kê → ghi chú</a:t>
            </a:r>
            <a:pPr indent="0" marL="0">
              <a:buNone/>
            </a:pPr>
            <a:r>
              <a:rPr lang="en-US" sz="1350" dirty="0">
                <a:solidFill>
                  <a:schemeClr val="tx1"/>
                </a:solidFill>
              </a:rPr>
              <a:t> (ví dụ "Quầy nước") → "Bắt đầu kiểm kê".</a:t>
            </a:r>
            <a:endParaRPr lang="en-US" sz="1350" dirty="0"/>
          </a:p>
        </p:txBody>
      </p:sp>
      <p:sp>
        <p:nvSpPr>
          <p:cNvPr id="14" name="so-2"/>
          <p:cNvSpPr txBox="1"/>
          <p:nvPr/>
        </p:nvSpPr>
        <p:spPr>
          <a:xfrm>
            <a:off x="8101584" y="190881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buoc-2"/>
          <p:cNvSpPr txBox="1"/>
          <p:nvPr/>
        </p:nvSpPr>
        <p:spPr>
          <a:xfrm>
            <a:off x="8567928" y="1890522"/>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Quét từng món,</a:t>
            </a:r>
            <a:pPr indent="0" marL="0">
              <a:buNone/>
            </a:pPr>
            <a:r>
              <a:rPr lang="en-US" sz="1350" dirty="0">
                <a:solidFill>
                  <a:schemeClr val="tx1"/>
                </a:solidFill>
              </a:rPr>
              <a:t> nhập số đếm được.</a:t>
            </a:r>
            <a:endParaRPr lang="en-US" sz="1350" dirty="0"/>
          </a:p>
        </p:txBody>
      </p:sp>
      <p:sp>
        <p:nvSpPr>
          <p:cNvPr id="16" name="so-3"/>
          <p:cNvSpPr txBox="1"/>
          <p:nvPr/>
        </p:nvSpPr>
        <p:spPr>
          <a:xfrm>
            <a:off x="8101584" y="235686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7" name="buoc-3"/>
          <p:cNvSpPr txBox="1"/>
          <p:nvPr/>
        </p:nvSpPr>
        <p:spPr>
          <a:xfrm>
            <a:off x="8567928" y="2338578"/>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Cột Lệch:</a:t>
            </a:r>
            <a:pPr indent="0" marL="0">
              <a:buNone/>
            </a:pPr>
            <a:r>
              <a:rPr lang="en-US" sz="1350" dirty="0">
                <a:solidFill>
                  <a:schemeClr val="tx1"/>
                </a:solidFill>
              </a:rPr>
              <a:t> xanh là thừa, đỏ là thiếu.</a:t>
            </a:r>
            <a:endParaRPr lang="en-US" sz="1350" dirty="0"/>
          </a:p>
        </p:txBody>
      </p:sp>
      <p:sp>
        <p:nvSpPr>
          <p:cNvPr id="18" name="so-4"/>
          <p:cNvSpPr txBox="1"/>
          <p:nvPr/>
        </p:nvSpPr>
        <p:spPr>
          <a:xfrm>
            <a:off x="8101584" y="280492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9" name="buoc-4"/>
          <p:cNvSpPr txBox="1"/>
          <p:nvPr/>
        </p:nvSpPr>
        <p:spPr>
          <a:xfrm>
            <a:off x="8567928" y="2786634"/>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"Chỉ món lệch"</a:t>
            </a:r>
            <a:pPr indent="0" marL="0">
              <a:buNone/>
            </a:pPr>
            <a:r>
              <a:rPr lang="en-US" sz="1350" dirty="0">
                <a:solidFill>
                  <a:schemeClr val="tx1"/>
                </a:solidFill>
              </a:rPr>
              <a:t> để soát lại.</a:t>
            </a:r>
            <a:endParaRPr lang="en-US" sz="1350" dirty="0"/>
          </a:p>
        </p:txBody>
      </p:sp>
      <p:sp>
        <p:nvSpPr>
          <p:cNvPr id="20" name="so-5"/>
          <p:cNvSpPr txBox="1"/>
          <p:nvPr/>
        </p:nvSpPr>
        <p:spPr>
          <a:xfrm>
            <a:off x="8101584" y="325297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buoc-5"/>
          <p:cNvSpPr txBox="1"/>
          <p:nvPr/>
        </p:nvSpPr>
        <p:spPr>
          <a:xfrm>
            <a:off x="8567928" y="3234690"/>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Bút / thùng rác:</a:t>
            </a:r>
            <a:pPr indent="0" marL="0">
              <a:buNone/>
            </a:pPr>
            <a:r>
              <a:rPr lang="en-US" sz="1350" dirty="0">
                <a:solidFill>
                  <a:schemeClr val="tx1"/>
                </a:solidFill>
              </a:rPr>
              <a:t> sửa số đếm, bỏ món.</a:t>
            </a:r>
            <a:endParaRPr lang="en-US" sz="1350" dirty="0"/>
          </a:p>
        </p:txBody>
      </p:sp>
      <p:sp>
        <p:nvSpPr>
          <p:cNvPr id="22" name="so-6"/>
          <p:cNvSpPr txBox="1"/>
          <p:nvPr/>
        </p:nvSpPr>
        <p:spPr>
          <a:xfrm>
            <a:off x="8101584" y="370103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3" name="buoc-6"/>
          <p:cNvSpPr txBox="1"/>
          <p:nvPr/>
        </p:nvSpPr>
        <p:spPr>
          <a:xfrm>
            <a:off x="8567928" y="3682746"/>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"Chốt kiểm kê":</a:t>
            </a:r>
            <a:pPr indent="0" marL="0">
              <a:buNone/>
            </a:pPr>
            <a:r>
              <a:rPr lang="en-US" sz="1350" dirty="0">
                <a:solidFill>
                  <a:schemeClr val="tx1"/>
                </a:solidFill>
              </a:rPr>
              <a:t> tồn của món lệch được chỉnh theo số đếm.</a:t>
            </a:r>
            <a:endParaRPr lang="en-US" sz="1350" dirty="0"/>
          </a:p>
        </p:txBody>
      </p:sp>
      <p:sp>
        <p:nvSpPr>
          <p:cNvPr id="24" name="so-7"/>
          <p:cNvSpPr txBox="1"/>
          <p:nvPr/>
        </p:nvSpPr>
        <p:spPr>
          <a:xfrm>
            <a:off x="8101584" y="431139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25" name="buoc-7"/>
          <p:cNvSpPr txBox="1"/>
          <p:nvPr/>
        </p:nvSpPr>
        <p:spPr>
          <a:xfrm>
            <a:off x="8567928" y="4293108"/>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"Hủy phiên":</a:t>
            </a:r>
            <a:pPr indent="0" marL="0">
              <a:buNone/>
            </a:pPr>
            <a:r>
              <a:rPr lang="en-US" sz="1350" dirty="0">
                <a:solidFill>
                  <a:schemeClr val="tx1"/>
                </a:solidFill>
              </a:rPr>
              <a:t> bỏ số đếm, tồn giữ nguyên.</a:t>
            </a:r>
            <a:endParaRPr lang="en-US" sz="1350" dirty="0"/>
          </a:p>
        </p:txBody>
      </p:sp>
      <p:sp>
        <p:nvSpPr>
          <p:cNvPr id="26" name="meo"/>
          <p:cNvSpPr/>
          <p:nvPr/>
        </p:nvSpPr>
        <p:spPr>
          <a:xfrm>
            <a:off x="8092440" y="5058918"/>
            <a:ext cx="3611880" cy="860298"/>
          </a:xfrm>
          <a:prstGeom prst="roundRect">
            <a:avLst>
              <a:gd name="adj" fmla="val 8503"/>
            </a:avLst>
          </a:prstGeom>
          <a:solidFill>
            <a:schemeClr val="accent1">
              <a:alpha val="10000"/>
            </a:schemeClr>
          </a:solidFill>
          <a:ln w="9525">
            <a:solidFill>
              <a:schemeClr val="accent1">
                <a:alpha val="45000"/>
              </a:schemeClr>
            </a:solidFill>
            <a:prstDash val="solid"/>
          </a:ln>
        </p:spPr>
      </p:sp>
      <p:pic>
        <p:nvPicPr>
          <p:cNvPr id="27" name="Image 1" descr="Mẹo">    </p:cNvPr>
          <p:cNvPicPr>
            <a:picLocks noChangeAspect="1"/>
          </p:cNvPicPr>
          <p:nvPr/>
        </p:nvPicPr>
        <p:blipFill>
          <a:blip r:embed="rId2"/>
          <a:stretch>
            <a:fillRect/>
          </a:stretch>
        </p:blipFill>
        <p:spPr>
          <a:xfrm>
            <a:off x="8257032" y="5205222"/>
            <a:ext cx="274320" cy="274320"/>
          </a:xfrm>
          <a:prstGeom prst="rect">
            <a:avLst/>
          </a:prstGeom>
        </p:spPr>
      </p:pic>
      <p:sp>
        <p:nvSpPr>
          <p:cNvPr id="28" name="Text 24"/>
          <p:cNvSpPr txBox="1"/>
          <p:nvPr/>
        </p:nvSpPr>
        <p:spPr>
          <a:xfrm>
            <a:off x="8641080" y="5132070"/>
            <a:ext cx="2926080" cy="713994"/>
          </a:xfrm>
          <a:prstGeom prst="rect">
            <a:avLst/>
          </a:prstGeom>
          <a:noFill/>
          <a:ln/>
        </p:spPr>
        <p:txBody>
          <a:bodyPr wrap="square" lIns="0" tIns="0" rIns="0" bIns="0" rtlCol="0" anchor="ctr"/>
          <a:lstStyle/>
          <a:p>
            <a:pPr indent="0" marL="0">
              <a:buNone/>
            </a:pPr>
            <a:r>
              <a:rPr lang="en-US" sz="1300" dirty="0">
                <a:solidFill>
                  <a:schemeClr val="tx1"/>
                </a:solidFill>
              </a:rPr>
              <a:t>Đếm từng phần được, vẫn bán hàng trong lúc đếm. Món không đếm giữ nguyên tồn.</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Đếm theo thùng, lốc</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6 · Kho hàng</a:t>
            </a:r>
            <a:endParaRPr lang="en-US" sz="1200" dirty="0"/>
          </a:p>
        </p:txBody>
      </p:sp>
      <p:sp>
        <p:nvSpPr>
          <p:cNvPr id="4" name="stocktake-count-khung"/>
          <p:cNvSpPr/>
          <p:nvPr/>
        </p:nvSpPr>
        <p:spPr>
          <a:xfrm>
            <a:off x="484632" y="1216152"/>
            <a:ext cx="4882896" cy="3165643"/>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stocktake-count" descr="stocktake-count">    </p:cNvPr>
          <p:cNvPicPr>
            <a:picLocks noChangeAspect="1"/>
          </p:cNvPicPr>
          <p:nvPr/>
        </p:nvPicPr>
        <p:blipFill>
          <a:blip r:embed="rId1"/>
          <a:stretch>
            <a:fillRect/>
          </a:stretch>
        </p:blipFill>
        <p:spPr>
          <a:xfrm>
            <a:off x="502920" y="1234440"/>
            <a:ext cx="4846320" cy="3129067"/>
          </a:xfrm>
          <a:prstGeom prst="rect">
            <a:avLst/>
          </a:prstGeom>
        </p:spPr>
      </p:pic>
      <p:sp>
        <p:nvSpPr>
          <p:cNvPr id="6" name="so-1"/>
          <p:cNvSpPr txBox="1"/>
          <p:nvPr/>
        </p:nvSpPr>
        <p:spPr>
          <a:xfrm>
            <a:off x="576986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6236208" y="1280160"/>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Bắn mã trên lốc / thùng:</a:t>
            </a:r>
            <a:pPr indent="0" marL="0">
              <a:buNone/>
            </a:pPr>
            <a:r>
              <a:rPr lang="en-US" sz="1400" dirty="0">
                <a:solidFill>
                  <a:schemeClr val="tx1"/>
                </a:solidFill>
              </a:rPr>
              <a:t> hộp đếm hiện "Đếm theo Lốc (6 lon)".</a:t>
            </a:r>
            <a:endParaRPr lang="en-US" sz="1400" dirty="0"/>
          </a:p>
        </p:txBody>
      </p:sp>
      <p:sp>
        <p:nvSpPr>
          <p:cNvPr id="8" name="so-2"/>
          <p:cNvSpPr txBox="1"/>
          <p:nvPr/>
        </p:nvSpPr>
        <p:spPr>
          <a:xfrm>
            <a:off x="5769864" y="18105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6236208" y="1792224"/>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Gõ số lốc đếm được.</a:t>
            </a:r>
            <a:pPr indent="0" marL="0">
              <a:buNone/>
            </a:pPr>
            <a:r>
              <a:rPr lang="en-US" sz="1400" dirty="0">
                <a:solidFill>
                  <a:schemeClr val="tx1"/>
                </a:solidFill>
              </a:rPr>
              <a:t> Máy tự đổi ra lon và so với tồn máy.</a:t>
            </a:r>
            <a:endParaRPr lang="en-US" sz="1400" dirty="0"/>
          </a:p>
        </p:txBody>
      </p:sp>
      <p:sp>
        <p:nvSpPr>
          <p:cNvPr id="10" name="so-3"/>
          <p:cNvSpPr txBox="1"/>
          <p:nvPr/>
        </p:nvSpPr>
        <p:spPr>
          <a:xfrm>
            <a:off x="5769864" y="232257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6236208" y="2304288"/>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Xem kết quả:</a:t>
            </a:r>
            <a:pPr indent="0" marL="0">
              <a:buNone/>
            </a:pPr>
            <a:r>
              <a:rPr lang="en-US" sz="1400" dirty="0">
                <a:solidFill>
                  <a:schemeClr val="tx1"/>
                </a:solidFill>
              </a:rPr>
              <a:t> "Khớp tồn máy" hoặc "Chênh lệch ±n".</a:t>
            </a:r>
            <a:endParaRPr lang="en-US" sz="1400" dirty="0"/>
          </a:p>
        </p:txBody>
      </p:sp>
      <p:sp>
        <p:nvSpPr>
          <p:cNvPr id="12" name="so-4"/>
          <p:cNvSpPr txBox="1"/>
          <p:nvPr/>
        </p:nvSpPr>
        <p:spPr>
          <a:xfrm>
            <a:off x="5769864" y="283464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6236208" y="2816352"/>
            <a:ext cx="5468112" cy="329184"/>
          </a:xfrm>
          <a:prstGeom prst="rect">
            <a:avLst/>
          </a:prstGeom>
          <a:noFill/>
          <a:ln/>
        </p:spPr>
        <p:txBody>
          <a:bodyPr wrap="square" lIns="25400" tIns="0" rIns="0" bIns="0" rtlCol="0" anchor="t"/>
          <a:lstStyle/>
          <a:p>
            <a:pPr indent="0" marL="0">
              <a:buNone/>
            </a:pPr>
            <a:r>
              <a:rPr lang="en-US" sz="1400" b="1" dirty="0">
                <a:solidFill>
                  <a:schemeClr val="tx1"/>
                </a:solidFill>
              </a:rPr>
              <a:t>Bấm Lưu (Enter)</a:t>
            </a:r>
            <a:pPr indent="0" marL="0">
              <a:buNone/>
            </a:pPr>
            <a:r>
              <a:rPr lang="en-US" sz="1400" dirty="0">
                <a:solidFill>
                  <a:schemeClr val="tx1"/>
                </a:solidFill>
              </a:rPr>
              <a:t> rồi quét món tiếp theo.</a:t>
            </a:r>
            <a:endParaRPr lang="en-US" sz="1400" dirty="0"/>
          </a:p>
        </p:txBody>
      </p:sp>
      <p:sp>
        <p:nvSpPr>
          <p:cNvPr id="14" name="meo"/>
          <p:cNvSpPr/>
          <p:nvPr/>
        </p:nvSpPr>
        <p:spPr>
          <a:xfrm>
            <a:off x="5760720" y="3419856"/>
            <a:ext cx="5943600" cy="658876"/>
          </a:xfrm>
          <a:prstGeom prst="roundRect">
            <a:avLst>
              <a:gd name="adj" fmla="val 11103"/>
            </a:avLst>
          </a:prstGeom>
          <a:solidFill>
            <a:schemeClr val="accent1">
              <a:alpha val="10000"/>
            </a:schemeClr>
          </a:solidFill>
          <a:ln w="9525">
            <a:solidFill>
              <a:schemeClr val="accent1">
                <a:alpha val="45000"/>
              </a:schemeClr>
            </a:solidFill>
            <a:prstDash val="solid"/>
          </a:ln>
        </p:spPr>
      </p:sp>
      <p:pic>
        <p:nvPicPr>
          <p:cNvPr id="15" name="Image 1" descr="Mẹo">    </p:cNvPr>
          <p:cNvPicPr>
            <a:picLocks noChangeAspect="1"/>
          </p:cNvPicPr>
          <p:nvPr/>
        </p:nvPicPr>
        <p:blipFill>
          <a:blip r:embed="rId2"/>
          <a:stretch>
            <a:fillRect/>
          </a:stretch>
        </p:blipFill>
        <p:spPr>
          <a:xfrm>
            <a:off x="5925312" y="3566160"/>
            <a:ext cx="274320" cy="274320"/>
          </a:xfrm>
          <a:prstGeom prst="rect">
            <a:avLst/>
          </a:prstGeom>
        </p:spPr>
      </p:pic>
      <p:sp>
        <p:nvSpPr>
          <p:cNvPr id="16" name="Text 12"/>
          <p:cNvSpPr txBox="1"/>
          <p:nvPr/>
        </p:nvSpPr>
        <p:spPr>
          <a:xfrm>
            <a:off x="6309360" y="3493008"/>
            <a:ext cx="5257800" cy="512572"/>
          </a:xfrm>
          <a:prstGeom prst="rect">
            <a:avLst/>
          </a:prstGeom>
          <a:noFill/>
          <a:ln/>
        </p:spPr>
        <p:txBody>
          <a:bodyPr wrap="square" lIns="0" tIns="0" rIns="0" bIns="0" rtlCol="0" anchor="ctr"/>
          <a:lstStyle/>
          <a:p>
            <a:pPr indent="0" marL="0">
              <a:buNone/>
            </a:pPr>
            <a:r>
              <a:rPr lang="en-US" sz="1300" dirty="0">
                <a:solidFill>
                  <a:schemeClr val="tx1"/>
                </a:solidFill>
              </a:rPr>
              <a:t>Mỗi lần lưu sẽ thay số đếm cũ của món đó. Món có cả lon lẻ và lốc: cộng lại thành số lon rồi nhập một lần bằng mã lon.</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In tem mã vạch</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6 · Kho hàng</a:t>
            </a:r>
            <a:endParaRPr lang="en-US" sz="1200" dirty="0"/>
          </a:p>
        </p:txBody>
      </p:sp>
      <p:sp>
        <p:nvSpPr>
          <p:cNvPr id="4" name="labels-filled-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labels-filled" descr="labels-filled">    </p:cNvPr>
          <p:cNvPicPr>
            <a:picLocks noChangeAspect="1"/>
          </p:cNvPicPr>
          <p:nvPr/>
        </p:nvPicPr>
        <p:blipFill>
          <a:blip r:embed="rId1"/>
          <a:stretch>
            <a:fillRect/>
          </a:stretch>
        </p:blipFill>
        <p:spPr>
          <a:xfrm>
            <a:off x="502920" y="1234440"/>
            <a:ext cx="7269480" cy="4089083"/>
          </a:xfrm>
          <a:prstGeom prst="rect">
            <a:avLst/>
          </a:prstGeom>
        </p:spPr>
      </p:pic>
      <p:sp>
        <p:nvSpPr>
          <p:cNvPr id="6" name="so-1"/>
          <p:cNvSpPr txBox="1"/>
          <p:nvPr/>
        </p:nvSpPr>
        <p:spPr>
          <a:xfrm>
            <a:off x="1777079" y="1675638"/>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o-2"/>
          <p:cNvSpPr txBox="1"/>
          <p:nvPr/>
        </p:nvSpPr>
        <p:spPr>
          <a:xfrm>
            <a:off x="3745897" y="2281428"/>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8" name="so-3"/>
          <p:cNvSpPr txBox="1"/>
          <p:nvPr/>
        </p:nvSpPr>
        <p:spPr>
          <a:xfrm>
            <a:off x="4654582" y="2962942"/>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9" name="so-4"/>
          <p:cNvSpPr txBox="1"/>
          <p:nvPr/>
        </p:nvSpPr>
        <p:spPr>
          <a:xfrm>
            <a:off x="6661261" y="2281428"/>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0" name="so-5"/>
          <p:cNvSpPr txBox="1"/>
          <p:nvPr/>
        </p:nvSpPr>
        <p:spPr>
          <a:xfrm>
            <a:off x="5866162" y="1353812"/>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1"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2" name="buoc-1"/>
          <p:cNvSpPr txBox="1"/>
          <p:nvPr/>
        </p:nvSpPr>
        <p:spPr>
          <a:xfrm>
            <a:off x="8567928" y="1280160"/>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Quét hoặc tìm hàng.</a:t>
            </a:r>
            <a:pPr indent="0" marL="0">
              <a:buNone/>
            </a:pPr>
            <a:r>
              <a:rPr lang="en-US" sz="1350" dirty="0">
                <a:solidFill>
                  <a:schemeClr val="tx1"/>
                </a:solidFill>
              </a:rPr>
              <a:t> Hoặc từ Sản phẩm ⋯ In tem, phiếu nhập In tem.</a:t>
            </a:r>
            <a:endParaRPr lang="en-US" sz="1350" dirty="0"/>
          </a:p>
        </p:txBody>
      </p:sp>
      <p:sp>
        <p:nvSpPr>
          <p:cNvPr id="13" name="so-2"/>
          <p:cNvSpPr txBox="1"/>
          <p:nvPr/>
        </p:nvSpPr>
        <p:spPr>
          <a:xfrm>
            <a:off x="8101584" y="191795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buoc-2"/>
          <p:cNvSpPr txBox="1"/>
          <p:nvPr/>
        </p:nvSpPr>
        <p:spPr>
          <a:xfrm>
            <a:off x="8567928" y="1899666"/>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Đơn vị:</a:t>
            </a:r>
            <a:pPr indent="0" marL="0">
              <a:buNone/>
            </a:pPr>
            <a:r>
              <a:rPr lang="en-US" sz="1350" dirty="0">
                <a:solidFill>
                  <a:schemeClr val="tx1"/>
                </a:solidFill>
              </a:rPr>
              <a:t> lon hay thùng, để in đúng mã và giá.</a:t>
            </a:r>
            <a:endParaRPr lang="en-US" sz="1350" dirty="0"/>
          </a:p>
        </p:txBody>
      </p:sp>
      <p:sp>
        <p:nvSpPr>
          <p:cNvPr id="15" name="so-3"/>
          <p:cNvSpPr txBox="1"/>
          <p:nvPr/>
        </p:nvSpPr>
        <p:spPr>
          <a:xfrm>
            <a:off x="8101584" y="253746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buoc-3"/>
          <p:cNvSpPr txBox="1"/>
          <p:nvPr/>
        </p:nvSpPr>
        <p:spPr>
          <a:xfrm>
            <a:off x="8567928" y="2519172"/>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Hàng chưa có mã:</a:t>
            </a:r>
            <a:pPr indent="0" marL="0">
              <a:buNone/>
            </a:pPr>
            <a:r>
              <a:rPr lang="en-US" sz="1350" dirty="0">
                <a:solidFill>
                  <a:schemeClr val="tx1"/>
                </a:solidFill>
              </a:rPr>
              <a:t> tự cấp mã nội bộ bắt đầu bằng 20.</a:t>
            </a:r>
            <a:endParaRPr lang="en-US" sz="1350" dirty="0"/>
          </a:p>
        </p:txBody>
      </p:sp>
      <p:sp>
        <p:nvSpPr>
          <p:cNvPr id="17" name="so-4"/>
          <p:cNvSpPr txBox="1"/>
          <p:nvPr/>
        </p:nvSpPr>
        <p:spPr>
          <a:xfrm>
            <a:off x="8101584" y="315696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buoc-4"/>
          <p:cNvSpPr txBox="1"/>
          <p:nvPr/>
        </p:nvSpPr>
        <p:spPr>
          <a:xfrm>
            <a:off x="8567928" y="3138678"/>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Số tem</a:t>
            </a:r>
            <a:pPr indent="0" marL="0">
              <a:buNone/>
            </a:pPr>
            <a:r>
              <a:rPr lang="en-US" sz="1350" dirty="0">
                <a:solidFill>
                  <a:schemeClr val="tx1"/>
                </a:solidFill>
              </a:rPr>
              <a:t> cho mỗi món.</a:t>
            </a:r>
            <a:endParaRPr lang="en-US" sz="1350" dirty="0"/>
          </a:p>
        </p:txBody>
      </p:sp>
      <p:sp>
        <p:nvSpPr>
          <p:cNvPr id="19" name="so-5"/>
          <p:cNvSpPr txBox="1"/>
          <p:nvPr/>
        </p:nvSpPr>
        <p:spPr>
          <a:xfrm>
            <a:off x="8101584" y="361416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0" name="buoc-5"/>
          <p:cNvSpPr txBox="1"/>
          <p:nvPr/>
        </p:nvSpPr>
        <p:spPr>
          <a:xfrm>
            <a:off x="8567928" y="3595878"/>
            <a:ext cx="3136392" cy="700659"/>
          </a:xfrm>
          <a:prstGeom prst="rect">
            <a:avLst/>
          </a:prstGeom>
          <a:noFill/>
          <a:ln/>
        </p:spPr>
        <p:txBody>
          <a:bodyPr wrap="square" lIns="25400" tIns="0" rIns="0" bIns="0" rtlCol="0" anchor="t"/>
          <a:lstStyle/>
          <a:p>
            <a:pPr indent="0" marL="0">
              <a:buNone/>
            </a:pPr>
            <a:r>
              <a:rPr lang="en-US" sz="1350" b="1" dirty="0">
                <a:solidFill>
                  <a:schemeClr val="tx1"/>
                </a:solidFill>
              </a:rPr>
              <a:t>"In n tem":</a:t>
            </a:r>
            <a:pPr indent="0" marL="0">
              <a:buNone/>
            </a:pPr>
            <a:r>
              <a:rPr lang="en-US" sz="1350" dirty="0">
                <a:solidFill>
                  <a:schemeClr val="tx1"/>
                </a:solidFill>
              </a:rPr>
              <a:t> mở cửa sổ in riêng. Lần đầu chọn máy in tem, lần sau Chrome tự nhớ.</a:t>
            </a:r>
            <a:endParaRPr lang="en-US" sz="1350" dirty="0"/>
          </a:p>
        </p:txBody>
      </p:sp>
      <p:sp>
        <p:nvSpPr>
          <p:cNvPr id="21" name="meo"/>
          <p:cNvSpPr/>
          <p:nvPr/>
        </p:nvSpPr>
        <p:spPr>
          <a:xfrm>
            <a:off x="8092440" y="4570857"/>
            <a:ext cx="3611880" cy="658876"/>
          </a:xfrm>
          <a:prstGeom prst="roundRect">
            <a:avLst>
              <a:gd name="adj" fmla="val 11103"/>
            </a:avLst>
          </a:prstGeom>
          <a:solidFill>
            <a:schemeClr val="accent1">
              <a:alpha val="10000"/>
            </a:schemeClr>
          </a:solidFill>
          <a:ln w="9525">
            <a:solidFill>
              <a:schemeClr val="accent1">
                <a:alpha val="45000"/>
              </a:schemeClr>
            </a:solidFill>
            <a:prstDash val="solid"/>
          </a:ln>
        </p:spPr>
      </p:sp>
      <p:pic>
        <p:nvPicPr>
          <p:cNvPr id="22" name="Image 1" descr="Mẹo">    </p:cNvPr>
          <p:cNvPicPr>
            <a:picLocks noChangeAspect="1"/>
          </p:cNvPicPr>
          <p:nvPr/>
        </p:nvPicPr>
        <p:blipFill>
          <a:blip r:embed="rId2"/>
          <a:stretch>
            <a:fillRect/>
          </a:stretch>
        </p:blipFill>
        <p:spPr>
          <a:xfrm>
            <a:off x="8257032" y="4717161"/>
            <a:ext cx="274320" cy="274320"/>
          </a:xfrm>
          <a:prstGeom prst="rect">
            <a:avLst/>
          </a:prstGeom>
        </p:spPr>
      </p:pic>
      <p:sp>
        <p:nvSpPr>
          <p:cNvPr id="23" name="Text 19"/>
          <p:cNvSpPr txBox="1"/>
          <p:nvPr/>
        </p:nvSpPr>
        <p:spPr>
          <a:xfrm>
            <a:off x="8641080" y="4644009"/>
            <a:ext cx="2926080" cy="512572"/>
          </a:xfrm>
          <a:prstGeom prst="rect">
            <a:avLst/>
          </a:prstGeom>
          <a:noFill/>
          <a:ln/>
        </p:spPr>
        <p:txBody>
          <a:bodyPr wrap="square" lIns="0" tIns="0" rIns="0" bIns="0" rtlCol="0" anchor="ctr"/>
          <a:lstStyle/>
          <a:p>
            <a:pPr indent="0" marL="0">
              <a:buNone/>
            </a:pPr>
            <a:r>
              <a:rPr lang="en-US" sz="1300" dirty="0">
                <a:solidFill>
                  <a:schemeClr val="tx1"/>
                </a:solidFill>
              </a:rPr>
              <a:t>Khổ tem và có in giá hay không: Cài đặt → Tem mã vạch → "In thử 1 tem".</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731520" y="1097280"/>
            <a:ext cx="2743200" cy="1188720"/>
          </a:xfrm>
          <a:prstGeom prst="rect">
            <a:avLst/>
          </a:prstGeom>
          <a:noFill/>
          <a:ln/>
        </p:spPr>
        <p:txBody>
          <a:bodyPr wrap="square" lIns="0" tIns="0" rIns="0" bIns="0" rtlCol="0" anchor="ctr"/>
          <a:lstStyle/>
          <a:p>
            <a:pPr indent="0" marL="0">
              <a:buNone/>
            </a:pPr>
            <a:r>
              <a:rPr lang="en-US" sz="8000" b="1" dirty="0">
                <a:solidFill>
                  <a:srgbClr val="FDBA74"/>
                </a:solidFill>
              </a:rPr>
              <a:t>07</a:t>
            </a:r>
            <a:endParaRPr lang="en-US" sz="8000" dirty="0"/>
          </a:p>
        </p:txBody>
      </p:sp>
      <p:sp>
        <p:nvSpPr>
          <p:cNvPr id="3" name="Text 0"/>
          <p:cNvSpPr/>
          <p:nvPr>
            <p:ph idx="100" type="title" hasCustomPrompt="1"/>
          </p:nvPr>
        </p:nvSpPr>
        <p:spPr>
          <a:xfrm>
            <a:off x="731520" y="2331720"/>
            <a:ext cx="5669280" cy="1463040"/>
          </a:xfrm>
          <a:prstGeom prst="rect">
            <a:avLst/>
          </a:prstGeom>
          <a:noFill/>
          <a:ln/>
        </p:spPr>
        <p:txBody>
          <a:bodyPr wrap="square" lIns="0" tIns="0" rIns="0" bIns="0" rtlCol="0" anchor="t"/>
          <a:lstStyle/>
          <a:p>
            <a:pPr algn="l" indent="0" marL="0">
              <a:buNone/>
            </a:pPr>
            <a:r>
              <a:rPr lang="en-US" sz="4400" b="1" dirty="0">
                <a:solidFill>
                  <a:schemeClr val="bg1"/>
                </a:solidFill>
              </a:rPr>
              <a:t>Theo dõi kinh doanh</a:t>
            </a:r>
            <a:endParaRPr lang="en-US" sz="4400" dirty="0"/>
          </a:p>
        </p:txBody>
      </p:sp>
      <p:sp>
        <p:nvSpPr>
          <p:cNvPr id="4" name="Shape 2"/>
          <p:cNvSpPr/>
          <p:nvPr/>
        </p:nvSpPr>
        <p:spPr>
          <a:xfrm>
            <a:off x="6903720" y="1051560"/>
            <a:ext cx="4754880" cy="4754880"/>
          </a:xfrm>
          <a:prstGeom prst="roundRect">
            <a:avLst>
              <a:gd name="adj" fmla="val 3846"/>
            </a:avLst>
          </a:prstGeom>
          <a:solidFill>
            <a:schemeClr val="bg1">
              <a:alpha val="8000"/>
            </a:schemeClr>
          </a:solidFill>
          <a:ln w="9525">
            <a:solidFill>
              <a:schemeClr val="bg1">
                <a:alpha val="20000"/>
              </a:schemeClr>
            </a:solidFill>
            <a:prstDash val="solid"/>
          </a:ln>
        </p:spPr>
      </p:sp>
      <p:pic>
        <p:nvPicPr>
          <p:cNvPr id="5" name="Image 0" descr="Theo dõi kinh doanh">    </p:cNvPr>
          <p:cNvPicPr>
            <a:picLocks noChangeAspect="1"/>
          </p:cNvPicPr>
          <p:nvPr/>
        </p:nvPicPr>
        <p:blipFill>
          <a:blip r:embed="rId1"/>
          <a:stretch>
            <a:fillRect/>
          </a:stretch>
        </p:blipFill>
        <p:spPr>
          <a:xfrm>
            <a:off x="7269480" y="1371600"/>
            <a:ext cx="548640" cy="548640"/>
          </a:xfrm>
          <a:prstGeom prst="rect">
            <a:avLst/>
          </a:prstGeom>
        </p:spPr>
      </p:pic>
      <p:sp>
        <p:nvSpPr>
          <p:cNvPr id="6" name="Text 3"/>
          <p:cNvSpPr txBox="1"/>
          <p:nvPr/>
        </p:nvSpPr>
        <p:spPr>
          <a:xfrm>
            <a:off x="8001000" y="1417320"/>
            <a:ext cx="3474720" cy="457200"/>
          </a:xfrm>
          <a:prstGeom prst="rect">
            <a:avLst/>
          </a:prstGeom>
          <a:noFill/>
          <a:ln/>
        </p:spPr>
        <p:txBody>
          <a:bodyPr wrap="square" lIns="0" tIns="0" rIns="0" bIns="0" rtlCol="0" anchor="ctr"/>
          <a:lstStyle/>
          <a:p>
            <a:pPr indent="0" marL="0">
              <a:buNone/>
            </a:pPr>
            <a:r>
              <a:rPr lang="en-US" sz="1600" b="1" dirty="0">
                <a:solidFill>
                  <a:schemeClr val="bg1"/>
                </a:solidFill>
              </a:rPr>
              <a:t>Trong phần này</a:t>
            </a:r>
            <a:endParaRPr lang="en-US" sz="1600" dirty="0"/>
          </a:p>
        </p:txBody>
      </p:sp>
      <p:sp>
        <p:nvSpPr>
          <p:cNvPr id="7" name="Text 4"/>
          <p:cNvSpPr txBox="1"/>
          <p:nvPr/>
        </p:nvSpPr>
        <p:spPr>
          <a:xfrm>
            <a:off x="7269480" y="2148840"/>
            <a:ext cx="4114800" cy="347472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chemeClr val="bg1"/>
                </a:solidFill>
              </a:rPr>
              <a:t>Trang Tổng quan</a:t>
            </a:r>
            <a:endParaRPr lang="en-US" sz="1700" dirty="0"/>
          </a:p>
          <a:p>
            <a:pPr marL="342900" indent="-342900">
              <a:spcAft>
                <a:spcPts val="900"/>
              </a:spcAft>
              <a:buSzPct val="100000"/>
              <a:buChar char="•"/>
            </a:pPr>
            <a:r>
              <a:rPr lang="en-US" sz="1700" dirty="0">
                <a:solidFill>
                  <a:schemeClr val="bg1"/>
                </a:solidFill>
              </a:rPr>
              <a:t>Báo cáo lãi lỗ</a:t>
            </a:r>
            <a:endParaRPr lang="en-US" sz="1700" dirty="0"/>
          </a:p>
          <a:p>
            <a:pPr marL="342900" indent="-342900">
              <a:spcAft>
                <a:spcPts val="900"/>
              </a:spcAft>
              <a:buSzPct val="100000"/>
              <a:buChar char="•"/>
            </a:pPr>
            <a:r>
              <a:rPr lang="en-US" sz="1700" dirty="0">
                <a:solidFill>
                  <a:schemeClr val="bg1"/>
                </a:solidFill>
              </a:rPr>
              <a:t>Báo cáo mặt hàng và công nợ</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Tổng quan: xem nhanh cả tiệm</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7 · Theo dõi</a:t>
            </a:r>
            <a:endParaRPr lang="en-US" sz="1200" dirty="0"/>
          </a:p>
        </p:txBody>
      </p:sp>
      <p:sp>
        <p:nvSpPr>
          <p:cNvPr id="4" name="overview-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overview" descr="overview">    </p:cNvPr>
          <p:cNvPicPr>
            <a:picLocks noChangeAspect="1"/>
          </p:cNvPicPr>
          <p:nvPr/>
        </p:nvPicPr>
        <p:blipFill>
          <a:blip r:embed="rId1"/>
          <a:stretch>
            <a:fillRect/>
          </a:stretch>
        </p:blipFill>
        <p:spPr>
          <a:xfrm>
            <a:off x="502920" y="1234440"/>
            <a:ext cx="7269480" cy="4089083"/>
          </a:xfrm>
          <a:prstGeom prst="rect">
            <a:avLst/>
          </a:prstGeom>
        </p:spPr>
      </p:pic>
      <p:sp>
        <p:nvSpPr>
          <p:cNvPr id="6" name="so-1"/>
          <p:cNvSpPr txBox="1"/>
          <p:nvPr/>
        </p:nvSpPr>
        <p:spPr>
          <a:xfrm>
            <a:off x="1758148" y="149390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so-2"/>
          <p:cNvSpPr txBox="1"/>
          <p:nvPr/>
        </p:nvSpPr>
        <p:spPr>
          <a:xfrm>
            <a:off x="4692444" y="2111050"/>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8" name="so-3"/>
          <p:cNvSpPr txBox="1"/>
          <p:nvPr/>
        </p:nvSpPr>
        <p:spPr>
          <a:xfrm>
            <a:off x="6150126" y="2111050"/>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9" name="so-4"/>
          <p:cNvSpPr txBox="1"/>
          <p:nvPr/>
        </p:nvSpPr>
        <p:spPr>
          <a:xfrm>
            <a:off x="1758148" y="2735771"/>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0" name="so-5"/>
          <p:cNvSpPr txBox="1"/>
          <p:nvPr/>
        </p:nvSpPr>
        <p:spPr>
          <a:xfrm>
            <a:off x="7002018" y="3031093"/>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1" name="so-6"/>
          <p:cNvSpPr txBox="1"/>
          <p:nvPr/>
        </p:nvSpPr>
        <p:spPr>
          <a:xfrm>
            <a:off x="1758148" y="3890558"/>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12" name="so-7"/>
          <p:cNvSpPr txBox="1"/>
          <p:nvPr/>
        </p:nvSpPr>
        <p:spPr>
          <a:xfrm>
            <a:off x="4692444" y="3890558"/>
            <a:ext cx="329184" cy="329184"/>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13"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4" name="buoc-1"/>
          <p:cNvSpPr txBox="1"/>
          <p:nvPr/>
        </p:nvSpPr>
        <p:spPr>
          <a:xfrm>
            <a:off x="8567928" y="1280160"/>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Hôm nay:</a:t>
            </a:r>
            <a:pPr indent="0" marL="0">
              <a:buNone/>
            </a:pPr>
            <a:r>
              <a:rPr lang="en-US" sz="1350" dirty="0">
                <a:solidFill>
                  <a:schemeClr val="tx1"/>
                </a:solidFill>
              </a:rPr>
              <a:t> doanh thu, lãi gộp, tiền mặt, CK, ghi nợ, thu nợ.</a:t>
            </a:r>
            <a:endParaRPr lang="en-US" sz="1350" dirty="0"/>
          </a:p>
        </p:txBody>
      </p:sp>
      <p:sp>
        <p:nvSpPr>
          <p:cNvPr id="15" name="so-2"/>
          <p:cNvSpPr txBox="1"/>
          <p:nvPr/>
        </p:nvSpPr>
        <p:spPr>
          <a:xfrm>
            <a:off x="8101584" y="190881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buoc-2"/>
          <p:cNvSpPr txBox="1"/>
          <p:nvPr/>
        </p:nvSpPr>
        <p:spPr>
          <a:xfrm>
            <a:off x="8567928" y="1890522"/>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So với hôm qua.</a:t>
            </a:r>
            <a:endParaRPr lang="en-US" sz="1350" dirty="0"/>
          </a:p>
        </p:txBody>
      </p:sp>
      <p:sp>
        <p:nvSpPr>
          <p:cNvPr id="17" name="so-3"/>
          <p:cNvSpPr txBox="1"/>
          <p:nvPr/>
        </p:nvSpPr>
        <p:spPr>
          <a:xfrm>
            <a:off x="8101584" y="235686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buoc-3"/>
          <p:cNvSpPr txBox="1"/>
          <p:nvPr/>
        </p:nvSpPr>
        <p:spPr>
          <a:xfrm>
            <a:off x="8567928" y="2338578"/>
            <a:ext cx="3136392" cy="329184"/>
          </a:xfrm>
          <a:prstGeom prst="rect">
            <a:avLst/>
          </a:prstGeom>
          <a:noFill/>
          <a:ln/>
        </p:spPr>
        <p:txBody>
          <a:bodyPr wrap="square" lIns="25400" tIns="0" rIns="0" bIns="0" rtlCol="0" anchor="t"/>
          <a:lstStyle/>
          <a:p>
            <a:pPr indent="0" marL="0">
              <a:buNone/>
            </a:pPr>
            <a:r>
              <a:rPr lang="en-US" sz="1350" b="1" dirty="0">
                <a:solidFill>
                  <a:schemeClr val="tx1"/>
                </a:solidFill>
              </a:rPr>
              <a:t>Hết hàng:</a:t>
            </a:r>
            <a:pPr indent="0" marL="0">
              <a:buNone/>
            </a:pPr>
            <a:r>
              <a:rPr lang="en-US" sz="1350" dirty="0">
                <a:solidFill>
                  <a:schemeClr val="tx1"/>
                </a:solidFill>
              </a:rPr>
              <a:t> bấm để xem danh sách.</a:t>
            </a:r>
            <a:endParaRPr lang="en-US" sz="1350" dirty="0"/>
          </a:p>
        </p:txBody>
      </p:sp>
      <p:sp>
        <p:nvSpPr>
          <p:cNvPr id="19" name="so-4"/>
          <p:cNvSpPr txBox="1"/>
          <p:nvPr/>
        </p:nvSpPr>
        <p:spPr>
          <a:xfrm>
            <a:off x="8101584" y="280492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buoc-4"/>
          <p:cNvSpPr txBox="1"/>
          <p:nvPr/>
        </p:nvSpPr>
        <p:spPr>
          <a:xfrm>
            <a:off x="8567928" y="2786634"/>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Cần chú ý:</a:t>
            </a:r>
            <a:pPr indent="0" marL="0">
              <a:buNone/>
            </a:pPr>
            <a:r>
              <a:rPr lang="en-US" sz="1350" dirty="0">
                <a:solidFill>
                  <a:schemeClr val="tx1"/>
                </a:solidFill>
              </a:rPr>
              <a:t> kiểm kê dở, hàng hết / sắp hết, khách nợ lâu, sao lưu.</a:t>
            </a:r>
            <a:endParaRPr lang="en-US" sz="1350" dirty="0"/>
          </a:p>
        </p:txBody>
      </p:sp>
      <p:sp>
        <p:nvSpPr>
          <p:cNvPr id="21" name="so-5"/>
          <p:cNvSpPr txBox="1"/>
          <p:nvPr/>
        </p:nvSpPr>
        <p:spPr>
          <a:xfrm>
            <a:off x="8101584" y="341528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buoc-5"/>
          <p:cNvSpPr txBox="1"/>
          <p:nvPr/>
        </p:nvSpPr>
        <p:spPr>
          <a:xfrm>
            <a:off x="8567928" y="3396996"/>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Nút Tiếp tục / Xem</a:t>
            </a:r>
            <a:pPr indent="0" marL="0">
              <a:buNone/>
            </a:pPr>
            <a:r>
              <a:rPr lang="en-US" sz="1350" dirty="0">
                <a:solidFill>
                  <a:schemeClr val="tx1"/>
                </a:solidFill>
              </a:rPr>
              <a:t> mở đúng trang cần xử lý.</a:t>
            </a:r>
            <a:endParaRPr lang="en-US" sz="1350" dirty="0"/>
          </a:p>
        </p:txBody>
      </p:sp>
      <p:sp>
        <p:nvSpPr>
          <p:cNvPr id="23" name="so-6"/>
          <p:cNvSpPr txBox="1"/>
          <p:nvPr/>
        </p:nvSpPr>
        <p:spPr>
          <a:xfrm>
            <a:off x="8101584" y="402564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4" name="buoc-6"/>
          <p:cNvSpPr txBox="1"/>
          <p:nvPr/>
        </p:nvSpPr>
        <p:spPr>
          <a:xfrm>
            <a:off x="8567928" y="4007358"/>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7 ngày gần đây:</a:t>
            </a:r>
            <a:pPr indent="0" marL="0">
              <a:buNone/>
            </a:pPr>
            <a:r>
              <a:rPr lang="en-US" sz="1350" dirty="0">
                <a:solidFill>
                  <a:schemeClr val="tx1"/>
                </a:solidFill>
              </a:rPr>
              <a:t> số đơn, doanh thu, lãi.</a:t>
            </a:r>
            <a:endParaRPr lang="en-US" sz="1350" dirty="0"/>
          </a:p>
        </p:txBody>
      </p:sp>
      <p:sp>
        <p:nvSpPr>
          <p:cNvPr id="25" name="so-7"/>
          <p:cNvSpPr txBox="1"/>
          <p:nvPr/>
        </p:nvSpPr>
        <p:spPr>
          <a:xfrm>
            <a:off x="8101584" y="463600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26" name="buoc-7"/>
          <p:cNvSpPr txBox="1"/>
          <p:nvPr/>
        </p:nvSpPr>
        <p:spPr>
          <a:xfrm>
            <a:off x="8567928" y="4617720"/>
            <a:ext cx="3136392" cy="491490"/>
          </a:xfrm>
          <a:prstGeom prst="rect">
            <a:avLst/>
          </a:prstGeom>
          <a:noFill/>
          <a:ln/>
        </p:spPr>
        <p:txBody>
          <a:bodyPr wrap="square" lIns="25400" tIns="0" rIns="0" bIns="0" rtlCol="0" anchor="t"/>
          <a:lstStyle/>
          <a:p>
            <a:pPr indent="0" marL="0">
              <a:buNone/>
            </a:pPr>
            <a:r>
              <a:rPr lang="en-US" sz="1350" b="1" dirty="0">
                <a:solidFill>
                  <a:schemeClr val="tx1"/>
                </a:solidFill>
              </a:rPr>
              <a:t>Hóa đơn hôm nay,</a:t>
            </a:r>
            <a:pPr indent="0" marL="0">
              <a:buNone/>
            </a:pPr>
            <a:r>
              <a:rPr lang="en-US" sz="1350" dirty="0">
                <a:solidFill>
                  <a:schemeClr val="tx1"/>
                </a:solidFill>
              </a:rPr>
              <a:t> kéo xuống: hàng sắp hết, khách nợ, nợ NCC.</a:t>
            </a:r>
            <a:endParaRPr lang="en-US" sz="1350" dirty="0"/>
          </a:p>
        </p:txBody>
      </p:sp>
      <p:sp>
        <p:nvSpPr>
          <p:cNvPr id="27" name="meo"/>
          <p:cNvSpPr/>
          <p:nvPr/>
        </p:nvSpPr>
        <p:spPr>
          <a:xfrm>
            <a:off x="8092440" y="5383530"/>
            <a:ext cx="3611880" cy="658876"/>
          </a:xfrm>
          <a:prstGeom prst="roundRect">
            <a:avLst>
              <a:gd name="adj" fmla="val 11103"/>
            </a:avLst>
          </a:prstGeom>
          <a:solidFill>
            <a:schemeClr val="accent1">
              <a:alpha val="10000"/>
            </a:schemeClr>
          </a:solidFill>
          <a:ln w="9525">
            <a:solidFill>
              <a:schemeClr val="accent1">
                <a:alpha val="45000"/>
              </a:schemeClr>
            </a:solidFill>
            <a:prstDash val="solid"/>
          </a:ln>
        </p:spPr>
      </p:sp>
      <p:pic>
        <p:nvPicPr>
          <p:cNvPr id="28" name="Image 1" descr="Mẹo">    </p:cNvPr>
          <p:cNvPicPr>
            <a:picLocks noChangeAspect="1"/>
          </p:cNvPicPr>
          <p:nvPr/>
        </p:nvPicPr>
        <p:blipFill>
          <a:blip r:embed="rId2"/>
          <a:stretch>
            <a:fillRect/>
          </a:stretch>
        </p:blipFill>
        <p:spPr>
          <a:xfrm>
            <a:off x="8257032" y="5529834"/>
            <a:ext cx="274320" cy="274320"/>
          </a:xfrm>
          <a:prstGeom prst="rect">
            <a:avLst/>
          </a:prstGeom>
        </p:spPr>
      </p:pic>
      <p:sp>
        <p:nvSpPr>
          <p:cNvPr id="29" name="Text 25"/>
          <p:cNvSpPr txBox="1"/>
          <p:nvPr/>
        </p:nvSpPr>
        <p:spPr>
          <a:xfrm>
            <a:off x="8641080" y="5456682"/>
            <a:ext cx="2926080" cy="512572"/>
          </a:xfrm>
          <a:prstGeom prst="rect">
            <a:avLst/>
          </a:prstGeom>
          <a:noFill/>
          <a:ln/>
        </p:spPr>
        <p:txBody>
          <a:bodyPr wrap="square" lIns="0" tIns="0" rIns="0" bIns="0" rtlCol="0" anchor="ctr"/>
          <a:lstStyle/>
          <a:p>
            <a:pPr indent="0" marL="0">
              <a:buNone/>
            </a:pPr>
            <a:r>
              <a:rPr lang="en-US" sz="1300" dirty="0">
                <a:solidFill>
                  <a:schemeClr val="tx1"/>
                </a:solidFill>
              </a:rPr>
              <a:t>Tự làm mới mỗi phút. Bấm "Làm mới" để cập nhật ngay.</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Báo cáo lãi lỗ</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7 · Theo dõi</a:t>
            </a:r>
            <a:endParaRPr lang="en-US" sz="1200" dirty="0"/>
          </a:p>
        </p:txBody>
      </p:sp>
      <p:sp>
        <p:nvSpPr>
          <p:cNvPr id="4" name="reports-khung"/>
          <p:cNvSpPr/>
          <p:nvPr/>
        </p:nvSpPr>
        <p:spPr>
          <a:xfrm>
            <a:off x="484632" y="1216152"/>
            <a:ext cx="7306056" cy="4125659"/>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reports" descr="reports">    </p:cNvPr>
          <p:cNvPicPr>
            <a:picLocks noChangeAspect="1"/>
          </p:cNvPicPr>
          <p:nvPr/>
        </p:nvPicPr>
        <p:blipFill>
          <a:blip r:embed="rId1"/>
          <a:stretch>
            <a:fillRect/>
          </a:stretch>
        </p:blipFill>
        <p:spPr>
          <a:xfrm>
            <a:off x="502920" y="1234440"/>
            <a:ext cx="7269480" cy="4089083"/>
          </a:xfrm>
          <a:prstGeom prst="rect">
            <a:avLst/>
          </a:prstGeom>
        </p:spPr>
      </p:pic>
      <p:sp>
        <p:nvSpPr>
          <p:cNvPr id="6" name="so-1"/>
          <p:cNvSpPr txBox="1"/>
          <p:nvPr/>
        </p:nvSpPr>
        <p:spPr>
          <a:xfrm>
            <a:off x="810158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8567928" y="1280160"/>
            <a:ext cx="3136392" cy="723900"/>
          </a:xfrm>
          <a:prstGeom prst="rect">
            <a:avLst/>
          </a:prstGeom>
          <a:noFill/>
          <a:ln/>
        </p:spPr>
        <p:txBody>
          <a:bodyPr wrap="square" lIns="25400" tIns="0" rIns="0" bIns="0" rtlCol="0" anchor="t"/>
          <a:lstStyle/>
          <a:p>
            <a:pPr indent="0" marL="0">
              <a:buNone/>
            </a:pPr>
            <a:r>
              <a:rPr lang="en-US" sz="1400" b="1" dirty="0">
                <a:solidFill>
                  <a:schemeClr val="tx1"/>
                </a:solidFill>
              </a:rPr>
              <a:t>Chọn khoảng thời gian:</a:t>
            </a:r>
            <a:pPr indent="0" marL="0">
              <a:buNone/>
            </a:pPr>
            <a:r>
              <a:rPr lang="en-US" sz="1400" dirty="0">
                <a:solidFill>
                  <a:schemeClr val="tx1"/>
                </a:solidFill>
              </a:rPr>
              <a:t> Hôm nay, Hôm qua, 7 ngày qua, Tháng này, Tháng trước, hoặc "Tùy chọn…".</a:t>
            </a:r>
            <a:endParaRPr lang="en-US" sz="1400" dirty="0"/>
          </a:p>
        </p:txBody>
      </p:sp>
      <p:sp>
        <p:nvSpPr>
          <p:cNvPr id="8" name="so-2"/>
          <p:cNvSpPr txBox="1"/>
          <p:nvPr/>
        </p:nvSpPr>
        <p:spPr>
          <a:xfrm>
            <a:off x="8101584" y="220522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8567928" y="2186940"/>
            <a:ext cx="3136392" cy="723900"/>
          </a:xfrm>
          <a:prstGeom prst="rect">
            <a:avLst/>
          </a:prstGeom>
          <a:noFill/>
          <a:ln/>
        </p:spPr>
        <p:txBody>
          <a:bodyPr wrap="square" lIns="25400" tIns="0" rIns="0" bIns="0" rtlCol="0" anchor="t"/>
          <a:lstStyle/>
          <a:p>
            <a:pPr indent="0" marL="0">
              <a:buNone/>
            </a:pPr>
            <a:r>
              <a:rPr lang="en-US" sz="1400" b="1" dirty="0">
                <a:solidFill>
                  <a:schemeClr val="tx1"/>
                </a:solidFill>
              </a:rPr>
              <a:t>Tab Lãi lỗ:</a:t>
            </a:r>
            <a:pPr indent="0" marL="0">
              <a:buNone/>
            </a:pPr>
            <a:r>
              <a:rPr lang="en-US" sz="1400" dirty="0">
                <a:solidFill>
                  <a:schemeClr val="tx1"/>
                </a:solidFill>
              </a:rPr>
              <a:t> doanh thu (đã trừ giảm giá và trả hàng), giá vốn, lãi gộp, số đơn, tiền mặt / CK / ghi nợ / thu nợ.</a:t>
            </a:r>
            <a:endParaRPr lang="en-US" sz="1400" dirty="0"/>
          </a:p>
        </p:txBody>
      </p:sp>
      <p:sp>
        <p:nvSpPr>
          <p:cNvPr id="10" name="so-3"/>
          <p:cNvSpPr txBox="1"/>
          <p:nvPr/>
        </p:nvSpPr>
        <p:spPr>
          <a:xfrm>
            <a:off x="8101584" y="311200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8567928" y="3093720"/>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Bảng chi tiết</a:t>
            </a:r>
            <a:pPr indent="0" marL="0">
              <a:buNone/>
            </a:pPr>
            <a:r>
              <a:rPr lang="en-US" sz="1400" dirty="0">
                <a:solidFill>
                  <a:schemeClr val="tx1"/>
                </a:solidFill>
              </a:rPr>
              <a:t> theo từng ngày (hoặc từng tháng), có dòng Tổng.</a:t>
            </a:r>
            <a:endParaRPr lang="en-US" sz="1400" dirty="0"/>
          </a:p>
        </p:txBody>
      </p:sp>
      <p:sp>
        <p:nvSpPr>
          <p:cNvPr id="12" name="so-4"/>
          <p:cNvSpPr txBox="1"/>
          <p:nvPr/>
        </p:nvSpPr>
        <p:spPr>
          <a:xfrm>
            <a:off x="8101584" y="380187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8567928" y="3783584"/>
            <a:ext cx="3136392" cy="506984"/>
          </a:xfrm>
          <a:prstGeom prst="rect">
            <a:avLst/>
          </a:prstGeom>
          <a:noFill/>
          <a:ln/>
        </p:spPr>
        <p:txBody>
          <a:bodyPr wrap="square" lIns="25400" tIns="0" rIns="0" bIns="0" rtlCol="0" anchor="t"/>
          <a:lstStyle/>
          <a:p>
            <a:pPr indent="0" marL="0">
              <a:buNone/>
            </a:pPr>
            <a:r>
              <a:rPr lang="en-US" sz="1400" b="1" dirty="0">
                <a:solidFill>
                  <a:schemeClr val="tx1"/>
                </a:solidFill>
              </a:rPr>
              <a:t>"Xuất Excel"</a:t>
            </a:r>
            <a:pPr indent="0" marL="0">
              <a:buNone/>
            </a:pPr>
            <a:r>
              <a:rPr lang="en-US" sz="1400" dirty="0">
                <a:solidFill>
                  <a:schemeClr val="tx1"/>
                </a:solidFill>
              </a:rPr>
              <a:t> xuất tab đang xem theo khoảng đã chọn.</a:t>
            </a:r>
            <a:endParaRPr lang="en-US" sz="1400" dirty="0"/>
          </a:p>
        </p:txBody>
      </p:sp>
      <p:sp>
        <p:nvSpPr>
          <p:cNvPr id="14" name="luu-y"/>
          <p:cNvSpPr/>
          <p:nvPr/>
        </p:nvSpPr>
        <p:spPr>
          <a:xfrm>
            <a:off x="8092440" y="4564888"/>
            <a:ext cx="3611880" cy="860298"/>
          </a:xfrm>
          <a:prstGeom prst="roundRect">
            <a:avLst>
              <a:gd name="adj" fmla="val 8503"/>
            </a:avLst>
          </a:prstGeom>
          <a:solidFill>
            <a:schemeClr val="accent2">
              <a:alpha val="10000"/>
            </a:schemeClr>
          </a:solidFill>
          <a:ln w="9525">
            <a:solidFill>
              <a:schemeClr val="accent2">
                <a:alpha val="45000"/>
              </a:schemeClr>
            </a:solidFill>
            <a:prstDash val="solid"/>
          </a:ln>
        </p:spPr>
      </p:sp>
      <p:pic>
        <p:nvPicPr>
          <p:cNvPr id="15" name="Image 1" descr="Lưu ý">    </p:cNvPr>
          <p:cNvPicPr>
            <a:picLocks noChangeAspect="1"/>
          </p:cNvPicPr>
          <p:nvPr/>
        </p:nvPicPr>
        <p:blipFill>
          <a:blip r:embed="rId2"/>
          <a:stretch>
            <a:fillRect/>
          </a:stretch>
        </p:blipFill>
        <p:spPr>
          <a:xfrm>
            <a:off x="8257032" y="4711192"/>
            <a:ext cx="274320" cy="274320"/>
          </a:xfrm>
          <a:prstGeom prst="rect">
            <a:avLst/>
          </a:prstGeom>
        </p:spPr>
      </p:pic>
      <p:sp>
        <p:nvSpPr>
          <p:cNvPr id="16" name="Text 12"/>
          <p:cNvSpPr txBox="1"/>
          <p:nvPr/>
        </p:nvSpPr>
        <p:spPr>
          <a:xfrm>
            <a:off x="8641080" y="4638040"/>
            <a:ext cx="2926080" cy="713994"/>
          </a:xfrm>
          <a:prstGeom prst="rect">
            <a:avLst/>
          </a:prstGeom>
          <a:noFill/>
          <a:ln/>
        </p:spPr>
        <p:txBody>
          <a:bodyPr wrap="square" lIns="0" tIns="0" rIns="0" bIns="0" rtlCol="0" anchor="ctr"/>
          <a:lstStyle/>
          <a:p>
            <a:pPr indent="0" marL="0">
              <a:buNone/>
            </a:pPr>
            <a:r>
              <a:rPr lang="en-US" sz="1300" dirty="0">
                <a:solidFill>
                  <a:schemeClr val="tx1"/>
                </a:solidFill>
              </a:rPr>
              <a:t>Lãi gộp = doanh thu − giá vốn lúc bán. Chưa trừ tiền điện, thuê mặt bằng, lương…</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Báo cáo mặt hàng và công nợ</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7 · Theo dõi</a:t>
            </a:r>
            <a:endParaRPr lang="en-US" sz="1200" dirty="0"/>
          </a:p>
        </p:txBody>
      </p:sp>
      <p:sp>
        <p:nvSpPr>
          <p:cNvPr id="4" name="report-products-khung"/>
          <p:cNvSpPr/>
          <p:nvPr/>
        </p:nvSpPr>
        <p:spPr>
          <a:xfrm>
            <a:off x="484632" y="1427607"/>
            <a:ext cx="5431536" cy="3071241"/>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report-products" descr="report-products">    </p:cNvPr>
          <p:cNvPicPr>
            <a:picLocks noChangeAspect="1"/>
          </p:cNvPicPr>
          <p:nvPr/>
        </p:nvPicPr>
        <p:blipFill>
          <a:blip r:embed="rId1"/>
          <a:stretch>
            <a:fillRect/>
          </a:stretch>
        </p:blipFill>
        <p:spPr>
          <a:xfrm>
            <a:off x="502920" y="1445895"/>
            <a:ext cx="5394960" cy="3034665"/>
          </a:xfrm>
          <a:prstGeom prst="rect">
            <a:avLst/>
          </a:prstGeom>
        </p:spPr>
      </p:pic>
      <p:sp>
        <p:nvSpPr>
          <p:cNvPr id="6" name="so-1"/>
          <p:cNvSpPr txBox="1"/>
          <p:nvPr/>
        </p:nvSpPr>
        <p:spPr>
          <a:xfrm>
            <a:off x="512064" y="4727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4"/>
          <p:cNvSpPr txBox="1"/>
          <p:nvPr/>
        </p:nvSpPr>
        <p:spPr>
          <a:xfrm>
            <a:off x="978408" y="4709160"/>
            <a:ext cx="4919472" cy="769620"/>
          </a:xfrm>
          <a:prstGeom prst="rect">
            <a:avLst/>
          </a:prstGeom>
          <a:noFill/>
          <a:ln/>
        </p:spPr>
        <p:txBody>
          <a:bodyPr wrap="square" lIns="25400" tIns="0" rIns="0" bIns="0" rtlCol="0" anchor="t"/>
          <a:lstStyle/>
          <a:p>
            <a:pPr indent="0" marL="0">
              <a:buNone/>
            </a:pPr>
            <a:r>
              <a:rPr lang="en-US" sz="1400" b="1" dirty="0">
                <a:solidFill>
                  <a:schemeClr val="tx1"/>
                </a:solidFill>
              </a:rPr>
              <a:t>Tab Mặt hàng:</a:t>
            </a:r>
            <a:pPr indent="0" marL="0">
              <a:buNone/>
            </a:pPr>
            <a:r>
              <a:rPr lang="en-US" sz="1400" dirty="0">
                <a:solidFill>
                  <a:schemeClr val="tx1"/>
                </a:solidFill>
              </a:rPr>
              <a:t> giá trị tồn kho, hàng bán chạy (xếp theo doanh thu, số lượng, lãi), hàng không bán được trong kỳ để giảm nhập.</a:t>
            </a:r>
            <a:endParaRPr lang="en-US" sz="1400" dirty="0"/>
          </a:p>
        </p:txBody>
      </p:sp>
      <p:sp>
        <p:nvSpPr>
          <p:cNvPr id="8" name="report-debt-khung"/>
          <p:cNvSpPr/>
          <p:nvPr/>
        </p:nvSpPr>
        <p:spPr>
          <a:xfrm>
            <a:off x="6291072" y="1427607"/>
            <a:ext cx="5431536" cy="3071241"/>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9" name="report-debt" descr="report-debt">    </p:cNvPr>
          <p:cNvPicPr>
            <a:picLocks noChangeAspect="1"/>
          </p:cNvPicPr>
          <p:nvPr/>
        </p:nvPicPr>
        <p:blipFill>
          <a:blip r:embed="rId2"/>
          <a:stretch>
            <a:fillRect/>
          </a:stretch>
        </p:blipFill>
        <p:spPr>
          <a:xfrm>
            <a:off x="6309360" y="1445895"/>
            <a:ext cx="5394960" cy="3034665"/>
          </a:xfrm>
          <a:prstGeom prst="rect">
            <a:avLst/>
          </a:prstGeom>
        </p:spPr>
      </p:pic>
      <p:sp>
        <p:nvSpPr>
          <p:cNvPr id="10" name="so-2"/>
          <p:cNvSpPr txBox="1"/>
          <p:nvPr/>
        </p:nvSpPr>
        <p:spPr>
          <a:xfrm>
            <a:off x="6318504" y="4727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Text 7"/>
          <p:cNvSpPr txBox="1"/>
          <p:nvPr/>
        </p:nvSpPr>
        <p:spPr>
          <a:xfrm>
            <a:off x="6784848" y="4709160"/>
            <a:ext cx="4919472" cy="552704"/>
          </a:xfrm>
          <a:prstGeom prst="rect">
            <a:avLst/>
          </a:prstGeom>
          <a:noFill/>
          <a:ln/>
        </p:spPr>
        <p:txBody>
          <a:bodyPr wrap="square" lIns="25400" tIns="0" rIns="0" bIns="0" rtlCol="0" anchor="t"/>
          <a:lstStyle/>
          <a:p>
            <a:pPr indent="0" marL="0">
              <a:buNone/>
            </a:pPr>
            <a:r>
              <a:rPr lang="en-US" sz="1400" b="1" dirty="0">
                <a:solidFill>
                  <a:schemeClr val="tx1"/>
                </a:solidFill>
              </a:rPr>
              <a:t>Tab Công nợ:</a:t>
            </a:r>
            <a:pPr indent="0" marL="0">
              <a:buNone/>
            </a:pPr>
            <a:r>
              <a:rPr lang="en-US" sz="1400" dirty="0">
                <a:solidFill>
                  <a:schemeClr val="tx1"/>
                </a:solidFill>
              </a:rPr>
              <a:t> khách đang nợ, tiệm nợ NCC, ghi nợ và thu nợ trong kỳ. Bấm tên để mở người đó.</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731520" y="1097280"/>
            <a:ext cx="2743200" cy="1188720"/>
          </a:xfrm>
          <a:prstGeom prst="rect">
            <a:avLst/>
          </a:prstGeom>
          <a:noFill/>
          <a:ln/>
        </p:spPr>
        <p:txBody>
          <a:bodyPr wrap="square" lIns="0" tIns="0" rIns="0" bIns="0" rtlCol="0" anchor="ctr"/>
          <a:lstStyle/>
          <a:p>
            <a:pPr indent="0" marL="0">
              <a:buNone/>
            </a:pPr>
            <a:r>
              <a:rPr lang="en-US" sz="8000" b="1" dirty="0">
                <a:solidFill>
                  <a:srgbClr val="FDBA74"/>
                </a:solidFill>
              </a:rPr>
              <a:t>08</a:t>
            </a:r>
            <a:endParaRPr lang="en-US" sz="8000" dirty="0"/>
          </a:p>
        </p:txBody>
      </p:sp>
      <p:sp>
        <p:nvSpPr>
          <p:cNvPr id="3" name="Text 0"/>
          <p:cNvSpPr/>
          <p:nvPr>
            <p:ph idx="100" type="title" hasCustomPrompt="1"/>
          </p:nvPr>
        </p:nvSpPr>
        <p:spPr>
          <a:xfrm>
            <a:off x="731520" y="2331720"/>
            <a:ext cx="5669280" cy="1463040"/>
          </a:xfrm>
          <a:prstGeom prst="rect">
            <a:avLst/>
          </a:prstGeom>
          <a:noFill/>
          <a:ln/>
        </p:spPr>
        <p:txBody>
          <a:bodyPr wrap="square" lIns="0" tIns="0" rIns="0" bIns="0" rtlCol="0" anchor="t"/>
          <a:lstStyle/>
          <a:p>
            <a:pPr algn="l" indent="0" marL="0">
              <a:buNone/>
            </a:pPr>
            <a:r>
              <a:rPr lang="en-US" sz="4400" b="1" dirty="0">
                <a:solidFill>
                  <a:schemeClr val="bg1"/>
                </a:solidFill>
              </a:rPr>
              <a:t>Điện thoại, cài đặt và sao lưu</a:t>
            </a:r>
            <a:endParaRPr lang="en-US" sz="4400" dirty="0"/>
          </a:p>
        </p:txBody>
      </p:sp>
      <p:sp>
        <p:nvSpPr>
          <p:cNvPr id="4" name="Shape 2"/>
          <p:cNvSpPr/>
          <p:nvPr/>
        </p:nvSpPr>
        <p:spPr>
          <a:xfrm>
            <a:off x="6903720" y="1051560"/>
            <a:ext cx="4754880" cy="4754880"/>
          </a:xfrm>
          <a:prstGeom prst="roundRect">
            <a:avLst>
              <a:gd name="adj" fmla="val 3846"/>
            </a:avLst>
          </a:prstGeom>
          <a:solidFill>
            <a:schemeClr val="bg1">
              <a:alpha val="8000"/>
            </a:schemeClr>
          </a:solidFill>
          <a:ln w="9525">
            <a:solidFill>
              <a:schemeClr val="bg1">
                <a:alpha val="20000"/>
              </a:schemeClr>
            </a:solidFill>
            <a:prstDash val="solid"/>
          </a:ln>
        </p:spPr>
      </p:sp>
      <p:pic>
        <p:nvPicPr>
          <p:cNvPr id="5" name="Image 0" descr="Điện thoại, cài đặt và sao lưu">    </p:cNvPr>
          <p:cNvPicPr>
            <a:picLocks noChangeAspect="1"/>
          </p:cNvPicPr>
          <p:nvPr/>
        </p:nvPicPr>
        <p:blipFill>
          <a:blip r:embed="rId1"/>
          <a:stretch>
            <a:fillRect/>
          </a:stretch>
        </p:blipFill>
        <p:spPr>
          <a:xfrm>
            <a:off x="7269480" y="1371600"/>
            <a:ext cx="548640" cy="548640"/>
          </a:xfrm>
          <a:prstGeom prst="rect">
            <a:avLst/>
          </a:prstGeom>
        </p:spPr>
      </p:pic>
      <p:sp>
        <p:nvSpPr>
          <p:cNvPr id="6" name="Text 3"/>
          <p:cNvSpPr txBox="1"/>
          <p:nvPr/>
        </p:nvSpPr>
        <p:spPr>
          <a:xfrm>
            <a:off x="8001000" y="1417320"/>
            <a:ext cx="3474720" cy="457200"/>
          </a:xfrm>
          <a:prstGeom prst="rect">
            <a:avLst/>
          </a:prstGeom>
          <a:noFill/>
          <a:ln/>
        </p:spPr>
        <p:txBody>
          <a:bodyPr wrap="square" lIns="0" tIns="0" rIns="0" bIns="0" rtlCol="0" anchor="ctr"/>
          <a:lstStyle/>
          <a:p>
            <a:pPr indent="0" marL="0">
              <a:buNone/>
            </a:pPr>
            <a:r>
              <a:rPr lang="en-US" sz="1600" b="1" dirty="0">
                <a:solidFill>
                  <a:schemeClr val="bg1"/>
                </a:solidFill>
              </a:rPr>
              <a:t>Trong phần này</a:t>
            </a:r>
            <a:endParaRPr lang="en-US" sz="1600" dirty="0"/>
          </a:p>
        </p:txBody>
      </p:sp>
      <p:sp>
        <p:nvSpPr>
          <p:cNvPr id="7" name="Text 4"/>
          <p:cNvSpPr txBox="1"/>
          <p:nvPr/>
        </p:nvSpPr>
        <p:spPr>
          <a:xfrm>
            <a:off x="7269480" y="2148840"/>
            <a:ext cx="4114800" cy="347472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chemeClr val="bg1"/>
                </a:solidFill>
              </a:rPr>
              <a:t>Ghép điện thoại</a:t>
            </a:r>
            <a:endParaRPr lang="en-US" sz="1700" dirty="0"/>
          </a:p>
          <a:p>
            <a:pPr marL="342900" indent="-342900">
              <a:spcAft>
                <a:spcPts val="900"/>
              </a:spcAft>
              <a:buSzPct val="100000"/>
              <a:buChar char="•"/>
            </a:pPr>
            <a:r>
              <a:rPr lang="en-US" sz="1700" dirty="0">
                <a:solidFill>
                  <a:schemeClr val="bg1"/>
                </a:solidFill>
              </a:rPr>
              <a:t>Dùng trên điện thoại</a:t>
            </a:r>
            <a:endParaRPr lang="en-US" sz="1700" dirty="0"/>
          </a:p>
          <a:p>
            <a:pPr marL="342900" indent="-342900">
              <a:spcAft>
                <a:spcPts val="900"/>
              </a:spcAft>
              <a:buSzPct val="100000"/>
              <a:buChar char="•"/>
            </a:pPr>
            <a:r>
              <a:rPr lang="en-US" sz="1700" dirty="0">
                <a:solidFill>
                  <a:schemeClr val="bg1"/>
                </a:solidFill>
              </a:rPr>
              <a:t>Cài đặt cửa hàng, VietQR, in</a:t>
            </a:r>
            <a:endParaRPr lang="en-US" sz="1700" dirty="0"/>
          </a:p>
          <a:p>
            <a:pPr marL="342900" indent="-342900">
              <a:spcAft>
                <a:spcPts val="900"/>
              </a:spcAft>
              <a:buSzPct val="100000"/>
              <a:buChar char="•"/>
            </a:pPr>
            <a:r>
              <a:rPr lang="en-US" sz="1700" dirty="0">
                <a:solidFill>
                  <a:schemeClr val="bg1"/>
                </a:solidFill>
              </a:rPr>
              <a:t>Sao lưu và khôi phục</a:t>
            </a:r>
            <a:endParaRPr lang="en-US" sz="1700" dirty="0"/>
          </a:p>
          <a:p>
            <a:pPr marL="342900" indent="-342900">
              <a:spcAft>
                <a:spcPts val="900"/>
              </a:spcAft>
              <a:buSzPct val="100000"/>
              <a:buChar char="•"/>
            </a:pPr>
            <a:r>
              <a:rPr lang="en-US" sz="1700" dirty="0">
                <a:solidFill>
                  <a:schemeClr val="bg1"/>
                </a:solidFill>
              </a:rPr>
              <a:t>Khi gặp sự cố</a:t>
            </a:r>
            <a:endParaRPr lang="en-US" sz="17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Ghép điện thoại (chỉ làm một lần)</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8 · Cài đặt</a:t>
            </a:r>
            <a:endParaRPr lang="en-US" sz="1200" dirty="0"/>
          </a:p>
        </p:txBody>
      </p:sp>
      <p:sp>
        <p:nvSpPr>
          <p:cNvPr id="4" name="pair-dialog-khung"/>
          <p:cNvSpPr/>
          <p:nvPr/>
        </p:nvSpPr>
        <p:spPr>
          <a:xfrm>
            <a:off x="484632" y="1216152"/>
            <a:ext cx="4334256" cy="4346294"/>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pair-dialog" descr="pair-dialog">    </p:cNvPr>
          <p:cNvPicPr>
            <a:picLocks noChangeAspect="1"/>
          </p:cNvPicPr>
          <p:nvPr/>
        </p:nvPicPr>
        <p:blipFill>
          <a:blip r:embed="rId1"/>
          <a:stretch>
            <a:fillRect/>
          </a:stretch>
        </p:blipFill>
        <p:spPr>
          <a:xfrm>
            <a:off x="502920" y="1234440"/>
            <a:ext cx="4297680" cy="4309718"/>
          </a:xfrm>
          <a:prstGeom prst="rect">
            <a:avLst/>
          </a:prstGeom>
        </p:spPr>
      </p:pic>
      <p:sp>
        <p:nvSpPr>
          <p:cNvPr id="6" name="so-1"/>
          <p:cNvSpPr txBox="1"/>
          <p:nvPr/>
        </p:nvSpPr>
        <p:spPr>
          <a:xfrm>
            <a:off x="517550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5641848" y="1280160"/>
            <a:ext cx="6062472" cy="506984"/>
          </a:xfrm>
          <a:prstGeom prst="rect">
            <a:avLst/>
          </a:prstGeom>
          <a:noFill/>
          <a:ln/>
        </p:spPr>
        <p:txBody>
          <a:bodyPr wrap="square" lIns="25400" tIns="0" rIns="0" bIns="0" rtlCol="0" anchor="t"/>
          <a:lstStyle/>
          <a:p>
            <a:pPr indent="0" marL="0">
              <a:buNone/>
            </a:pPr>
            <a:r>
              <a:rPr lang="en-US" sz="1400" b="1" dirty="0">
                <a:solidFill>
                  <a:schemeClr val="tx1"/>
                </a:solidFill>
              </a:rPr>
              <a:t>Trên điện thoại:</a:t>
            </a:r>
            <a:pPr indent="0" marL="0">
              <a:buNone/>
            </a:pPr>
            <a:r>
              <a:rPr lang="en-US" sz="1400" dirty="0">
                <a:solidFill>
                  <a:schemeClr val="tx1"/>
                </a:solidFill>
              </a:rPr>
              <a:t> bắt Wi‑Fi của tiệm, mở trình duyệt vào http://&lt;IP máy quầy&gt;:7869. Màn hình báo "Điện thoại này chưa được ghép".</a:t>
            </a:r>
            <a:endParaRPr lang="en-US" sz="1400" dirty="0"/>
          </a:p>
        </p:txBody>
      </p:sp>
      <p:sp>
        <p:nvSpPr>
          <p:cNvPr id="8" name="so-2"/>
          <p:cNvSpPr txBox="1"/>
          <p:nvPr/>
        </p:nvSpPr>
        <p:spPr>
          <a:xfrm>
            <a:off x="5175504" y="19883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5641848" y="1970024"/>
            <a:ext cx="6062472" cy="506984"/>
          </a:xfrm>
          <a:prstGeom prst="rect">
            <a:avLst/>
          </a:prstGeom>
          <a:noFill/>
          <a:ln/>
        </p:spPr>
        <p:txBody>
          <a:bodyPr wrap="square" lIns="25400" tIns="0" rIns="0" bIns="0" rtlCol="0" anchor="t"/>
          <a:lstStyle/>
          <a:p>
            <a:pPr indent="0" marL="0">
              <a:buNone/>
            </a:pPr>
            <a:r>
              <a:rPr lang="en-US" sz="1400" b="1" dirty="0">
                <a:solidFill>
                  <a:schemeClr val="tx1"/>
                </a:solidFill>
              </a:rPr>
              <a:t>Trên máy quầy:</a:t>
            </a:r>
            <a:pPr indent="0" marL="0">
              <a:buNone/>
            </a:pPr>
            <a:r>
              <a:rPr lang="en-US" sz="1400" dirty="0">
                <a:solidFill>
                  <a:schemeClr val="tx1"/>
                </a:solidFill>
              </a:rPr>
              <a:t> Cài đặt → Thiết bị → "Ghép điện thoại". Mã QR và mã 6 số hiện ra (hết hạn sau 5 phút).</a:t>
            </a:r>
            <a:endParaRPr lang="en-US" sz="1400" dirty="0"/>
          </a:p>
        </p:txBody>
      </p:sp>
      <p:sp>
        <p:nvSpPr>
          <p:cNvPr id="10" name="so-3"/>
          <p:cNvSpPr txBox="1"/>
          <p:nvPr/>
        </p:nvSpPr>
        <p:spPr>
          <a:xfrm>
            <a:off x="5175504" y="267817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5641848" y="2659888"/>
            <a:ext cx="6062472" cy="506984"/>
          </a:xfrm>
          <a:prstGeom prst="rect">
            <a:avLst/>
          </a:prstGeom>
          <a:noFill/>
          <a:ln/>
        </p:spPr>
        <p:txBody>
          <a:bodyPr wrap="square" lIns="25400" tIns="0" rIns="0" bIns="0" rtlCol="0" anchor="t"/>
          <a:lstStyle/>
          <a:p>
            <a:pPr indent="0" marL="0">
              <a:buNone/>
            </a:pPr>
            <a:r>
              <a:rPr lang="en-US" sz="1400" b="1" dirty="0">
                <a:solidFill>
                  <a:schemeClr val="tx1"/>
                </a:solidFill>
              </a:rPr>
              <a:t>Điện thoại quét mã QR</a:t>
            </a:r>
            <a:pPr indent="0" marL="0">
              <a:buNone/>
            </a:pPr>
            <a:r>
              <a:rPr lang="en-US" sz="1400" dirty="0">
                <a:solidFill>
                  <a:schemeClr val="tx1"/>
                </a:solidFill>
              </a:rPr>
              <a:t> bằng camera, hoặc gõ 6 số vào ô. Ghép xong là dùng được, các lần sau không hỏi lại.</a:t>
            </a:r>
            <a:endParaRPr lang="en-US" sz="1400" dirty="0"/>
          </a:p>
        </p:txBody>
      </p:sp>
      <p:sp>
        <p:nvSpPr>
          <p:cNvPr id="12" name="so-4"/>
          <p:cNvSpPr txBox="1"/>
          <p:nvPr/>
        </p:nvSpPr>
        <p:spPr>
          <a:xfrm>
            <a:off x="5175504" y="336804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5641848" y="3349752"/>
            <a:ext cx="6062472" cy="506984"/>
          </a:xfrm>
          <a:prstGeom prst="rect">
            <a:avLst/>
          </a:prstGeom>
          <a:noFill/>
          <a:ln/>
        </p:spPr>
        <p:txBody>
          <a:bodyPr wrap="square" lIns="25400" tIns="0" rIns="0" bIns="0" rtlCol="0" anchor="t"/>
          <a:lstStyle/>
          <a:p>
            <a:pPr indent="0" marL="0">
              <a:buNone/>
            </a:pPr>
            <a:r>
              <a:rPr lang="en-US" sz="1400" b="1" dirty="0">
                <a:solidFill>
                  <a:schemeClr val="tx1"/>
                </a:solidFill>
              </a:rPr>
              <a:t>Quản lý thiết bị:</a:t>
            </a:r>
            <a:pPr indent="0" marL="0">
              <a:buNone/>
            </a:pPr>
            <a:r>
              <a:rPr lang="en-US" sz="1400" dirty="0">
                <a:solidFill>
                  <a:schemeClr val="tx1"/>
                </a:solidFill>
              </a:rPr>
              <a:t> nút ⋯ để đổi tên, hoặc "Gỡ" khi mất / không dùng điện thoại đó nữa. Máy quầy luôn dùng được, không cần ghép.</a:t>
            </a:r>
            <a:endParaRPr lang="en-US" sz="1400" dirty="0"/>
          </a:p>
        </p:txBody>
      </p:sp>
      <p:sp>
        <p:nvSpPr>
          <p:cNvPr id="14" name="set-8-khung"/>
          <p:cNvSpPr/>
          <p:nvPr/>
        </p:nvSpPr>
        <p:spPr>
          <a:xfrm>
            <a:off x="5148072" y="4782312"/>
            <a:ext cx="6574536" cy="139650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15" name="set-8" descr="set-8">    </p:cNvPr>
          <p:cNvPicPr>
            <a:picLocks noChangeAspect="1"/>
          </p:cNvPicPr>
          <p:nvPr/>
        </p:nvPicPr>
        <p:blipFill>
          <a:blip r:embed="rId2"/>
          <a:stretch>
            <a:fillRect/>
          </a:stretch>
        </p:blipFill>
        <p:spPr>
          <a:xfrm>
            <a:off x="5166360" y="4800600"/>
            <a:ext cx="6537960" cy="1359930"/>
          </a:xfrm>
          <a:prstGeom prst="rect">
            <a:avLst/>
          </a:prstGeom>
        </p:spPr>
      </p:pic>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Dùng trên điện thoại</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8 · Cài đặt</a:t>
            </a:r>
            <a:endParaRPr lang="en-US" sz="1200" dirty="0"/>
          </a:p>
        </p:txBody>
      </p:sp>
      <p:sp>
        <p:nvSpPr>
          <p:cNvPr id="4" name="m-overview-khung"/>
          <p:cNvSpPr/>
          <p:nvPr/>
        </p:nvSpPr>
        <p:spPr>
          <a:xfrm>
            <a:off x="938257" y="1216152"/>
            <a:ext cx="1621067" cy="346557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m-overview" descr="m-overview">    </p:cNvPr>
          <p:cNvPicPr>
            <a:picLocks noChangeAspect="1"/>
          </p:cNvPicPr>
          <p:nvPr/>
        </p:nvPicPr>
        <p:blipFill>
          <a:blip r:embed="rId1"/>
          <a:stretch>
            <a:fillRect/>
          </a:stretch>
        </p:blipFill>
        <p:spPr>
          <a:xfrm>
            <a:off x="956545" y="1234440"/>
            <a:ext cx="1584491" cy="3429000"/>
          </a:xfrm>
          <a:prstGeom prst="rect">
            <a:avLst/>
          </a:prstGeom>
        </p:spPr>
      </p:pic>
      <p:sp>
        <p:nvSpPr>
          <p:cNvPr id="6" name="Text 3"/>
          <p:cNvSpPr txBox="1"/>
          <p:nvPr/>
        </p:nvSpPr>
        <p:spPr>
          <a:xfrm>
            <a:off x="502920" y="4892040"/>
            <a:ext cx="2491740" cy="552704"/>
          </a:xfrm>
          <a:prstGeom prst="rect">
            <a:avLst/>
          </a:prstGeom>
          <a:noFill/>
          <a:ln/>
        </p:spPr>
        <p:txBody>
          <a:bodyPr wrap="square" lIns="25400" tIns="0" rIns="0" bIns="0" rtlCol="0" anchor="t"/>
          <a:lstStyle/>
          <a:p>
            <a:pPr indent="0" marL="0">
              <a:buNone/>
            </a:pPr>
            <a:r>
              <a:rPr lang="en-US" sz="1400" b="1" dirty="0">
                <a:solidFill>
                  <a:schemeClr val="tx1"/>
                </a:solidFill>
              </a:rPr>
              <a:t>Tổng quan</a:t>
            </a:r>
            <a:pPr indent="0" marL="0">
              <a:buNone/>
            </a:pPr>
            <a:r>
              <a:rPr lang="en-US" sz="1400" dirty="0">
                <a:solidFill>
                  <a:schemeClr val="tx1"/>
                </a:solidFill>
              </a:rPr>
              <a:t> xem số liệu hôm nay ở bất kỳ đâu trong tiệm.</a:t>
            </a:r>
            <a:endParaRPr lang="en-US" sz="1400" dirty="0"/>
          </a:p>
        </p:txBody>
      </p:sp>
      <p:sp>
        <p:nvSpPr>
          <p:cNvPr id="7" name="m-sell-cart-khung"/>
          <p:cNvSpPr/>
          <p:nvPr/>
        </p:nvSpPr>
        <p:spPr>
          <a:xfrm>
            <a:off x="3841477" y="1216152"/>
            <a:ext cx="1621067" cy="346557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8" name="m-sell-cart" descr="m-sell-cart">    </p:cNvPr>
          <p:cNvPicPr>
            <a:picLocks noChangeAspect="1"/>
          </p:cNvPicPr>
          <p:nvPr/>
        </p:nvPicPr>
        <p:blipFill>
          <a:blip r:embed="rId2"/>
          <a:stretch>
            <a:fillRect/>
          </a:stretch>
        </p:blipFill>
        <p:spPr>
          <a:xfrm>
            <a:off x="3859765" y="1234440"/>
            <a:ext cx="1584491" cy="3429000"/>
          </a:xfrm>
          <a:prstGeom prst="rect">
            <a:avLst/>
          </a:prstGeom>
        </p:spPr>
      </p:pic>
      <p:sp>
        <p:nvSpPr>
          <p:cNvPr id="9" name="Text 5"/>
          <p:cNvSpPr txBox="1"/>
          <p:nvPr/>
        </p:nvSpPr>
        <p:spPr>
          <a:xfrm>
            <a:off x="3406140" y="4892040"/>
            <a:ext cx="2491740" cy="552704"/>
          </a:xfrm>
          <a:prstGeom prst="rect">
            <a:avLst/>
          </a:prstGeom>
          <a:noFill/>
          <a:ln/>
        </p:spPr>
        <p:txBody>
          <a:bodyPr wrap="square" lIns="25400" tIns="0" rIns="0" bIns="0" rtlCol="0" anchor="t"/>
          <a:lstStyle/>
          <a:p>
            <a:pPr indent="0" marL="0">
              <a:buNone/>
            </a:pPr>
            <a:r>
              <a:rPr lang="en-US" sz="1400" b="1" dirty="0">
                <a:solidFill>
                  <a:schemeClr val="tx1"/>
                </a:solidFill>
              </a:rPr>
              <a:t>Bán hàng:</a:t>
            </a:r>
            <a:pPr indent="0" marL="0">
              <a:buNone/>
            </a:pPr>
            <a:r>
              <a:rPr lang="en-US" sz="1400" dirty="0">
                <a:solidFill>
                  <a:schemeClr val="tx1"/>
                </a:solidFill>
              </a:rPr>
              <a:t> gõ tên hàng, thanh toán ở thanh phía dưới.</a:t>
            </a:r>
            <a:endParaRPr lang="en-US" sz="1400" dirty="0"/>
          </a:p>
        </p:txBody>
      </p:sp>
      <p:sp>
        <p:nvSpPr>
          <p:cNvPr id="10" name="m-more-khung"/>
          <p:cNvSpPr/>
          <p:nvPr/>
        </p:nvSpPr>
        <p:spPr>
          <a:xfrm>
            <a:off x="6744697" y="1216152"/>
            <a:ext cx="1621067" cy="346557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11" name="m-more" descr="m-more">    </p:cNvPr>
          <p:cNvPicPr>
            <a:picLocks noChangeAspect="1"/>
          </p:cNvPicPr>
          <p:nvPr/>
        </p:nvPicPr>
        <p:blipFill>
          <a:blip r:embed="rId3"/>
          <a:stretch>
            <a:fillRect/>
          </a:stretch>
        </p:blipFill>
        <p:spPr>
          <a:xfrm>
            <a:off x="6762985" y="1234440"/>
            <a:ext cx="1584491" cy="3429000"/>
          </a:xfrm>
          <a:prstGeom prst="rect">
            <a:avLst/>
          </a:prstGeom>
        </p:spPr>
      </p:pic>
      <p:sp>
        <p:nvSpPr>
          <p:cNvPr id="12" name="Text 7"/>
          <p:cNvSpPr txBox="1"/>
          <p:nvPr/>
        </p:nvSpPr>
        <p:spPr>
          <a:xfrm>
            <a:off x="6309360" y="4892040"/>
            <a:ext cx="2491740" cy="552704"/>
          </a:xfrm>
          <a:prstGeom prst="rect">
            <a:avLst/>
          </a:prstGeom>
          <a:noFill/>
          <a:ln/>
        </p:spPr>
        <p:txBody>
          <a:bodyPr wrap="square" lIns="25400" tIns="0" rIns="0" bIns="0" rtlCol="0" anchor="t"/>
          <a:lstStyle/>
          <a:p>
            <a:pPr indent="0" marL="0">
              <a:buNone/>
            </a:pPr>
            <a:r>
              <a:rPr lang="en-US" sz="1400" b="1" dirty="0">
                <a:solidFill>
                  <a:schemeClr val="tx1"/>
                </a:solidFill>
              </a:rPr>
              <a:t>Nút "Thêm"</a:t>
            </a:r>
            <a:pPr indent="0" marL="0">
              <a:buNone/>
            </a:pPr>
            <a:r>
              <a:rPr lang="en-US" sz="1400" dirty="0">
                <a:solidFill>
                  <a:schemeClr val="tx1"/>
                </a:solidFill>
              </a:rPr>
              <a:t> mở mọi trang còn lại.</a:t>
            </a:r>
            <a:endParaRPr lang="en-US" sz="1400" dirty="0"/>
          </a:p>
        </p:txBody>
      </p:sp>
      <p:sp>
        <p:nvSpPr>
          <p:cNvPr id="13" name="m-customers-khung"/>
          <p:cNvSpPr/>
          <p:nvPr/>
        </p:nvSpPr>
        <p:spPr>
          <a:xfrm>
            <a:off x="9647917" y="1216152"/>
            <a:ext cx="1621067" cy="346557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14" name="m-customers" descr="m-customers">    </p:cNvPr>
          <p:cNvPicPr>
            <a:picLocks noChangeAspect="1"/>
          </p:cNvPicPr>
          <p:nvPr/>
        </p:nvPicPr>
        <p:blipFill>
          <a:blip r:embed="rId4"/>
          <a:stretch>
            <a:fillRect/>
          </a:stretch>
        </p:blipFill>
        <p:spPr>
          <a:xfrm>
            <a:off x="9666205" y="1234440"/>
            <a:ext cx="1584491" cy="3429000"/>
          </a:xfrm>
          <a:prstGeom prst="rect">
            <a:avLst/>
          </a:prstGeom>
        </p:spPr>
      </p:pic>
      <p:sp>
        <p:nvSpPr>
          <p:cNvPr id="15" name="Text 9"/>
          <p:cNvSpPr txBox="1"/>
          <p:nvPr/>
        </p:nvSpPr>
        <p:spPr>
          <a:xfrm>
            <a:off x="9212580" y="4892040"/>
            <a:ext cx="2491740" cy="552704"/>
          </a:xfrm>
          <a:prstGeom prst="rect">
            <a:avLst/>
          </a:prstGeom>
          <a:noFill/>
          <a:ln/>
        </p:spPr>
        <p:txBody>
          <a:bodyPr wrap="square" lIns="25400" tIns="0" rIns="0" bIns="0" rtlCol="0" anchor="t"/>
          <a:lstStyle/>
          <a:p>
            <a:pPr indent="0" marL="0">
              <a:buNone/>
            </a:pPr>
            <a:r>
              <a:rPr lang="en-US" sz="1400" b="1" dirty="0">
                <a:solidFill>
                  <a:schemeClr val="tx1"/>
                </a:solidFill>
              </a:rPr>
              <a:t>Khách hàng</a:t>
            </a:r>
            <a:pPr indent="0" marL="0">
              <a:buNone/>
            </a:pPr>
            <a:r>
              <a:rPr lang="en-US" sz="1400" dirty="0">
                <a:solidFill>
                  <a:schemeClr val="tx1"/>
                </a:solidFill>
              </a:rPr>
              <a:t> xem nợ, thu nợ ngay tại chỗ.</a:t>
            </a:r>
            <a:endParaRPr lang="en-US" sz="1400" dirty="0"/>
          </a:p>
        </p:txBody>
      </p:sp>
      <p:sp>
        <p:nvSpPr>
          <p:cNvPr id="16" name="meo"/>
          <p:cNvSpPr/>
          <p:nvPr/>
        </p:nvSpPr>
        <p:spPr>
          <a:xfrm>
            <a:off x="502920" y="5577840"/>
            <a:ext cx="11201400" cy="658876"/>
          </a:xfrm>
          <a:prstGeom prst="roundRect">
            <a:avLst>
              <a:gd name="adj" fmla="val 11103"/>
            </a:avLst>
          </a:prstGeom>
          <a:solidFill>
            <a:schemeClr val="accent1">
              <a:alpha val="10000"/>
            </a:schemeClr>
          </a:solidFill>
          <a:ln w="9525">
            <a:solidFill>
              <a:schemeClr val="accent1">
                <a:alpha val="45000"/>
              </a:schemeClr>
            </a:solidFill>
            <a:prstDash val="solid"/>
          </a:ln>
        </p:spPr>
      </p:sp>
      <p:pic>
        <p:nvPicPr>
          <p:cNvPr id="17" name="Image 4" descr="Mẹo">    </p:cNvPr>
          <p:cNvPicPr>
            <a:picLocks noChangeAspect="1"/>
          </p:cNvPicPr>
          <p:nvPr/>
        </p:nvPicPr>
        <p:blipFill>
          <a:blip r:embed="rId5"/>
          <a:stretch>
            <a:fillRect/>
          </a:stretch>
        </p:blipFill>
        <p:spPr>
          <a:xfrm>
            <a:off x="667512" y="5724144"/>
            <a:ext cx="274320" cy="274320"/>
          </a:xfrm>
          <a:prstGeom prst="rect">
            <a:avLst/>
          </a:prstGeom>
        </p:spPr>
      </p:pic>
      <p:sp>
        <p:nvSpPr>
          <p:cNvPr id="18" name="Text 11"/>
          <p:cNvSpPr txBox="1"/>
          <p:nvPr/>
        </p:nvSpPr>
        <p:spPr>
          <a:xfrm>
            <a:off x="1051560" y="5650992"/>
            <a:ext cx="10515600" cy="512572"/>
          </a:xfrm>
          <a:prstGeom prst="rect">
            <a:avLst/>
          </a:prstGeom>
          <a:noFill/>
          <a:ln/>
        </p:spPr>
        <p:txBody>
          <a:bodyPr wrap="square" lIns="0" tIns="0" rIns="0" bIns="0" rtlCol="0" anchor="ctr"/>
          <a:lstStyle/>
          <a:p>
            <a:pPr indent="0" marL="0">
              <a:buNone/>
            </a:pPr>
            <a:r>
              <a:rPr lang="en-US" sz="1300" dirty="0">
                <a:solidFill>
                  <a:schemeClr val="tx1"/>
                </a:solidFill>
              </a:rPr>
              <a:t>Mở bằng Chrome / Safari rồi chọn "Thêm vào màn hình chính" để mở như một ứng dụng. iPhone: sau khi thêm, ghép lại một lần trong ứng dụng bằng mã 6 số.</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Cài đặt cửa hàng, chuyển khoản, in hóa đơn</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8 · Cài đặt</a:t>
            </a:r>
            <a:endParaRPr lang="en-US" sz="1200" dirty="0"/>
          </a:p>
        </p:txBody>
      </p:sp>
      <p:sp>
        <p:nvSpPr>
          <p:cNvPr id="4" name="set-2-khung"/>
          <p:cNvSpPr/>
          <p:nvPr/>
        </p:nvSpPr>
        <p:spPr>
          <a:xfrm>
            <a:off x="484632" y="1216152"/>
            <a:ext cx="4791456" cy="187737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set-2" descr="set-2">    </p:cNvPr>
          <p:cNvPicPr>
            <a:picLocks noChangeAspect="1"/>
          </p:cNvPicPr>
          <p:nvPr/>
        </p:nvPicPr>
        <p:blipFill>
          <a:blip r:embed="rId1"/>
          <a:stretch>
            <a:fillRect/>
          </a:stretch>
        </p:blipFill>
        <p:spPr>
          <a:xfrm>
            <a:off x="502920" y="1234440"/>
            <a:ext cx="4754880" cy="1840800"/>
          </a:xfrm>
          <a:prstGeom prst="rect">
            <a:avLst/>
          </a:prstGeom>
        </p:spPr>
      </p:pic>
      <p:sp>
        <p:nvSpPr>
          <p:cNvPr id="6" name="set-3-khung"/>
          <p:cNvSpPr/>
          <p:nvPr/>
        </p:nvSpPr>
        <p:spPr>
          <a:xfrm>
            <a:off x="484632" y="3285552"/>
            <a:ext cx="4791456" cy="160593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7" name="set-3" descr="set-3">    </p:cNvPr>
          <p:cNvPicPr>
            <a:picLocks noChangeAspect="1"/>
          </p:cNvPicPr>
          <p:nvPr/>
        </p:nvPicPr>
        <p:blipFill>
          <a:blip r:embed="rId2"/>
          <a:stretch>
            <a:fillRect/>
          </a:stretch>
        </p:blipFill>
        <p:spPr>
          <a:xfrm>
            <a:off x="502920" y="3303840"/>
            <a:ext cx="4754880" cy="1569360"/>
          </a:xfrm>
          <a:prstGeom prst="rect">
            <a:avLst/>
          </a:prstGeom>
        </p:spPr>
      </p:pic>
      <p:sp>
        <p:nvSpPr>
          <p:cNvPr id="8" name="set-4-khung"/>
          <p:cNvSpPr/>
          <p:nvPr/>
        </p:nvSpPr>
        <p:spPr>
          <a:xfrm>
            <a:off x="484632" y="5083512"/>
            <a:ext cx="4791456" cy="96009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9" name="set-4" descr="set-4">    </p:cNvPr>
          <p:cNvPicPr>
            <a:picLocks noChangeAspect="1"/>
          </p:cNvPicPr>
          <p:nvPr/>
        </p:nvPicPr>
        <p:blipFill>
          <a:blip r:embed="rId3"/>
          <a:stretch>
            <a:fillRect/>
          </a:stretch>
        </p:blipFill>
        <p:spPr>
          <a:xfrm>
            <a:off x="502920" y="5101800"/>
            <a:ext cx="4754880" cy="923520"/>
          </a:xfrm>
          <a:prstGeom prst="rect">
            <a:avLst/>
          </a:prstGeom>
        </p:spPr>
      </p:pic>
      <p:sp>
        <p:nvSpPr>
          <p:cNvPr id="10" name="so-1"/>
          <p:cNvSpPr txBox="1"/>
          <p:nvPr/>
        </p:nvSpPr>
        <p:spPr>
          <a:xfrm>
            <a:off x="572414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buoc-1"/>
          <p:cNvSpPr txBox="1"/>
          <p:nvPr/>
        </p:nvSpPr>
        <p:spPr>
          <a:xfrm>
            <a:off x="6190488" y="1280160"/>
            <a:ext cx="5513832" cy="506984"/>
          </a:xfrm>
          <a:prstGeom prst="rect">
            <a:avLst/>
          </a:prstGeom>
          <a:noFill/>
          <a:ln/>
        </p:spPr>
        <p:txBody>
          <a:bodyPr wrap="square" lIns="25400" tIns="0" rIns="0" bIns="0" rtlCol="0" anchor="t"/>
          <a:lstStyle/>
          <a:p>
            <a:pPr indent="0" marL="0">
              <a:buNone/>
            </a:pPr>
            <a:r>
              <a:rPr lang="en-US" sz="1400" b="1" dirty="0">
                <a:solidFill>
                  <a:schemeClr val="tx1"/>
                </a:solidFill>
              </a:rPr>
              <a:t>Cửa hàng:</a:t>
            </a:r>
            <a:pPr indent="0" marL="0">
              <a:buNone/>
            </a:pPr>
            <a:r>
              <a:rPr lang="en-US" sz="1400" dirty="0">
                <a:solidFill>
                  <a:schemeClr val="tx1"/>
                </a:solidFill>
              </a:rPr>
              <a:t> tên, địa chỉ, số điện thoại, lời chào cuối hóa đơn (in trên hóa đơn).</a:t>
            </a:r>
            <a:endParaRPr lang="en-US" sz="1400" dirty="0"/>
          </a:p>
        </p:txBody>
      </p:sp>
      <p:sp>
        <p:nvSpPr>
          <p:cNvPr id="12" name="so-2"/>
          <p:cNvSpPr txBox="1"/>
          <p:nvPr/>
        </p:nvSpPr>
        <p:spPr>
          <a:xfrm>
            <a:off x="5724144" y="19883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buoc-2"/>
          <p:cNvSpPr txBox="1"/>
          <p:nvPr/>
        </p:nvSpPr>
        <p:spPr>
          <a:xfrm>
            <a:off x="6190488" y="1970024"/>
            <a:ext cx="5513832" cy="506984"/>
          </a:xfrm>
          <a:prstGeom prst="rect">
            <a:avLst/>
          </a:prstGeom>
          <a:noFill/>
          <a:ln/>
        </p:spPr>
        <p:txBody>
          <a:bodyPr wrap="square" lIns="25400" tIns="0" rIns="0" bIns="0" rtlCol="0" anchor="t"/>
          <a:lstStyle/>
          <a:p>
            <a:pPr indent="0" marL="0">
              <a:buNone/>
            </a:pPr>
            <a:r>
              <a:rPr lang="en-US" sz="1400" b="1" dirty="0">
                <a:solidFill>
                  <a:schemeClr val="tx1"/>
                </a:solidFill>
              </a:rPr>
              <a:t>Chuyển khoản (VietQR):</a:t>
            </a:r>
            <a:pPr indent="0" marL="0">
              <a:buNone/>
            </a:pPr>
            <a:r>
              <a:rPr lang="en-US" sz="1400" dirty="0">
                <a:solidFill>
                  <a:schemeClr val="tx1"/>
                </a:solidFill>
              </a:rPr>
              <a:t> chọn ngân hàng, số tài khoản, tên chủ tài khoản (viết hoa không dấu như trên thẻ).</a:t>
            </a:r>
            <a:endParaRPr lang="en-US" sz="1400" dirty="0"/>
          </a:p>
        </p:txBody>
      </p:sp>
      <p:sp>
        <p:nvSpPr>
          <p:cNvPr id="14" name="so-3"/>
          <p:cNvSpPr txBox="1"/>
          <p:nvPr/>
        </p:nvSpPr>
        <p:spPr>
          <a:xfrm>
            <a:off x="5724144" y="267817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buoc-3"/>
          <p:cNvSpPr txBox="1"/>
          <p:nvPr/>
        </p:nvSpPr>
        <p:spPr>
          <a:xfrm>
            <a:off x="6190488" y="2659888"/>
            <a:ext cx="5513832" cy="329184"/>
          </a:xfrm>
          <a:prstGeom prst="rect">
            <a:avLst/>
          </a:prstGeom>
          <a:noFill/>
          <a:ln/>
        </p:spPr>
        <p:txBody>
          <a:bodyPr wrap="square" lIns="25400" tIns="0" rIns="0" bIns="0" rtlCol="0" anchor="t"/>
          <a:lstStyle/>
          <a:p>
            <a:pPr indent="0" marL="0">
              <a:buNone/>
            </a:pPr>
            <a:r>
              <a:rPr lang="en-US" sz="1400" b="1" dirty="0">
                <a:solidFill>
                  <a:schemeClr val="tx1"/>
                </a:solidFill>
              </a:rPr>
              <a:t>In hóa đơn:</a:t>
            </a:r>
            <a:pPr indent="0" marL="0">
              <a:buNone/>
            </a:pPr>
            <a:r>
              <a:rPr lang="en-US" sz="1400" dirty="0">
                <a:solidFill>
                  <a:schemeClr val="tx1"/>
                </a:solidFill>
              </a:rPr>
              <a:t> bật / tắt "Tự in sau khi thanh toán", bấm "In thử".</a:t>
            </a:r>
            <a:endParaRPr lang="en-US" sz="1400" dirty="0"/>
          </a:p>
        </p:txBody>
      </p:sp>
      <p:sp>
        <p:nvSpPr>
          <p:cNvPr id="16" name="so-4"/>
          <p:cNvSpPr txBox="1"/>
          <p:nvPr/>
        </p:nvSpPr>
        <p:spPr>
          <a:xfrm>
            <a:off x="5724144" y="319024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7" name="buoc-4"/>
          <p:cNvSpPr txBox="1"/>
          <p:nvPr/>
        </p:nvSpPr>
        <p:spPr>
          <a:xfrm>
            <a:off x="6190488" y="3171952"/>
            <a:ext cx="5513832" cy="506984"/>
          </a:xfrm>
          <a:prstGeom prst="rect">
            <a:avLst/>
          </a:prstGeom>
          <a:noFill/>
          <a:ln/>
        </p:spPr>
        <p:txBody>
          <a:bodyPr wrap="square" lIns="25400" tIns="0" rIns="0" bIns="0" rtlCol="0" anchor="t"/>
          <a:lstStyle/>
          <a:p>
            <a:pPr indent="0" marL="0">
              <a:buNone/>
            </a:pPr>
            <a:r>
              <a:rPr lang="en-US" sz="1400" b="1" dirty="0">
                <a:solidFill>
                  <a:schemeClr val="tx1"/>
                </a:solidFill>
              </a:rPr>
              <a:t>Bấm "Lưu"</a:t>
            </a:r>
            <a:pPr indent="0" marL="0">
              <a:buNone/>
            </a:pPr>
            <a:r>
              <a:rPr lang="en-US" sz="1400" dirty="0">
                <a:solidFill>
                  <a:schemeClr val="tx1"/>
                </a:solidFill>
              </a:rPr>
              <a:t> ở góc trên bên phải để lưu ba phần này và phần Tem mã vạch.</a:t>
            </a:r>
            <a:endParaRPr lang="en-US" sz="1400" dirty="0"/>
          </a:p>
        </p:txBody>
      </p:sp>
      <p:sp>
        <p:nvSpPr>
          <p:cNvPr id="18" name="meo"/>
          <p:cNvSpPr/>
          <p:nvPr/>
        </p:nvSpPr>
        <p:spPr>
          <a:xfrm>
            <a:off x="5715000" y="4572000"/>
            <a:ext cx="5989320" cy="658876"/>
          </a:xfrm>
          <a:prstGeom prst="roundRect">
            <a:avLst>
              <a:gd name="adj" fmla="val 11103"/>
            </a:avLst>
          </a:prstGeom>
          <a:solidFill>
            <a:schemeClr val="accent1">
              <a:alpha val="10000"/>
            </a:schemeClr>
          </a:solidFill>
          <a:ln w="9525">
            <a:solidFill>
              <a:schemeClr val="accent1">
                <a:alpha val="45000"/>
              </a:schemeClr>
            </a:solidFill>
            <a:prstDash val="solid"/>
          </a:ln>
        </p:spPr>
      </p:sp>
      <p:pic>
        <p:nvPicPr>
          <p:cNvPr id="19" name="Image 3" descr="Mẹo">    </p:cNvPr>
          <p:cNvPicPr>
            <a:picLocks noChangeAspect="1"/>
          </p:cNvPicPr>
          <p:nvPr/>
        </p:nvPicPr>
        <p:blipFill>
          <a:blip r:embed="rId4"/>
          <a:stretch>
            <a:fillRect/>
          </a:stretch>
        </p:blipFill>
        <p:spPr>
          <a:xfrm>
            <a:off x="5879592" y="4718304"/>
            <a:ext cx="274320" cy="274320"/>
          </a:xfrm>
          <a:prstGeom prst="rect">
            <a:avLst/>
          </a:prstGeom>
        </p:spPr>
      </p:pic>
      <p:sp>
        <p:nvSpPr>
          <p:cNvPr id="20" name="Text 14"/>
          <p:cNvSpPr txBox="1"/>
          <p:nvPr/>
        </p:nvSpPr>
        <p:spPr>
          <a:xfrm>
            <a:off x="6263640" y="4645152"/>
            <a:ext cx="5303520" cy="512572"/>
          </a:xfrm>
          <a:prstGeom prst="rect">
            <a:avLst/>
          </a:prstGeom>
          <a:noFill/>
          <a:ln/>
        </p:spPr>
        <p:txBody>
          <a:bodyPr wrap="square" lIns="0" tIns="0" rIns="0" bIns="0" rtlCol="0" anchor="ctr"/>
          <a:lstStyle/>
          <a:p>
            <a:pPr indent="0" marL="0">
              <a:buNone/>
            </a:pPr>
            <a:r>
              <a:rPr lang="en-US" sz="1300" dirty="0">
                <a:solidFill>
                  <a:schemeClr val="tx1"/>
                </a:solidFill>
              </a:rPr>
              <a:t>Kiểm tra mã QR bằng cách chuyển thử 1.000đ từ điện thoại của mình trước khi cho khách dùng.</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Giao diện trên máy này và tem mã vạch</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8 · Cài đặt</a:t>
            </a:r>
            <a:endParaRPr lang="en-US" sz="1200" dirty="0"/>
          </a:p>
        </p:txBody>
      </p:sp>
      <p:sp>
        <p:nvSpPr>
          <p:cNvPr id="4" name="set-1-khung"/>
          <p:cNvSpPr/>
          <p:nvPr/>
        </p:nvSpPr>
        <p:spPr>
          <a:xfrm>
            <a:off x="484632" y="1216152"/>
            <a:ext cx="5888736" cy="250185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set-1" descr="set-1">    </p:cNvPr>
          <p:cNvPicPr>
            <a:picLocks noChangeAspect="1"/>
          </p:cNvPicPr>
          <p:nvPr/>
        </p:nvPicPr>
        <p:blipFill>
          <a:blip r:embed="rId1"/>
          <a:stretch>
            <a:fillRect/>
          </a:stretch>
        </p:blipFill>
        <p:spPr>
          <a:xfrm>
            <a:off x="502920" y="1234440"/>
            <a:ext cx="5852160" cy="2465280"/>
          </a:xfrm>
          <a:prstGeom prst="rect">
            <a:avLst/>
          </a:prstGeom>
        </p:spPr>
      </p:pic>
      <p:sp>
        <p:nvSpPr>
          <p:cNvPr id="6" name="set-5-khung"/>
          <p:cNvSpPr/>
          <p:nvPr/>
        </p:nvSpPr>
        <p:spPr>
          <a:xfrm>
            <a:off x="484632" y="3955752"/>
            <a:ext cx="5888736" cy="167241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7" name="set-5" descr="set-5">    </p:cNvPr>
          <p:cNvPicPr>
            <a:picLocks noChangeAspect="1"/>
          </p:cNvPicPr>
          <p:nvPr/>
        </p:nvPicPr>
        <p:blipFill>
          <a:blip r:embed="rId2"/>
          <a:stretch>
            <a:fillRect/>
          </a:stretch>
        </p:blipFill>
        <p:spPr>
          <a:xfrm>
            <a:off x="502920" y="3974040"/>
            <a:ext cx="5852160" cy="1635840"/>
          </a:xfrm>
          <a:prstGeom prst="rect">
            <a:avLst/>
          </a:prstGeom>
        </p:spPr>
      </p:pic>
      <p:sp>
        <p:nvSpPr>
          <p:cNvPr id="8" name="so-1"/>
          <p:cNvSpPr txBox="1"/>
          <p:nvPr/>
        </p:nvSpPr>
        <p:spPr>
          <a:xfrm>
            <a:off x="682142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buoc-1"/>
          <p:cNvSpPr txBox="1"/>
          <p:nvPr/>
        </p:nvSpPr>
        <p:spPr>
          <a:xfrm>
            <a:off x="7287768" y="1280160"/>
            <a:ext cx="4416552" cy="723900"/>
          </a:xfrm>
          <a:prstGeom prst="rect">
            <a:avLst/>
          </a:prstGeom>
          <a:noFill/>
          <a:ln/>
        </p:spPr>
        <p:txBody>
          <a:bodyPr wrap="square" lIns="25400" tIns="0" rIns="0" bIns="0" rtlCol="0" anchor="t"/>
          <a:lstStyle/>
          <a:p>
            <a:pPr indent="0" marL="0">
              <a:buNone/>
            </a:pPr>
            <a:r>
              <a:rPr lang="en-US" sz="1400" b="1" dirty="0">
                <a:solidFill>
                  <a:schemeClr val="tx1"/>
                </a:solidFill>
              </a:rPr>
              <a:t>Giao diện (trên máy này):</a:t>
            </a:r>
            <a:pPr indent="0" marL="0">
              <a:buNone/>
            </a:pPr>
            <a:r>
              <a:rPr lang="en-US" sz="1400" dirty="0">
                <a:solidFill>
                  <a:schemeClr val="tx1"/>
                </a:solidFill>
              </a:rPr>
              <a:t> chế độ sáng / tối, màu nhấn, cỡ chữ (Nhỏ → Rất lớn), mật độ, bo góc. Có hiệu lực ngay, không cần bấm Lưu.</a:t>
            </a:r>
            <a:endParaRPr lang="en-US" sz="1400" dirty="0"/>
          </a:p>
        </p:txBody>
      </p:sp>
      <p:sp>
        <p:nvSpPr>
          <p:cNvPr id="10" name="so-2"/>
          <p:cNvSpPr txBox="1"/>
          <p:nvPr/>
        </p:nvSpPr>
        <p:spPr>
          <a:xfrm>
            <a:off x="6821424" y="220522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buoc-2"/>
          <p:cNvSpPr txBox="1"/>
          <p:nvPr/>
        </p:nvSpPr>
        <p:spPr>
          <a:xfrm>
            <a:off x="7287768" y="2186940"/>
            <a:ext cx="4416552" cy="329184"/>
          </a:xfrm>
          <a:prstGeom prst="rect">
            <a:avLst/>
          </a:prstGeom>
          <a:noFill/>
          <a:ln/>
        </p:spPr>
        <p:txBody>
          <a:bodyPr wrap="square" lIns="25400" tIns="0" rIns="0" bIns="0" rtlCol="0" anchor="t"/>
          <a:lstStyle/>
          <a:p>
            <a:pPr indent="0" marL="0">
              <a:buNone/>
            </a:pPr>
            <a:r>
              <a:rPr lang="en-US" sz="1400" b="1" dirty="0">
                <a:solidFill>
                  <a:schemeClr val="tx1"/>
                </a:solidFill>
              </a:rPr>
              <a:t>Mắt kém:</a:t>
            </a:r>
            <a:pPr indent="0" marL="0">
              <a:buNone/>
            </a:pPr>
            <a:r>
              <a:rPr lang="en-US" sz="1400" dirty="0">
                <a:solidFill>
                  <a:schemeClr val="tx1"/>
                </a:solidFill>
              </a:rPr>
              <a:t> chọn cỡ chữ Lớn hoặc Rất lớn.</a:t>
            </a:r>
            <a:endParaRPr lang="en-US" sz="1400" dirty="0"/>
          </a:p>
        </p:txBody>
      </p:sp>
      <p:sp>
        <p:nvSpPr>
          <p:cNvPr id="12" name="so-3"/>
          <p:cNvSpPr txBox="1"/>
          <p:nvPr/>
        </p:nvSpPr>
        <p:spPr>
          <a:xfrm>
            <a:off x="6821424" y="271729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buoc-3"/>
          <p:cNvSpPr txBox="1"/>
          <p:nvPr/>
        </p:nvSpPr>
        <p:spPr>
          <a:xfrm>
            <a:off x="7287768" y="2699004"/>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"Mở phần mềm vào thẳng cửa sổ quầy":</a:t>
            </a:r>
            <a:pPr indent="0" marL="0">
              <a:buNone/>
            </a:pPr>
            <a:r>
              <a:rPr lang="en-US" sz="1400" dirty="0">
                <a:solidFill>
                  <a:schemeClr val="tx1"/>
                </a:solidFill>
              </a:rPr>
              <a:t> bật máy là vào màn bán hàng không menu.</a:t>
            </a:r>
            <a:endParaRPr lang="en-US" sz="1400" dirty="0"/>
          </a:p>
        </p:txBody>
      </p:sp>
      <p:sp>
        <p:nvSpPr>
          <p:cNvPr id="14" name="so-4"/>
          <p:cNvSpPr txBox="1"/>
          <p:nvPr/>
        </p:nvSpPr>
        <p:spPr>
          <a:xfrm>
            <a:off x="6821424" y="340715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buoc-4"/>
          <p:cNvSpPr txBox="1"/>
          <p:nvPr/>
        </p:nvSpPr>
        <p:spPr>
          <a:xfrm>
            <a:off x="7287768" y="3388868"/>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Tem mã vạch:</a:t>
            </a:r>
            <a:pPr indent="0" marL="0">
              <a:buNone/>
            </a:pPr>
            <a:r>
              <a:rPr lang="en-US" sz="1400" dirty="0">
                <a:solidFill>
                  <a:schemeClr val="tx1"/>
                </a:solidFill>
              </a:rPr>
              <a:t> chọn khổ tem (40×30, 50×30, 35×22 hai tem / hàng), có in giá hay không, "In thử 1 tem".</a:t>
            </a:r>
            <a:endParaRPr lang="en-US" sz="1400" dirty="0"/>
          </a:p>
        </p:txBody>
      </p:sp>
      <p:sp>
        <p:nvSpPr>
          <p:cNvPr id="16" name="meo"/>
          <p:cNvSpPr/>
          <p:nvPr/>
        </p:nvSpPr>
        <p:spPr>
          <a:xfrm>
            <a:off x="6812280" y="5120640"/>
            <a:ext cx="4892040" cy="658876"/>
          </a:xfrm>
          <a:prstGeom prst="roundRect">
            <a:avLst>
              <a:gd name="adj" fmla="val 11103"/>
            </a:avLst>
          </a:prstGeom>
          <a:solidFill>
            <a:schemeClr val="accent1">
              <a:alpha val="10000"/>
            </a:schemeClr>
          </a:solidFill>
          <a:ln w="9525">
            <a:solidFill>
              <a:schemeClr val="accent1">
                <a:alpha val="45000"/>
              </a:schemeClr>
            </a:solidFill>
            <a:prstDash val="solid"/>
          </a:ln>
        </p:spPr>
      </p:sp>
      <p:pic>
        <p:nvPicPr>
          <p:cNvPr id="17" name="Image 2" descr="Mẹo">    </p:cNvPr>
          <p:cNvPicPr>
            <a:picLocks noChangeAspect="1"/>
          </p:cNvPicPr>
          <p:nvPr/>
        </p:nvPicPr>
        <p:blipFill>
          <a:blip r:embed="rId3"/>
          <a:stretch>
            <a:fillRect/>
          </a:stretch>
        </p:blipFill>
        <p:spPr>
          <a:xfrm>
            <a:off x="6976872" y="5266944"/>
            <a:ext cx="274320" cy="274320"/>
          </a:xfrm>
          <a:prstGeom prst="rect">
            <a:avLst/>
          </a:prstGeom>
        </p:spPr>
      </p:pic>
      <p:sp>
        <p:nvSpPr>
          <p:cNvPr id="18" name="Text 13"/>
          <p:cNvSpPr txBox="1"/>
          <p:nvPr/>
        </p:nvSpPr>
        <p:spPr>
          <a:xfrm>
            <a:off x="7360920" y="5193792"/>
            <a:ext cx="4206240" cy="512572"/>
          </a:xfrm>
          <a:prstGeom prst="rect">
            <a:avLst/>
          </a:prstGeom>
          <a:noFill/>
          <a:ln/>
        </p:spPr>
        <p:txBody>
          <a:bodyPr wrap="square" lIns="0" tIns="0" rIns="0" bIns="0" rtlCol="0" anchor="ctr"/>
          <a:lstStyle/>
          <a:p>
            <a:pPr indent="0" marL="0">
              <a:buNone/>
            </a:pPr>
            <a:r>
              <a:rPr lang="en-US" sz="1300" dirty="0">
                <a:solidFill>
                  <a:schemeClr val="tx1"/>
                </a:solidFill>
              </a:rPr>
              <a:t>Giao diện chỉ áp dụng cho máy / điện thoại đang mở. Mỗi máy chỉnh riêng được.</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Sao lưu và khôi phục dữ liệu</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8 · Cài đặt</a:t>
            </a:r>
            <a:endParaRPr lang="en-US" sz="1200" dirty="0"/>
          </a:p>
        </p:txBody>
      </p:sp>
      <p:sp>
        <p:nvSpPr>
          <p:cNvPr id="4" name="set-6-khung"/>
          <p:cNvSpPr/>
          <p:nvPr/>
        </p:nvSpPr>
        <p:spPr>
          <a:xfrm>
            <a:off x="484632" y="1216152"/>
            <a:ext cx="5980176" cy="275877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set-6" descr="set-6">    </p:cNvPr>
          <p:cNvPicPr>
            <a:picLocks noChangeAspect="1"/>
          </p:cNvPicPr>
          <p:nvPr/>
        </p:nvPicPr>
        <p:blipFill>
          <a:blip r:embed="rId1"/>
          <a:stretch>
            <a:fillRect/>
          </a:stretch>
        </p:blipFill>
        <p:spPr>
          <a:xfrm>
            <a:off x="502920" y="1234440"/>
            <a:ext cx="5943600" cy="2722200"/>
          </a:xfrm>
          <a:prstGeom prst="rect">
            <a:avLst/>
          </a:prstGeom>
        </p:spPr>
      </p:pic>
      <p:sp>
        <p:nvSpPr>
          <p:cNvPr id="6" name="so-1"/>
          <p:cNvSpPr txBox="1"/>
          <p:nvPr/>
        </p:nvSpPr>
        <p:spPr>
          <a:xfrm>
            <a:off x="6821424" y="1298448"/>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buoc-1"/>
          <p:cNvSpPr txBox="1"/>
          <p:nvPr/>
        </p:nvSpPr>
        <p:spPr>
          <a:xfrm>
            <a:off x="7287768" y="1280160"/>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Tự sao lưu</a:t>
            </a:r>
            <a:pPr indent="0" marL="0">
              <a:buNone/>
            </a:pPr>
            <a:r>
              <a:rPr lang="en-US" sz="1400" dirty="0">
                <a:solidFill>
                  <a:schemeClr val="tx1"/>
                </a:solidFill>
              </a:rPr>
              <a:t> mỗi lần mở phần mềm và mỗi ngày một lần; giữ 30 bản gần nhất.</a:t>
            </a:r>
            <a:endParaRPr lang="en-US" sz="1400" dirty="0"/>
          </a:p>
        </p:txBody>
      </p:sp>
      <p:sp>
        <p:nvSpPr>
          <p:cNvPr id="8" name="so-2"/>
          <p:cNvSpPr txBox="1"/>
          <p:nvPr/>
        </p:nvSpPr>
        <p:spPr>
          <a:xfrm>
            <a:off x="6821424" y="198831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buoc-2"/>
          <p:cNvSpPr txBox="1"/>
          <p:nvPr/>
        </p:nvSpPr>
        <p:spPr>
          <a:xfrm>
            <a:off x="7287768" y="1970024"/>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"Sao lưu ngay"</a:t>
            </a:r>
            <a:pPr indent="0" marL="0">
              <a:buNone/>
            </a:pPr>
            <a:r>
              <a:rPr lang="en-US" sz="1400" dirty="0">
                <a:solidFill>
                  <a:schemeClr val="tx1"/>
                </a:solidFill>
              </a:rPr>
              <a:t> trước khi làm việc lớn (nhập Excel, cập nhật phần mềm).</a:t>
            </a:r>
            <a:endParaRPr lang="en-US" sz="1400" dirty="0"/>
          </a:p>
        </p:txBody>
      </p:sp>
      <p:sp>
        <p:nvSpPr>
          <p:cNvPr id="10" name="so-3"/>
          <p:cNvSpPr txBox="1"/>
          <p:nvPr/>
        </p:nvSpPr>
        <p:spPr>
          <a:xfrm>
            <a:off x="6821424" y="267817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buoc-3"/>
          <p:cNvSpPr txBox="1"/>
          <p:nvPr/>
        </p:nvSpPr>
        <p:spPr>
          <a:xfrm>
            <a:off x="7287768" y="2659888"/>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"Thư mục chép thêm":</a:t>
            </a:r>
            <a:pPr indent="0" marL="0">
              <a:buNone/>
            </a:pPr>
            <a:r>
              <a:rPr lang="en-US" sz="1400" dirty="0">
                <a:solidFill>
                  <a:schemeClr val="tx1"/>
                </a:solidFill>
              </a:rPr>
              <a:t> chọn USB hoặc thư mục OneDrive / Google Drive. Máy hỏng vẫn còn dữ liệu.</a:t>
            </a:r>
            <a:endParaRPr lang="en-US" sz="1400" dirty="0"/>
          </a:p>
        </p:txBody>
      </p:sp>
      <p:sp>
        <p:nvSpPr>
          <p:cNvPr id="12" name="so-4"/>
          <p:cNvSpPr txBox="1"/>
          <p:nvPr/>
        </p:nvSpPr>
        <p:spPr>
          <a:xfrm>
            <a:off x="6821424" y="336804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3" name="buoc-4"/>
          <p:cNvSpPr txBox="1"/>
          <p:nvPr/>
        </p:nvSpPr>
        <p:spPr>
          <a:xfrm>
            <a:off x="7287768" y="3349752"/>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Khôi phục:</a:t>
            </a:r>
            <a:pPr indent="0" marL="0">
              <a:buNone/>
            </a:pPr>
            <a:r>
              <a:rPr lang="en-US" sz="1400" dirty="0">
                <a:solidFill>
                  <a:schemeClr val="tx1"/>
                </a:solidFill>
              </a:rPr>
              <a:t> nút ⋯ trên một bản → "Khôi phục". Dữ liệu hiện tại được tự lưu thành bản "Trước khôi phục".</a:t>
            </a:r>
            <a:endParaRPr lang="en-US" sz="1400" dirty="0"/>
          </a:p>
        </p:txBody>
      </p:sp>
      <p:sp>
        <p:nvSpPr>
          <p:cNvPr id="14" name="so-5"/>
          <p:cNvSpPr txBox="1"/>
          <p:nvPr/>
        </p:nvSpPr>
        <p:spPr>
          <a:xfrm>
            <a:off x="6821424" y="405790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5" name="buoc-5"/>
          <p:cNvSpPr txBox="1"/>
          <p:nvPr/>
        </p:nvSpPr>
        <p:spPr>
          <a:xfrm>
            <a:off x="7287768" y="4039616"/>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Chuyển sang máy mới:</a:t>
            </a:r>
            <a:pPr indent="0" marL="0">
              <a:buNone/>
            </a:pPr>
            <a:r>
              <a:rPr lang="en-US" sz="1400" dirty="0">
                <a:solidFill>
                  <a:schemeClr val="tx1"/>
                </a:solidFill>
              </a:rPr>
              <a:t> "Khôi phục từ file…" chọn file .db chép từ máy cũ.</a:t>
            </a:r>
            <a:endParaRPr lang="en-US" sz="1400" dirty="0"/>
          </a:p>
        </p:txBody>
      </p:sp>
      <p:sp>
        <p:nvSpPr>
          <p:cNvPr id="16" name="luu-y"/>
          <p:cNvSpPr/>
          <p:nvPr/>
        </p:nvSpPr>
        <p:spPr>
          <a:xfrm>
            <a:off x="6812280" y="4820920"/>
            <a:ext cx="4892040" cy="658876"/>
          </a:xfrm>
          <a:prstGeom prst="roundRect">
            <a:avLst>
              <a:gd name="adj" fmla="val 11103"/>
            </a:avLst>
          </a:prstGeom>
          <a:solidFill>
            <a:schemeClr val="accent2">
              <a:alpha val="10000"/>
            </a:schemeClr>
          </a:solidFill>
          <a:ln w="9525">
            <a:solidFill>
              <a:schemeClr val="accent2">
                <a:alpha val="45000"/>
              </a:schemeClr>
            </a:solidFill>
            <a:prstDash val="solid"/>
          </a:ln>
        </p:spPr>
      </p:sp>
      <p:pic>
        <p:nvPicPr>
          <p:cNvPr id="17" name="Image 1" descr="Lưu ý">    </p:cNvPr>
          <p:cNvPicPr>
            <a:picLocks noChangeAspect="1"/>
          </p:cNvPicPr>
          <p:nvPr/>
        </p:nvPicPr>
        <p:blipFill>
          <a:blip r:embed="rId2"/>
          <a:stretch>
            <a:fillRect/>
          </a:stretch>
        </p:blipFill>
        <p:spPr>
          <a:xfrm>
            <a:off x="6976872" y="4967224"/>
            <a:ext cx="274320" cy="274320"/>
          </a:xfrm>
          <a:prstGeom prst="rect">
            <a:avLst/>
          </a:prstGeom>
        </p:spPr>
      </p:pic>
      <p:sp>
        <p:nvSpPr>
          <p:cNvPr id="18" name="Text 14"/>
          <p:cNvSpPr txBox="1"/>
          <p:nvPr/>
        </p:nvSpPr>
        <p:spPr>
          <a:xfrm>
            <a:off x="7360920" y="4894072"/>
            <a:ext cx="4206240" cy="512572"/>
          </a:xfrm>
          <a:prstGeom prst="rect">
            <a:avLst/>
          </a:prstGeom>
          <a:noFill/>
          <a:ln/>
        </p:spPr>
        <p:txBody>
          <a:bodyPr wrap="square" lIns="0" tIns="0" rIns="0" bIns="0" rtlCol="0" anchor="ctr"/>
          <a:lstStyle/>
          <a:p>
            <a:pPr indent="0" marL="0">
              <a:buNone/>
            </a:pPr>
            <a:r>
              <a:rPr lang="en-US" sz="1300" dirty="0">
                <a:solidFill>
                  <a:schemeClr val="tx1"/>
                </a:solidFill>
              </a:rPr>
              <a:t>Ảnh sản phẩm không nằm trong file .db. Chuyển máy thì chép thêm thư mục data\images.</a:t>
            </a:r>
            <a:endParaRPr lang="en-US" sz="13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Xem từ xa (không bắt buộc)</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8 · Cài đặt</a:t>
            </a:r>
            <a:endParaRPr lang="en-US" sz="1200" dirty="0"/>
          </a:p>
        </p:txBody>
      </p:sp>
      <p:sp>
        <p:nvSpPr>
          <p:cNvPr id="4" name="set-7-khung"/>
          <p:cNvSpPr/>
          <p:nvPr/>
        </p:nvSpPr>
        <p:spPr>
          <a:xfrm>
            <a:off x="484632" y="1216152"/>
            <a:ext cx="5980176" cy="3324276"/>
          </a:xfrm>
          <a:prstGeom prst="rect">
            <a:avLst/>
          </a:prstGeom>
          <a:solidFill>
            <a:schemeClr val="bg1"/>
          </a:solidFill>
          <a:ln w="9525">
            <a:solidFill>
              <a:schemeClr val="accent5"/>
            </a:solidFill>
            <a:prstDash val="solid"/>
          </a:ln>
          <a:effectLst>
            <a:outerShdw sx="100000" sy="100000" kx="0" ky="0" algn="bl" rotWithShape="0" blurRad="127000" dist="38100" dir="5400000">
              <a:srgbClr val="000000">
                <a:alpha val="16000"/>
              </a:srgbClr>
            </a:outerShdw>
          </a:effectLst>
        </p:spPr>
      </p:sp>
      <p:pic>
        <p:nvPicPr>
          <p:cNvPr id="5" name="set-7" descr="set-7">    </p:cNvPr>
          <p:cNvPicPr>
            <a:picLocks noChangeAspect="1"/>
          </p:cNvPicPr>
          <p:nvPr/>
        </p:nvPicPr>
        <p:blipFill>
          <a:blip r:embed="rId1"/>
          <a:stretch>
            <a:fillRect/>
          </a:stretch>
        </p:blipFill>
        <p:spPr>
          <a:xfrm>
            <a:off x="502920" y="1234440"/>
            <a:ext cx="5943600" cy="3287700"/>
          </a:xfrm>
          <a:prstGeom prst="rect">
            <a:avLst/>
          </a:prstGeom>
        </p:spPr>
      </p:pic>
      <p:sp>
        <p:nvSpPr>
          <p:cNvPr id="6" name="Text 3"/>
          <p:cNvSpPr txBox="1"/>
          <p:nvPr/>
        </p:nvSpPr>
        <p:spPr>
          <a:xfrm>
            <a:off x="6812280" y="1280160"/>
            <a:ext cx="4892040" cy="506984"/>
          </a:xfrm>
          <a:prstGeom prst="rect">
            <a:avLst/>
          </a:prstGeom>
          <a:noFill/>
          <a:ln/>
        </p:spPr>
        <p:txBody>
          <a:bodyPr wrap="square" lIns="0" tIns="0" rIns="0" bIns="0" rtlCol="0" anchor="ctr"/>
          <a:lstStyle/>
          <a:p>
            <a:pPr indent="0" marL="0">
              <a:buNone/>
            </a:pPr>
            <a:r>
              <a:rPr lang="en-US" sz="1400" i="1" dirty="0">
                <a:solidFill>
                  <a:schemeClr val="accent6"/>
                </a:solidFill>
              </a:rPr>
              <a:t>Chủ tiệm ra ngoài vẫn xem được Tổng quan trên điện thoại qua Internet. Chỉ xem, không bán hay sửa được gì.</a:t>
            </a:r>
            <a:endParaRPr lang="en-US" sz="1400" dirty="0"/>
          </a:p>
        </p:txBody>
      </p:sp>
      <p:sp>
        <p:nvSpPr>
          <p:cNvPr id="7" name="so-1"/>
          <p:cNvSpPr txBox="1"/>
          <p:nvPr/>
        </p:nvSpPr>
        <p:spPr>
          <a:xfrm>
            <a:off x="6821424" y="1942592"/>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buoc-1"/>
          <p:cNvSpPr txBox="1"/>
          <p:nvPr/>
        </p:nvSpPr>
        <p:spPr>
          <a:xfrm>
            <a:off x="7287768" y="1924304"/>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Người cài đặt</a:t>
            </a:r>
            <a:pPr indent="0" marL="0">
              <a:buNone/>
            </a:pPr>
            <a:r>
              <a:rPr lang="en-US" sz="1400" dirty="0">
                <a:solidFill>
                  <a:schemeClr val="tx1"/>
                </a:solidFill>
              </a:rPr>
              <a:t> tạo project Firebase của tiệm và chép file khóa vào máy quầy (một lần).</a:t>
            </a:r>
            <a:endParaRPr lang="en-US" sz="1400" dirty="0"/>
          </a:p>
        </p:txBody>
      </p:sp>
      <p:sp>
        <p:nvSpPr>
          <p:cNvPr id="9" name="so-2"/>
          <p:cNvSpPr txBox="1"/>
          <p:nvPr/>
        </p:nvSpPr>
        <p:spPr>
          <a:xfrm>
            <a:off x="6821424" y="2632456"/>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buoc-2"/>
          <p:cNvSpPr txBox="1"/>
          <p:nvPr/>
        </p:nvSpPr>
        <p:spPr>
          <a:xfrm>
            <a:off x="7287768" y="2614168"/>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Cài đặt → Xem từ xa:</a:t>
            </a:r>
            <a:pPr indent="0" marL="0">
              <a:buNone/>
            </a:pPr>
            <a:r>
              <a:rPr lang="en-US" sz="1400" dirty="0">
                <a:solidFill>
                  <a:schemeClr val="tx1"/>
                </a:solidFill>
              </a:rPr>
              <a:t> thêm email Google của chủ tiệm (tối đa 5), bật công tắc, bấm "Gửi ngay".</a:t>
            </a:r>
            <a:endParaRPr lang="en-US" sz="1400" dirty="0"/>
          </a:p>
        </p:txBody>
      </p:sp>
      <p:sp>
        <p:nvSpPr>
          <p:cNvPr id="11" name="so-3"/>
          <p:cNvSpPr txBox="1"/>
          <p:nvPr/>
        </p:nvSpPr>
        <p:spPr>
          <a:xfrm>
            <a:off x="6821424" y="3322320"/>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buoc-3"/>
          <p:cNvSpPr txBox="1"/>
          <p:nvPr/>
        </p:nvSpPr>
        <p:spPr>
          <a:xfrm>
            <a:off x="7287768" y="3304032"/>
            <a:ext cx="4416552" cy="506984"/>
          </a:xfrm>
          <a:prstGeom prst="rect">
            <a:avLst/>
          </a:prstGeom>
          <a:noFill/>
          <a:ln/>
        </p:spPr>
        <p:txBody>
          <a:bodyPr wrap="square" lIns="25400" tIns="0" rIns="0" bIns="0" rtlCol="0" anchor="t"/>
          <a:lstStyle/>
          <a:p>
            <a:pPr indent="0" marL="0">
              <a:buNone/>
            </a:pPr>
            <a:r>
              <a:rPr lang="en-US" sz="1400" b="1" dirty="0">
                <a:solidFill>
                  <a:schemeClr val="tx1"/>
                </a:solidFill>
              </a:rPr>
              <a:t>Chủ tiệm quét mã QR</a:t>
            </a:r>
            <a:pPr indent="0" marL="0">
              <a:buNone/>
            </a:pPr>
            <a:r>
              <a:rPr lang="en-US" sz="1400" dirty="0">
                <a:solidFill>
                  <a:schemeClr val="tx1"/>
                </a:solidFill>
              </a:rPr>
              <a:t> trên thẻ, đăng nhập Google, "Thêm vào màn hình chính".</a:t>
            </a:r>
            <a:endParaRPr lang="en-US" sz="1400" dirty="0"/>
          </a:p>
        </p:txBody>
      </p:sp>
      <p:sp>
        <p:nvSpPr>
          <p:cNvPr id="13" name="so-4"/>
          <p:cNvSpPr txBox="1"/>
          <p:nvPr/>
        </p:nvSpPr>
        <p:spPr>
          <a:xfrm>
            <a:off x="6821424" y="4012184"/>
            <a:ext cx="310896" cy="310896"/>
          </a:xfrm>
          <a:prstGeom prst="ellipse">
            <a:avLst/>
          </a:prstGeom>
          <a:solidFill>
            <a:schemeClr val="accent2"/>
          </a:solidFill>
          <a:ln w="19050">
            <a:solidFill>
              <a:schemeClr val="bg1"/>
            </a:solidFill>
          </a:ln>
          <a:effectLst>
            <a:outerShdw sx="100000" sy="100000" kx="0" ky="0" algn="bl" rotWithShape="0" blurRad="50800" dist="12700" dir="5400000">
              <a:srgbClr val="000000">
                <a:alpha val="30000"/>
              </a:srgbClr>
            </a:outerShdw>
          </a:effectLst>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4" name="buoc-4"/>
          <p:cNvSpPr txBox="1"/>
          <p:nvPr/>
        </p:nvSpPr>
        <p:spPr>
          <a:xfrm>
            <a:off x="7287768" y="3993896"/>
            <a:ext cx="4416552" cy="329184"/>
          </a:xfrm>
          <a:prstGeom prst="rect">
            <a:avLst/>
          </a:prstGeom>
          <a:noFill/>
          <a:ln/>
        </p:spPr>
        <p:txBody>
          <a:bodyPr wrap="square" lIns="25400" tIns="0" rIns="0" bIns="0" rtlCol="0" anchor="t"/>
          <a:lstStyle/>
          <a:p>
            <a:pPr indent="0" marL="0">
              <a:buNone/>
            </a:pPr>
            <a:r>
              <a:rPr lang="en-US" sz="1400" b="1" dirty="0">
                <a:solidFill>
                  <a:schemeClr val="tx1"/>
                </a:solidFill>
              </a:rPr>
              <a:t>Tắt công tắc</a:t>
            </a:r>
            <a:pPr indent="0" marL="0">
              <a:buNone/>
            </a:pPr>
            <a:r>
              <a:rPr lang="en-US" sz="1400" dirty="0">
                <a:solidFill>
                  <a:schemeClr val="tx1"/>
                </a:solidFill>
              </a:rPr>
              <a:t> là dữ liệu trên mạng bị xóa ngay.</a:t>
            </a:r>
            <a:endParaRPr lang="en-US" sz="1400" dirty="0"/>
          </a:p>
        </p:txBody>
      </p:sp>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title" hasCustomPrompt="1"/>
          </p:nvPr>
        </p:nvSpPr>
        <p:spPr>
          <a:xfrm>
            <a:off x="502920" y="292608"/>
            <a:ext cx="9509760" cy="731520"/>
          </a:xfrm>
          <a:prstGeom prst="rect">
            <a:avLst/>
          </a:prstGeom>
          <a:noFill/>
          <a:ln/>
        </p:spPr>
        <p:txBody>
          <a:bodyPr wrap="square" lIns="0" tIns="0" rIns="0" bIns="0" rtlCol="0" anchor="ctr"/>
          <a:lstStyle/>
          <a:p>
            <a:pPr algn="l" indent="0" marL="0">
              <a:buNone/>
            </a:pPr>
            <a:r>
              <a:rPr lang="en-US" sz="3000" b="1" dirty="0">
                <a:solidFill>
                  <a:schemeClr val="tx2"/>
                </a:solidFill>
              </a:rPr>
              <a:t>Khi gặp sự cố</a:t>
            </a:r>
            <a:endParaRPr lang="en-US" sz="3000" dirty="0"/>
          </a:p>
        </p:txBody>
      </p:sp>
      <p:sp>
        <p:nvSpPr>
          <p:cNvPr id="3" name="nhan-phan"/>
          <p:cNvSpPr txBox="1"/>
          <p:nvPr/>
        </p:nvSpPr>
        <p:spPr>
          <a:xfrm>
            <a:off x="10012680" y="438912"/>
            <a:ext cx="1691640" cy="384048"/>
          </a:xfrm>
          <a:prstGeom prst="roundRect">
            <a:avLst>
              <a:gd name="adj" fmla="val 50000"/>
            </a:avLst>
          </a:prstGeom>
          <a:solidFill>
            <a:schemeClr val="bg2"/>
          </a:solidFill>
          <a:ln>
            <a:solidFill>
              <a:schemeClr val="bg2"/>
            </a:solidFill>
          </a:ln>
        </p:spPr>
        <p:txBody>
          <a:bodyPr wrap="square" lIns="0" tIns="0" rIns="0" bIns="0" rtlCol="0" anchor="ctr"/>
          <a:lstStyle/>
          <a:p>
            <a:pPr algn="ctr" indent="0" marL="0">
              <a:buNone/>
            </a:pPr>
            <a:r>
              <a:rPr lang="en-US" sz="1200" b="1" dirty="0">
                <a:solidFill>
                  <a:schemeClr val="tx2"/>
                </a:solidFill>
              </a:rPr>
              <a:t>8 · Cài đặt</a:t>
            </a:r>
            <a:endParaRPr lang="en-US" sz="1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201400" cy="914400"/>
        </p:xfrm>
        <a:graphic>
          <a:graphicData uri="http://schemas.openxmlformats.org/drawingml/2006/table">
            <a:tbl>
              <a:tblPr/>
              <a:tblGrid>
                <a:gridCol w="3840480"/>
                <a:gridCol w="7360920"/>
              </a:tblGrid>
              <a:tr h="475488">
                <a:tc>
                  <a:txBody>
                    <a:bodyPr/>
                    <a:lstStyle/>
                    <a:p>
                      <a:pPr indent="0" marL="0">
                        <a:buNone/>
                      </a:pPr>
                      <a:r>
                        <a:rPr lang="en-US" sz="1400" b="1" dirty="0">
                          <a:solidFill>
                            <a:schemeClr val="bg1"/>
                          </a:solidFill>
                        </a:rPr>
                        <a:t>Hiện tượng</a:t>
                      </a:r>
                      <a:endParaRPr lang="en-US" sz="140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Cách xử lý</a:t>
                      </a:r>
                      <a:endParaRPr lang="en-US" sz="140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tx2"/>
                    </a:solidFill>
                  </a:tcPr>
                </a:tc>
              </a:tr>
              <a:tr h="475488">
                <a:tc>
                  <a:txBody>
                    <a:bodyPr/>
                    <a:lstStyle/>
                    <a:p>
                      <a:pPr indent="0" marL="0">
                        <a:buNone/>
                      </a:pPr>
                      <a:r>
                        <a:rPr lang="en-US" sz="1350" b="1" dirty="0">
                          <a:solidFill>
                            <a:schemeClr val="tx1"/>
                          </a:solidFill>
                        </a:rPr>
                        <a:t>Quét mã mà hàng không vào giỏ</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Bấm F2 (hoặc bấm vào ô quét) rồi quét lại. Kiểm tra dây máy quét.</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r>
              <a:tr h="475488">
                <a:tc>
                  <a:txBody>
                    <a:bodyPr/>
                    <a:lstStyle/>
                    <a:p>
                      <a:pPr indent="0" marL="0">
                        <a:buNone/>
                      </a:pPr>
                      <a:r>
                        <a:rPr lang="en-US" sz="1350" b="1" dirty="0">
                          <a:solidFill>
                            <a:schemeClr val="tx1"/>
                          </a:solidFill>
                        </a:rPr>
                        <a:t>Báo "Không có mã …"</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Bán tạm bằng Món ngoài (F4). Sau đó thêm sản phẩm bằng Nhập nhanh.</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r>
              <a:tr h="475488">
                <a:tc>
                  <a:txBody>
                    <a:bodyPr/>
                    <a:lstStyle/>
                    <a:p>
                      <a:pPr indent="0" marL="0">
                        <a:buNone/>
                      </a:pPr>
                      <a:r>
                        <a:rPr lang="en-US" sz="1350" b="1" dirty="0">
                          <a:solidFill>
                            <a:schemeClr val="tx1"/>
                          </a:solidFill>
                        </a:rPr>
                        <a:t>Hóa đơn không in</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Máy in bật chưa, còn giấy không. Bấm "In lại". Cài đặt → In hóa đơn → "In thử".</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r>
              <a:tr h="475488">
                <a:tc>
                  <a:txBody>
                    <a:bodyPr/>
                    <a:lstStyle/>
                    <a:p>
                      <a:pPr indent="0" marL="0">
                        <a:buNone/>
                      </a:pPr>
                      <a:r>
                        <a:rPr lang="en-US" sz="1350" b="1" dirty="0">
                          <a:solidFill>
                            <a:schemeClr val="tx1"/>
                          </a:solidFill>
                        </a:rPr>
                        <a:t>In mà hiện hộp thoại chọn máy in</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Tắt hết cửa sổ Chrome, mở lại bằng biểu tượng Tiny POS.</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r>
              <a:tr h="475488">
                <a:tc>
                  <a:txBody>
                    <a:bodyPr/>
                    <a:lstStyle/>
                    <a:p>
                      <a:pPr indent="0" marL="0">
                        <a:buNone/>
                      </a:pPr>
                      <a:r>
                        <a:rPr lang="en-US" sz="1350" b="1" dirty="0">
                          <a:solidFill>
                            <a:schemeClr val="tx1"/>
                          </a:solidFill>
                        </a:rPr>
                        <a:t>Điện thoại báo "chưa được ghép"</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Ghép lại: máy quầy → Cài đặt → Thiết bị → Ghép điện thoại.</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r>
              <a:tr h="475488">
                <a:tc>
                  <a:txBody>
                    <a:bodyPr/>
                    <a:lstStyle/>
                    <a:p>
                      <a:pPr indent="0" marL="0">
                        <a:buNone/>
                      </a:pPr>
                      <a:r>
                        <a:rPr lang="en-US" sz="1350" b="1" dirty="0">
                          <a:solidFill>
                            <a:schemeClr val="tx1"/>
                          </a:solidFill>
                        </a:rPr>
                        <a:t>Điện thoại không vào được</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Điện thoại có bắt Wi‑Fi của tiệm không, máy quầy có đang bật không.</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r>
              <a:tr h="475488">
                <a:tc>
                  <a:txBody>
                    <a:bodyPr/>
                    <a:lstStyle/>
                    <a:p>
                      <a:pPr indent="0" marL="0">
                        <a:buNone/>
                      </a:pPr>
                      <a:r>
                        <a:rPr lang="en-US" sz="1350" b="1" dirty="0">
                          <a:solidFill>
                            <a:schemeClr val="tx1"/>
                          </a:solidFill>
                        </a:rPr>
                        <a:t>Tổng quan báo chưa sao lưu / lỗi sao lưu</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Cài đặt → "Sao lưu ngay". Kiểm tra USB của thư mục chép thêm.</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r>
              <a:tr h="475488">
                <a:tc>
                  <a:txBody>
                    <a:bodyPr/>
                    <a:lstStyle/>
                    <a:p>
                      <a:pPr indent="0" marL="0">
                        <a:buNone/>
                      </a:pPr>
                      <a:r>
                        <a:rPr lang="en-US" sz="1350" b="1" dirty="0">
                          <a:solidFill>
                            <a:schemeClr val="tx1"/>
                          </a:solidFill>
                        </a:rPr>
                        <a:t>Bán nhầm, ghi nợ nhầm khách</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350" dirty="0">
                          <a:solidFill>
                            <a:schemeClr val="tx1"/>
                          </a:solidFill>
                        </a:rPr>
                        <a:t>Hóa đơn → mở đơn → "Hủy đơn", rồi bán lại cho đúng.</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1"/>
                    </a:solidFill>
                  </a:tcPr>
                </a:tc>
              </a:tr>
              <a:tr h="475488">
                <a:tc>
                  <a:txBody>
                    <a:bodyPr/>
                    <a:lstStyle/>
                    <a:p>
                      <a:pPr indent="0" marL="0">
                        <a:buNone/>
                      </a:pPr>
                      <a:r>
                        <a:rPr lang="en-US" sz="1350" b="1" dirty="0">
                          <a:solidFill>
                            <a:schemeClr val="tx1"/>
                          </a:solidFill>
                        </a:rPr>
                        <a:t>Tồn kho trên máy khác trên kệ</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c>
                  <a:txBody>
                    <a:bodyPr/>
                    <a:lstStyle/>
                    <a:p>
                      <a:pPr indent="0" marL="0">
                        <a:buNone/>
                      </a:pPr>
                      <a:r>
                        <a:rPr lang="en-US" sz="1350" dirty="0">
                          <a:solidFill>
                            <a:schemeClr val="tx1"/>
                          </a:solidFill>
                        </a:rPr>
                        <a:t>Kiểm kê món đó rồi chốt.</a:t>
                      </a:r>
                      <a:endParaRPr lang="en-US" sz="1350" dirty="0"/>
                    </a:p>
                  </a:txBody>
                  <a:tcPr marL="101600" marR="101600" marT="38100" marB="3810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5669280" cy="1463040"/>
          </a:xfrm>
          <a:prstGeom prst="rect">
            <a:avLst/>
          </a:prstGeom>
          <a:noFill/>
          <a:ln/>
        </p:spPr>
        <p:txBody>
          <a:bodyPr wrap="square" lIns="0" tIns="0" rIns="0" bIns="0" rtlCol="0" anchor="t"/>
          <a:lstStyle/>
          <a:p>
            <a:pPr algn="l" indent="0" marL="0">
              <a:buNone/>
            </a:pPr>
            <a:r>
              <a:rPr lang="en-US" sz="4400" b="1" dirty="0">
                <a:solidFill>
                  <a:schemeClr val="bg1"/>
                </a:solidFill>
              </a:rPr>
              <a:t>Thói quen mỗi ngày</a:t>
            </a:r>
            <a:endParaRPr lang="en-US" sz="4400" dirty="0"/>
          </a:p>
        </p:txBody>
      </p:sp>
      <p:sp>
        <p:nvSpPr>
          <p:cNvPr id="3" name="Text 1"/>
          <p:cNvSpPr txBox="1"/>
          <p:nvPr/>
        </p:nvSpPr>
        <p:spPr>
          <a:xfrm>
            <a:off x="731520" y="3246120"/>
            <a:ext cx="5120640" cy="822960"/>
          </a:xfrm>
          <a:prstGeom prst="rect">
            <a:avLst/>
          </a:prstGeom>
          <a:noFill/>
          <a:ln/>
        </p:spPr>
        <p:txBody>
          <a:bodyPr wrap="square" lIns="0" tIns="0" rIns="0" bIns="0" rtlCol="0" anchor="t"/>
          <a:lstStyle/>
          <a:p>
            <a:pPr indent="0" marL="0">
              <a:buNone/>
            </a:pPr>
            <a:r>
              <a:rPr lang="en-US" sz="1700" dirty="0">
                <a:solidFill>
                  <a:srgbClr val="D1FAE5"/>
                </a:solidFill>
              </a:rPr>
              <a:t>Làm đều mấy việc này thì số liệu luôn đúng, dữ liệu luôn an toàn.</a:t>
            </a:r>
            <a:endParaRPr lang="en-US" sz="1700" dirty="0"/>
          </a:p>
        </p:txBody>
      </p:sp>
      <p:sp>
        <p:nvSpPr>
          <p:cNvPr id="4" name="Shape 2"/>
          <p:cNvSpPr/>
          <p:nvPr/>
        </p:nvSpPr>
        <p:spPr>
          <a:xfrm>
            <a:off x="6309360" y="914400"/>
            <a:ext cx="5394960" cy="914400"/>
          </a:xfrm>
          <a:prstGeom prst="roundRect">
            <a:avLst>
              <a:gd name="adj" fmla="val 12000"/>
            </a:avLst>
          </a:prstGeom>
          <a:solidFill>
            <a:schemeClr val="bg1">
              <a:alpha val="10000"/>
            </a:schemeClr>
          </a:solidFill>
          <a:ln w="9525">
            <a:solidFill>
              <a:schemeClr val="bg1">
                <a:alpha val="20000"/>
              </a:schemeClr>
            </a:solidFill>
            <a:prstDash val="solid"/>
          </a:ln>
        </p:spPr>
      </p:sp>
      <p:sp>
        <p:nvSpPr>
          <p:cNvPr id="5" name="Shape 3"/>
          <p:cNvSpPr/>
          <p:nvPr/>
        </p:nvSpPr>
        <p:spPr>
          <a:xfrm>
            <a:off x="6492240" y="1097280"/>
            <a:ext cx="548640" cy="548640"/>
          </a:xfrm>
          <a:prstGeom prst="ellipse">
            <a:avLst/>
          </a:prstGeom>
          <a:solidFill>
            <a:srgbClr val="FDBA74"/>
          </a:solidFill>
          <a:ln/>
        </p:spPr>
      </p:sp>
      <p:pic>
        <p:nvPicPr>
          <p:cNvPr id="6" name="Image 0" descr="Sáng">    </p:cNvPr>
          <p:cNvPicPr>
            <a:picLocks noChangeAspect="1"/>
          </p:cNvPicPr>
          <p:nvPr/>
        </p:nvPicPr>
        <p:blipFill>
          <a:blip r:embed="rId1"/>
          <a:stretch>
            <a:fillRect/>
          </a:stretch>
        </p:blipFill>
        <p:spPr>
          <a:xfrm>
            <a:off x="6629400" y="1234440"/>
            <a:ext cx="274320" cy="274320"/>
          </a:xfrm>
          <a:prstGeom prst="rect">
            <a:avLst/>
          </a:prstGeom>
        </p:spPr>
      </p:pic>
      <p:sp>
        <p:nvSpPr>
          <p:cNvPr id="7" name="Text 4"/>
          <p:cNvSpPr txBox="1"/>
          <p:nvPr/>
        </p:nvSpPr>
        <p:spPr>
          <a:xfrm>
            <a:off x="7223760" y="987552"/>
            <a:ext cx="4343400" cy="768096"/>
          </a:xfrm>
          <a:prstGeom prst="rect">
            <a:avLst/>
          </a:prstGeom>
          <a:noFill/>
          <a:ln/>
        </p:spPr>
        <p:txBody>
          <a:bodyPr wrap="square" lIns="0" tIns="0" rIns="0" bIns="0" rtlCol="0" anchor="ctr"/>
          <a:lstStyle/>
          <a:p>
            <a:pPr indent="0" marL="0">
              <a:buNone/>
            </a:pPr>
            <a:r>
              <a:rPr lang="en-US" sz="1400" b="1" dirty="0">
                <a:solidFill>
                  <a:srgbClr val="FDBA74"/>
                </a:solidFill>
              </a:rPr>
              <a:t>Sáng</a:t>
            </a:r>
            <a:endParaRPr lang="en-US" sz="1400" dirty="0"/>
          </a:p>
          <a:p>
            <a:pPr indent="0" marL="0">
              <a:buNone/>
            </a:pPr>
            <a:r>
              <a:rPr lang="en-US" sz="1400" dirty="0">
                <a:solidFill>
                  <a:schemeClr val="bg1"/>
                </a:solidFill>
              </a:rPr>
              <a:t>Mở Tổng quan, xem khung "Cần chú ý".</a:t>
            </a:r>
            <a:endParaRPr lang="en-US" sz="1400" dirty="0"/>
          </a:p>
        </p:txBody>
      </p:sp>
      <p:sp>
        <p:nvSpPr>
          <p:cNvPr id="8" name="Shape 5"/>
          <p:cNvSpPr/>
          <p:nvPr/>
        </p:nvSpPr>
        <p:spPr>
          <a:xfrm>
            <a:off x="6309360" y="1965960"/>
            <a:ext cx="5394960" cy="914400"/>
          </a:xfrm>
          <a:prstGeom prst="roundRect">
            <a:avLst>
              <a:gd name="adj" fmla="val 12000"/>
            </a:avLst>
          </a:prstGeom>
          <a:solidFill>
            <a:schemeClr val="bg1">
              <a:alpha val="10000"/>
            </a:schemeClr>
          </a:solidFill>
          <a:ln w="9525">
            <a:solidFill>
              <a:schemeClr val="bg1">
                <a:alpha val="20000"/>
              </a:schemeClr>
            </a:solidFill>
            <a:prstDash val="solid"/>
          </a:ln>
        </p:spPr>
      </p:sp>
      <p:sp>
        <p:nvSpPr>
          <p:cNvPr id="9" name="Shape 6"/>
          <p:cNvSpPr/>
          <p:nvPr/>
        </p:nvSpPr>
        <p:spPr>
          <a:xfrm>
            <a:off x="6492240" y="2148840"/>
            <a:ext cx="548640" cy="548640"/>
          </a:xfrm>
          <a:prstGeom prst="ellipse">
            <a:avLst/>
          </a:prstGeom>
          <a:solidFill>
            <a:srgbClr val="FDBA74"/>
          </a:solidFill>
          <a:ln/>
        </p:spPr>
      </p:sp>
      <p:pic>
        <p:nvPicPr>
          <p:cNvPr id="10" name="Image 1" descr="Hàng về">    </p:cNvPr>
          <p:cNvPicPr>
            <a:picLocks noChangeAspect="1"/>
          </p:cNvPicPr>
          <p:nvPr/>
        </p:nvPicPr>
        <p:blipFill>
          <a:blip r:embed="rId2"/>
          <a:stretch>
            <a:fillRect/>
          </a:stretch>
        </p:blipFill>
        <p:spPr>
          <a:xfrm>
            <a:off x="6629400" y="2286000"/>
            <a:ext cx="274320" cy="274320"/>
          </a:xfrm>
          <a:prstGeom prst="rect">
            <a:avLst/>
          </a:prstGeom>
        </p:spPr>
      </p:pic>
      <p:sp>
        <p:nvSpPr>
          <p:cNvPr id="11" name="Text 7"/>
          <p:cNvSpPr txBox="1"/>
          <p:nvPr/>
        </p:nvSpPr>
        <p:spPr>
          <a:xfrm>
            <a:off x="7223760" y="2039112"/>
            <a:ext cx="4343400" cy="768096"/>
          </a:xfrm>
          <a:prstGeom prst="rect">
            <a:avLst/>
          </a:prstGeom>
          <a:noFill/>
          <a:ln/>
        </p:spPr>
        <p:txBody>
          <a:bodyPr wrap="square" lIns="0" tIns="0" rIns="0" bIns="0" rtlCol="0" anchor="ctr"/>
          <a:lstStyle/>
          <a:p>
            <a:pPr indent="0" marL="0">
              <a:buNone/>
            </a:pPr>
            <a:r>
              <a:rPr lang="en-US" sz="1400" b="1" dirty="0">
                <a:solidFill>
                  <a:srgbClr val="FDBA74"/>
                </a:solidFill>
              </a:rPr>
              <a:t>Hàng về</a:t>
            </a:r>
            <a:endParaRPr lang="en-US" sz="1400" dirty="0"/>
          </a:p>
          <a:p>
            <a:pPr indent="0" marL="0">
              <a:buNone/>
            </a:pPr>
            <a:r>
              <a:rPr lang="en-US" sz="1400" dirty="0">
                <a:solidFill>
                  <a:schemeClr val="bg1"/>
                </a:solidFill>
              </a:rPr>
              <a:t>Lập phiếu nhập ngay, ghi đúng số đã trả NCC.</a:t>
            </a:r>
            <a:endParaRPr lang="en-US" sz="1400" dirty="0"/>
          </a:p>
        </p:txBody>
      </p:sp>
      <p:sp>
        <p:nvSpPr>
          <p:cNvPr id="12" name="Shape 8"/>
          <p:cNvSpPr/>
          <p:nvPr/>
        </p:nvSpPr>
        <p:spPr>
          <a:xfrm>
            <a:off x="6309360" y="3017520"/>
            <a:ext cx="5394960" cy="914400"/>
          </a:xfrm>
          <a:prstGeom prst="roundRect">
            <a:avLst>
              <a:gd name="adj" fmla="val 12000"/>
            </a:avLst>
          </a:prstGeom>
          <a:solidFill>
            <a:schemeClr val="bg1">
              <a:alpha val="10000"/>
            </a:schemeClr>
          </a:solidFill>
          <a:ln w="9525">
            <a:solidFill>
              <a:schemeClr val="bg1">
                <a:alpha val="20000"/>
              </a:schemeClr>
            </a:solidFill>
            <a:prstDash val="solid"/>
          </a:ln>
        </p:spPr>
      </p:sp>
      <p:sp>
        <p:nvSpPr>
          <p:cNvPr id="13" name="Shape 9"/>
          <p:cNvSpPr/>
          <p:nvPr/>
        </p:nvSpPr>
        <p:spPr>
          <a:xfrm>
            <a:off x="6492240" y="3200400"/>
            <a:ext cx="548640" cy="548640"/>
          </a:xfrm>
          <a:prstGeom prst="ellipse">
            <a:avLst/>
          </a:prstGeom>
          <a:solidFill>
            <a:srgbClr val="FDBA74"/>
          </a:solidFill>
          <a:ln/>
        </p:spPr>
      </p:sp>
      <p:pic>
        <p:nvPicPr>
          <p:cNvPr id="14" name="Image 2" descr="Cuối ngày">    </p:cNvPr>
          <p:cNvPicPr>
            <a:picLocks noChangeAspect="1"/>
          </p:cNvPicPr>
          <p:nvPr/>
        </p:nvPicPr>
        <p:blipFill>
          <a:blip r:embed="rId3"/>
          <a:stretch>
            <a:fillRect/>
          </a:stretch>
        </p:blipFill>
        <p:spPr>
          <a:xfrm>
            <a:off x="6629400" y="3337560"/>
            <a:ext cx="274320" cy="274320"/>
          </a:xfrm>
          <a:prstGeom prst="rect">
            <a:avLst/>
          </a:prstGeom>
        </p:spPr>
      </p:pic>
      <p:sp>
        <p:nvSpPr>
          <p:cNvPr id="15" name="Text 10"/>
          <p:cNvSpPr txBox="1"/>
          <p:nvPr/>
        </p:nvSpPr>
        <p:spPr>
          <a:xfrm>
            <a:off x="7223760" y="3090672"/>
            <a:ext cx="4343400" cy="768096"/>
          </a:xfrm>
          <a:prstGeom prst="rect">
            <a:avLst/>
          </a:prstGeom>
          <a:noFill/>
          <a:ln/>
        </p:spPr>
        <p:txBody>
          <a:bodyPr wrap="square" lIns="0" tIns="0" rIns="0" bIns="0" rtlCol="0" anchor="ctr"/>
          <a:lstStyle/>
          <a:p>
            <a:pPr indent="0" marL="0">
              <a:buNone/>
            </a:pPr>
            <a:r>
              <a:rPr lang="en-US" sz="1400" b="1" dirty="0">
                <a:solidFill>
                  <a:srgbClr val="FDBA74"/>
                </a:solidFill>
              </a:rPr>
              <a:t>Cuối ngày</a:t>
            </a:r>
            <a:endParaRPr lang="en-US" sz="1400" dirty="0"/>
          </a:p>
          <a:p>
            <a:pPr indent="0" marL="0">
              <a:buNone/>
            </a:pPr>
            <a:r>
              <a:rPr lang="en-US" sz="1400" dirty="0">
                <a:solidFill>
                  <a:schemeClr val="bg1"/>
                </a:solidFill>
              </a:rPr>
              <a:t>Đếm tiền két, so với ô Tiền mặt và Thu nợ (tiền mặt) hôm nay ở trang Hóa đơn.</a:t>
            </a:r>
            <a:endParaRPr lang="en-US" sz="1400" dirty="0"/>
          </a:p>
        </p:txBody>
      </p:sp>
      <p:sp>
        <p:nvSpPr>
          <p:cNvPr id="16" name="Shape 11"/>
          <p:cNvSpPr/>
          <p:nvPr/>
        </p:nvSpPr>
        <p:spPr>
          <a:xfrm>
            <a:off x="6309360" y="4069080"/>
            <a:ext cx="5394960" cy="914400"/>
          </a:xfrm>
          <a:prstGeom prst="roundRect">
            <a:avLst>
              <a:gd name="adj" fmla="val 12000"/>
            </a:avLst>
          </a:prstGeom>
          <a:solidFill>
            <a:schemeClr val="bg1">
              <a:alpha val="10000"/>
            </a:schemeClr>
          </a:solidFill>
          <a:ln w="9525">
            <a:solidFill>
              <a:schemeClr val="bg1">
                <a:alpha val="20000"/>
              </a:schemeClr>
            </a:solidFill>
            <a:prstDash val="solid"/>
          </a:ln>
        </p:spPr>
      </p:sp>
      <p:sp>
        <p:nvSpPr>
          <p:cNvPr id="17" name="Shape 12"/>
          <p:cNvSpPr/>
          <p:nvPr/>
        </p:nvSpPr>
        <p:spPr>
          <a:xfrm>
            <a:off x="6492240" y="4251960"/>
            <a:ext cx="548640" cy="548640"/>
          </a:xfrm>
          <a:prstGeom prst="ellipse">
            <a:avLst/>
          </a:prstGeom>
          <a:solidFill>
            <a:srgbClr val="FDBA74"/>
          </a:solidFill>
          <a:ln/>
        </p:spPr>
      </p:sp>
      <p:pic>
        <p:nvPicPr>
          <p:cNvPr id="18" name="Image 3" descr="Hằng tuần">    </p:cNvPr>
          <p:cNvPicPr>
            <a:picLocks noChangeAspect="1"/>
          </p:cNvPicPr>
          <p:nvPr/>
        </p:nvPicPr>
        <p:blipFill>
          <a:blip r:embed="rId4"/>
          <a:stretch>
            <a:fillRect/>
          </a:stretch>
        </p:blipFill>
        <p:spPr>
          <a:xfrm>
            <a:off x="6629400" y="4389120"/>
            <a:ext cx="274320" cy="274320"/>
          </a:xfrm>
          <a:prstGeom prst="rect">
            <a:avLst/>
          </a:prstGeom>
        </p:spPr>
      </p:pic>
      <p:sp>
        <p:nvSpPr>
          <p:cNvPr id="19" name="Text 13"/>
          <p:cNvSpPr txBox="1"/>
          <p:nvPr/>
        </p:nvSpPr>
        <p:spPr>
          <a:xfrm>
            <a:off x="7223760" y="4142232"/>
            <a:ext cx="4343400" cy="768096"/>
          </a:xfrm>
          <a:prstGeom prst="rect">
            <a:avLst/>
          </a:prstGeom>
          <a:noFill/>
          <a:ln/>
        </p:spPr>
        <p:txBody>
          <a:bodyPr wrap="square" lIns="0" tIns="0" rIns="0" bIns="0" rtlCol="0" anchor="ctr"/>
          <a:lstStyle/>
          <a:p>
            <a:pPr indent="0" marL="0">
              <a:buNone/>
            </a:pPr>
            <a:r>
              <a:rPr lang="en-US" sz="1400" b="1" dirty="0">
                <a:solidFill>
                  <a:srgbClr val="FDBA74"/>
                </a:solidFill>
              </a:rPr>
              <a:t>Hằng tuần</a:t>
            </a:r>
            <a:endParaRPr lang="en-US" sz="1400" dirty="0"/>
          </a:p>
          <a:p>
            <a:pPr indent="0" marL="0">
              <a:buNone/>
            </a:pPr>
            <a:r>
              <a:rPr lang="en-US" sz="1400" dirty="0">
                <a:solidFill>
                  <a:schemeClr val="bg1"/>
                </a:solidFill>
              </a:rPr>
              <a:t>Xem hàng sắp hết; cắm USB sao lưu nếu dùng USB.</a:t>
            </a:r>
            <a:endParaRPr lang="en-US" sz="1400" dirty="0"/>
          </a:p>
        </p:txBody>
      </p:sp>
      <p:sp>
        <p:nvSpPr>
          <p:cNvPr id="20" name="Shape 14"/>
          <p:cNvSpPr/>
          <p:nvPr/>
        </p:nvSpPr>
        <p:spPr>
          <a:xfrm>
            <a:off x="6309360" y="5120640"/>
            <a:ext cx="5394960" cy="914400"/>
          </a:xfrm>
          <a:prstGeom prst="roundRect">
            <a:avLst>
              <a:gd name="adj" fmla="val 12000"/>
            </a:avLst>
          </a:prstGeom>
          <a:solidFill>
            <a:schemeClr val="bg1">
              <a:alpha val="10000"/>
            </a:schemeClr>
          </a:solidFill>
          <a:ln w="9525">
            <a:solidFill>
              <a:schemeClr val="bg1">
                <a:alpha val="20000"/>
              </a:schemeClr>
            </a:solidFill>
            <a:prstDash val="solid"/>
          </a:ln>
        </p:spPr>
      </p:sp>
      <p:sp>
        <p:nvSpPr>
          <p:cNvPr id="21" name="Shape 15"/>
          <p:cNvSpPr/>
          <p:nvPr/>
        </p:nvSpPr>
        <p:spPr>
          <a:xfrm>
            <a:off x="6492240" y="5303520"/>
            <a:ext cx="548640" cy="548640"/>
          </a:xfrm>
          <a:prstGeom prst="ellipse">
            <a:avLst/>
          </a:prstGeom>
          <a:solidFill>
            <a:srgbClr val="FDBA74"/>
          </a:solidFill>
          <a:ln/>
        </p:spPr>
      </p:sp>
      <p:pic>
        <p:nvPicPr>
          <p:cNvPr id="22" name="Image 4" descr="Hằng tháng">    </p:cNvPr>
          <p:cNvPicPr>
            <a:picLocks noChangeAspect="1"/>
          </p:cNvPicPr>
          <p:nvPr/>
        </p:nvPicPr>
        <p:blipFill>
          <a:blip r:embed="rId5"/>
          <a:stretch>
            <a:fillRect/>
          </a:stretch>
        </p:blipFill>
        <p:spPr>
          <a:xfrm>
            <a:off x="6629400" y="5440680"/>
            <a:ext cx="274320" cy="274320"/>
          </a:xfrm>
          <a:prstGeom prst="rect">
            <a:avLst/>
          </a:prstGeom>
        </p:spPr>
      </p:pic>
      <p:sp>
        <p:nvSpPr>
          <p:cNvPr id="23" name="Text 16"/>
          <p:cNvSpPr txBox="1"/>
          <p:nvPr/>
        </p:nvSpPr>
        <p:spPr>
          <a:xfrm>
            <a:off x="7223760" y="5193792"/>
            <a:ext cx="4343400" cy="768096"/>
          </a:xfrm>
          <a:prstGeom prst="rect">
            <a:avLst/>
          </a:prstGeom>
          <a:noFill/>
          <a:ln/>
        </p:spPr>
        <p:txBody>
          <a:bodyPr wrap="square" lIns="0" tIns="0" rIns="0" bIns="0" rtlCol="0" anchor="ctr"/>
          <a:lstStyle/>
          <a:p>
            <a:pPr indent="0" marL="0">
              <a:buNone/>
            </a:pPr>
            <a:r>
              <a:rPr lang="en-US" sz="1400" b="1" dirty="0">
                <a:solidFill>
                  <a:srgbClr val="FDBA74"/>
                </a:solidFill>
              </a:rPr>
              <a:t>Hằng tháng</a:t>
            </a:r>
            <a:endParaRPr lang="en-US" sz="1400" dirty="0"/>
          </a:p>
          <a:p>
            <a:pPr indent="0" marL="0">
              <a:buNone/>
            </a:pPr>
            <a:r>
              <a:rPr lang="en-US" sz="1400" dirty="0">
                <a:solidFill>
                  <a:schemeClr val="bg1"/>
                </a:solidFill>
              </a:rPr>
              <a:t>Kiểm kê, xem Báo cáo lãi lỗ và khách nợ lâu.</a:t>
            </a:r>
            <a:endParaRPr lang="en-US" sz="1400" dirty="0"/>
          </a:p>
        </p:txBody>
      </p:sp>
    </p:spTree>
  </p:cSld>
  <p:clrMapOvr>
    <a:masterClrMapping/>
  </p:clrMapOvr>
</p:sld>
</file>

<file path=ppt/theme/theme1.xml><?xml version="1.0" encoding="utf-8"?>
<a:theme xmlns:a="http://schemas.openxmlformats.org/drawingml/2006/main" name="Tiny POS Guide">
  <a:themeElements>
    <a:clrScheme name="Tiny POS Guide">
      <a:dk1>
        <a:srgbClr val="1E293B"/>
      </a:dk1>
      <a:lt1>
        <a:srgbClr val="FFFFFF"/>
      </a:lt1>
      <a:dk2>
        <a:srgbClr val="14532D"/>
      </a:dk2>
      <a:lt2>
        <a:srgbClr val="EEF6F0"/>
      </a:lt2>
      <a:accent1>
        <a:srgbClr val="15803D"/>
      </a:accent1>
      <a:accent2>
        <a:srgbClr val="C2410C"/>
      </a:accent2>
      <a:accent3>
        <a:srgbClr val="2563EB"/>
      </a:accent3>
      <a:accent4>
        <a:srgbClr val="B91C1C"/>
      </a:accent4>
      <a:accent5>
        <a:srgbClr val="CBD5E1"/>
      </a:accent5>
      <a:accent6>
        <a:srgbClr val="475569"/>
      </a:accent6>
      <a:hlink>
        <a:srgbClr val="2563EB"/>
      </a:hlink>
      <a:folHlink>
        <a:srgbClr val="7C3AED"/>
      </a:folHlink>
    </a:clrScheme>
    <a:fontScheme name="Tiny POS Guid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Hướng dẫn sử dụng Tiny POS</dc:title>
  <dc:subject>PptxGenJS Presentation</dc:subject>
  <dc:creator>Tiny POS</dc:creator>
  <cp:lastModifiedBy>Tiny POS</cp:lastModifiedBy>
  <cp:revision>1</cp:revision>
  <dcterms:created xsi:type="dcterms:W3CDTF">2026-10-03T04:42:49Z</dcterms:created>
  <dcterms:modified xsi:type="dcterms:W3CDTF">2026-10-03T04:42:49Z</dcterms:modified>
</cp:coreProperties>
</file>